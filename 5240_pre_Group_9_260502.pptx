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78" r:id="rId2"/>
    <p:sldId id="282" r:id="rId3"/>
    <p:sldId id="281" r:id="rId4"/>
    <p:sldId id="306" r:id="rId5"/>
    <p:sldId id="283" r:id="rId6"/>
    <p:sldId id="307" r:id="rId7"/>
    <p:sldId id="297" r:id="rId8"/>
    <p:sldId id="308" r:id="rId9"/>
    <p:sldId id="311" r:id="rId34"/>
    <p:sldId id="312" r:id="rId35"/>
    <p:sldId id="313" r:id="rId36"/>
    <p:sldId id="314" r:id="rId37"/>
    <p:sldId id="309" r:id="rId16"/>
    <p:sldId id="286" r:id="rId17"/>
    <p:sldId id="294" r:id="rId18"/>
    <p:sldId id="295" r:id="rId19"/>
    <p:sldId id="296" r:id="rId20"/>
    <p:sldId id="310" r:id="rId21"/>
    <p:sldId id="301" r:id="rId22"/>
    <p:sldId id="302" r:id="rId23"/>
    <p:sldId id="303" r:id="rId24"/>
    <p:sldId id="304" r:id="rId25"/>
    <p:sldId id="305" r:id="rId26"/>
    <p:sldId id="28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955A49C-C301-03F7-B5C1-ECD9E54A1DAE}" name="ZHANG Yalan" initials="YZ" userId="S::yzhangsc@connect.ust.hk::9bb24526-2742-48f0-b4a6-8946a69a2f95" providerId="AD"/>
  <p188:author id="{B3F5D2A7-ABC3-DE06-E694-EA39F4CD0499}" name="XIE Lifang" initials="LX" userId="S::lxiebd@connect.ust.hk::f22349e5-96f7-43fb-a8ae-4b93c0dfab60" providerId="AD"/>
  <p188:author id="{4F45C2CF-5AEA-E614-3B41-E89D03DB55EC}" name="ZHANG Yalan" initials="ZY" userId="ZHANG Yala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7706"/>
    <a:srgbClr val="7C3AED"/>
    <a:srgbClr val="059669"/>
    <a:srgbClr val="FFD451"/>
    <a:srgbClr val="FFCDCD"/>
    <a:srgbClr val="AED29F"/>
    <a:srgbClr val="A5C1E5"/>
    <a:srgbClr val="FFD991"/>
    <a:srgbClr val="D0D0D0"/>
    <a:srgbClr val="F7AB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5"/>
    <p:restoredTop sz="96048" autoAdjust="0"/>
  </p:normalViewPr>
  <p:slideViewPr>
    <p:cSldViewPr snapToGrid="0">
      <p:cViewPr>
        <p:scale>
          <a:sx n="113" d="100"/>
          <a:sy n="113" d="100"/>
        </p:scale>
        <p:origin x="2416" y="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218B53-0452-416E-9595-03BD95690B68}" type="datetimeFigureOut">
              <a:rPr lang="en-US" smtClean="0"/>
              <a:t>5/3/26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924F22-AC36-4F1B-B78D-11CE21608D0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Hello everyone. Today our group will present our work on using machine learning to accelerate the discovery of molecular additives for perovskite solar cell interfaces. Our aim is to outline a simplified, data-driven workflow that can rapidly identify promising molecules for passivation.</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1</a:t>
            </a:fld>
            <a:endParaRPr lang="en-US"/>
          </a:p>
        </p:txBody>
      </p:sp>
    </p:spTree>
    <p:extLst>
      <p:ext uri="{BB962C8B-B14F-4D97-AF65-F5344CB8AC3E}">
        <p14:creationId xmlns:p14="http://schemas.microsoft.com/office/powerpoint/2010/main" val="3156835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2</a:t>
            </a:fld>
            <a:endParaRPr lang="en-US"/>
          </a:p>
        </p:txBody>
      </p:sp>
    </p:spTree>
    <p:extLst>
      <p:ext uri="{BB962C8B-B14F-4D97-AF65-F5344CB8AC3E}">
        <p14:creationId xmlns:p14="http://schemas.microsoft.com/office/powerpoint/2010/main" val="3535982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Although perovskite solar cells have achieved remarkable efficiency, surface defects remain a major source of non-radiative losses and instability. Introducing small functional molecules at the interface is an effective strategy to suppress these defects, but the experimental screening is inefficient. Machine learning allows us to learn the relationship between molecular properties and binding energy, enabling fast selection of candidates. </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3</a:t>
            </a:fld>
            <a:endParaRPr lang="en-US"/>
          </a:p>
        </p:txBody>
      </p:sp>
    </p:spTree>
    <p:extLst>
      <p:ext uri="{BB962C8B-B14F-4D97-AF65-F5344CB8AC3E}">
        <p14:creationId xmlns:p14="http://schemas.microsoft.com/office/powerpoint/2010/main" val="3593553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3294B-8C5E-D3E2-7864-988E1C5351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A52EC8-7E59-73E3-91ED-C17A19BF93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40C6E3-BC69-4A98-7495-BB0012A6C7F7}"/>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846662C-35F2-7E19-0D77-4584F0C8F700}"/>
              </a:ext>
            </a:extLst>
          </p:cNvPr>
          <p:cNvSpPr>
            <a:spLocks noGrp="1"/>
          </p:cNvSpPr>
          <p:nvPr>
            <p:ph type="sldNum" sz="quarter" idx="5"/>
          </p:nvPr>
        </p:nvSpPr>
        <p:spPr/>
        <p:txBody>
          <a:bodyPr/>
          <a:lstStyle/>
          <a:p>
            <a:fld id="{B7924F22-AC36-4F1B-B78D-11CE21608D0F}" type="slidenum">
              <a:rPr lang="en-US" smtClean="0"/>
              <a:t>4</a:t>
            </a:fld>
            <a:endParaRPr lang="en-US"/>
          </a:p>
        </p:txBody>
      </p:sp>
    </p:spTree>
    <p:extLst>
      <p:ext uri="{BB962C8B-B14F-4D97-AF65-F5344CB8AC3E}">
        <p14:creationId xmlns:p14="http://schemas.microsoft.com/office/powerpoint/2010/main" val="963841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The purpose of this workflow is to move efficiently from millions of possible compounds to a small, realistic set of high-value additives. To achieve that, we designed a tiered filtering strategy. Starting from roughly five million molecules in PubChem, we filtered by charge state, chemical constraints, atomic composition, molecular weight, and hydrogen-bonding ability. Each step removes unqualified molecules, gradually shrinking the search space while enriching promising candidates for interface engineering and device testing.</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5</a:t>
            </a:fld>
            <a:endParaRPr lang="en-US"/>
          </a:p>
        </p:txBody>
      </p:sp>
    </p:spTree>
    <p:extLst>
      <p:ext uri="{BB962C8B-B14F-4D97-AF65-F5344CB8AC3E}">
        <p14:creationId xmlns:p14="http://schemas.microsoft.com/office/powerpoint/2010/main" val="1242856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7A2B8-11AD-6D9F-EC69-0A784DCF5E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DE82C4-15CF-E707-D595-7BDB708C2C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44B12B-6329-190F-F4C9-2E1BCD14EF40}"/>
              </a:ext>
            </a:extLst>
          </p:cNvPr>
          <p:cNvSpPr>
            <a:spLocks noGrp="1"/>
          </p:cNvSpPr>
          <p:nvPr>
            <p:ph type="body" idx="1"/>
          </p:nvPr>
        </p:nvSpPr>
        <p:spPr/>
        <p:txBody>
          <a:bodyPr/>
          <a:lstStyle/>
          <a:p>
            <a:r>
              <a:rPr lang="en" altLang="zh-CN" sz="1200" kern="1200" dirty="0">
                <a:solidFill>
                  <a:schemeClr val="tx1"/>
                </a:solidFill>
                <a:effectLst/>
                <a:latin typeface="+mn-lt"/>
                <a:ea typeface="+mn-ea"/>
                <a:cs typeface="+mn-cs"/>
              </a:rPr>
              <a:t>On this slide, we visualize the feature distribution and design space of our candidate passivation molecules.</a:t>
            </a:r>
          </a:p>
          <a:p>
            <a:r>
              <a:rPr lang="en" altLang="zh-CN" sz="1200" kern="1200" dirty="0">
                <a:solidFill>
                  <a:schemeClr val="tx1"/>
                </a:solidFill>
                <a:effectLst/>
                <a:latin typeface="+mn-lt"/>
                <a:ea typeface="+mn-ea"/>
                <a:cs typeface="+mn-cs"/>
              </a:rPr>
              <a:t>Figure 1 shows molecular size. Most molecules are </a:t>
            </a:r>
            <a:r>
              <a:rPr lang="en" altLang="zh-CN" sz="1200" b="1" kern="1200" dirty="0">
                <a:solidFill>
                  <a:schemeClr val="tx1"/>
                </a:solidFill>
                <a:effectLst/>
                <a:latin typeface="+mn-lt"/>
                <a:ea typeface="+mn-ea"/>
                <a:cs typeface="+mn-cs"/>
              </a:rPr>
              <a:t>small to medium-sized</a:t>
            </a:r>
            <a:r>
              <a:rPr lang="en" altLang="zh-CN" sz="1200" kern="1200" dirty="0">
                <a:solidFill>
                  <a:schemeClr val="tx1"/>
                </a:solidFill>
                <a:effectLst/>
                <a:latin typeface="+mn-lt"/>
                <a:ea typeface="+mn-ea"/>
                <a:cs typeface="+mn-cs"/>
              </a:rPr>
              <a:t>, with exact mass mainly between about </a:t>
            </a:r>
            <a:r>
              <a:rPr lang="en" altLang="zh-CN" sz="1200" b="1" kern="1200" dirty="0">
                <a:solidFill>
                  <a:schemeClr val="tx1"/>
                </a:solidFill>
                <a:effectLst/>
                <a:latin typeface="+mn-lt"/>
                <a:ea typeface="+mn-ea"/>
                <a:cs typeface="+mn-cs"/>
              </a:rPr>
              <a:t>50 and 100 Daltons</a:t>
            </a:r>
            <a:r>
              <a:rPr lang="en" altLang="zh-CN" sz="1200" kern="1200" dirty="0">
                <a:solidFill>
                  <a:schemeClr val="tx1"/>
                </a:solidFill>
                <a:effectLst/>
                <a:latin typeface="+mn-lt"/>
                <a:ea typeface="+mn-ea"/>
                <a:cs typeface="+mn-cs"/>
              </a:rPr>
              <a:t>, which is suitable for forming compact passivation layers.</a:t>
            </a:r>
          </a:p>
          <a:p>
            <a:r>
              <a:rPr lang="en" altLang="zh-CN" sz="1200" kern="1200" dirty="0">
                <a:solidFill>
                  <a:schemeClr val="tx1"/>
                </a:solidFill>
                <a:effectLst/>
                <a:latin typeface="+mn-lt"/>
                <a:ea typeface="+mn-ea"/>
                <a:cs typeface="+mn-cs"/>
              </a:rPr>
              <a:t>Figure 2 shows hydrogen-bond donors and acceptors. Most molecules have </a:t>
            </a:r>
            <a:r>
              <a:rPr lang="en" altLang="zh-CN" sz="1200" b="1" kern="1200" dirty="0">
                <a:solidFill>
                  <a:schemeClr val="tx1"/>
                </a:solidFill>
                <a:effectLst/>
                <a:latin typeface="+mn-lt"/>
                <a:ea typeface="+mn-ea"/>
                <a:cs typeface="+mn-cs"/>
              </a:rPr>
              <a:t>one or two acceptor sites but almost no classical donors</a:t>
            </a:r>
            <a:r>
              <a:rPr lang="en" altLang="zh-CN" sz="1200" kern="1200" dirty="0">
                <a:solidFill>
                  <a:schemeClr val="tx1"/>
                </a:solidFill>
                <a:effectLst/>
                <a:latin typeface="+mn-lt"/>
                <a:ea typeface="+mn-ea"/>
                <a:cs typeface="+mn-cs"/>
              </a:rPr>
              <a:t>, reflecting a design bias towards </a:t>
            </a:r>
            <a:r>
              <a:rPr lang="en" altLang="zh-CN" sz="1200" b="1" kern="1200" dirty="0">
                <a:solidFill>
                  <a:schemeClr val="tx1"/>
                </a:solidFill>
                <a:effectLst/>
                <a:latin typeface="+mn-lt"/>
                <a:ea typeface="+mn-ea"/>
                <a:cs typeface="+mn-cs"/>
              </a:rPr>
              <a:t>neutral Lewis-base ligands</a:t>
            </a:r>
            <a:r>
              <a:rPr lang="en" altLang="zh-CN" sz="1200" kern="1200" dirty="0">
                <a:solidFill>
                  <a:schemeClr val="tx1"/>
                </a:solidFill>
                <a:effectLst/>
                <a:latin typeface="+mn-lt"/>
                <a:ea typeface="+mn-ea"/>
                <a:cs typeface="+mn-cs"/>
              </a:rPr>
              <a:t> that coordinate under-coordinated lead ions without introducing many protic groups.</a:t>
            </a:r>
          </a:p>
          <a:p>
            <a:r>
              <a:rPr lang="en" altLang="zh-CN" sz="1200" kern="1200" dirty="0">
                <a:solidFill>
                  <a:schemeClr val="tx1"/>
                </a:solidFill>
                <a:effectLst/>
                <a:latin typeface="+mn-lt"/>
                <a:ea typeface="+mn-ea"/>
                <a:cs typeface="+mn-cs"/>
              </a:rPr>
              <a:t>Figure 3 plots </a:t>
            </a:r>
            <a:r>
              <a:rPr lang="en" altLang="zh-CN" sz="1200" b="1" kern="1200" dirty="0">
                <a:solidFill>
                  <a:schemeClr val="tx1"/>
                </a:solidFill>
                <a:effectLst/>
                <a:latin typeface="+mn-lt"/>
                <a:ea typeface="+mn-ea"/>
                <a:cs typeface="+mn-cs"/>
              </a:rPr>
              <a:t>exact mass</a:t>
            </a:r>
            <a:r>
              <a:rPr lang="en" altLang="zh-CN" sz="1200" kern="1200" dirty="0">
                <a:solidFill>
                  <a:schemeClr val="tx1"/>
                </a:solidFill>
                <a:effectLst/>
                <a:latin typeface="+mn-lt"/>
                <a:ea typeface="+mn-ea"/>
                <a:cs typeface="+mn-cs"/>
              </a:rPr>
              <a:t> against </a:t>
            </a:r>
            <a:r>
              <a:rPr lang="en" altLang="zh-CN" sz="1200" b="1" kern="1200" dirty="0">
                <a:solidFill>
                  <a:schemeClr val="tx1"/>
                </a:solidFill>
                <a:effectLst/>
                <a:latin typeface="+mn-lt"/>
                <a:ea typeface="+mn-ea"/>
                <a:cs typeface="+mn-cs"/>
              </a:rPr>
              <a:t>topological polar surface area</a:t>
            </a:r>
            <a:r>
              <a:rPr lang="en" altLang="zh-CN" sz="1200" kern="1200" dirty="0">
                <a:solidFill>
                  <a:schemeClr val="tx1"/>
                </a:solidFill>
                <a:effectLst/>
                <a:latin typeface="+mn-lt"/>
                <a:ea typeface="+mn-ea"/>
                <a:cs typeface="+mn-cs"/>
              </a:rPr>
              <a:t>. These axes define a </a:t>
            </a:r>
            <a:r>
              <a:rPr lang="en" altLang="zh-CN" sz="1200" b="1" kern="1200" dirty="0">
                <a:solidFill>
                  <a:schemeClr val="tx1"/>
                </a:solidFill>
                <a:effectLst/>
                <a:latin typeface="+mn-lt"/>
                <a:ea typeface="+mn-ea"/>
                <a:cs typeface="+mn-cs"/>
              </a:rPr>
              <a:t>size–polarity design space</a:t>
            </a:r>
            <a:r>
              <a:rPr lang="en" altLang="zh-CN" sz="1200" kern="1200" dirty="0">
                <a:solidFill>
                  <a:schemeClr val="tx1"/>
                </a:solidFill>
                <a:effectLst/>
                <a:latin typeface="+mn-lt"/>
                <a:ea typeface="+mn-ea"/>
                <a:cs typeface="+mn-cs"/>
              </a:rPr>
              <a:t>. We cover both non-polar and moderately polar molecules across a range of sizes, so the model can learn how binding energy depends on a combination of </a:t>
            </a:r>
            <a:r>
              <a:rPr lang="en" altLang="zh-CN" sz="1200" b="1" kern="1200" dirty="0">
                <a:solidFill>
                  <a:schemeClr val="tx1"/>
                </a:solidFill>
                <a:effectLst/>
                <a:latin typeface="+mn-lt"/>
                <a:ea typeface="+mn-ea"/>
                <a:cs typeface="+mn-cs"/>
              </a:rPr>
              <a:t>contact area and polarity</a:t>
            </a:r>
            <a:r>
              <a:rPr lang="en" altLang="zh-CN" sz="1200" kern="1200" dirty="0">
                <a:solidFill>
                  <a:schemeClr val="tx1"/>
                </a:solidFill>
                <a:effectLst/>
                <a:latin typeface="+mn-lt"/>
                <a:ea typeface="+mn-ea"/>
                <a:cs typeface="+mn-cs"/>
              </a:rPr>
              <a:t> at the perovskite interface.</a:t>
            </a:r>
          </a:p>
          <a:p>
            <a:endParaRPr lang="e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622D87D0-9B18-F08C-2484-86B001C30835}"/>
              </a:ext>
            </a:extLst>
          </p:cNvPr>
          <p:cNvSpPr>
            <a:spLocks noGrp="1"/>
          </p:cNvSpPr>
          <p:nvPr>
            <p:ph type="sldNum" sz="quarter" idx="5"/>
          </p:nvPr>
        </p:nvSpPr>
        <p:spPr/>
        <p:txBody>
          <a:bodyPr/>
          <a:lstStyle/>
          <a:p>
            <a:fld id="{B7924F22-AC36-4F1B-B78D-11CE21608D0F}" type="slidenum">
              <a:rPr lang="en-US" smtClean="0"/>
              <a:t>6</a:t>
            </a:fld>
            <a:endParaRPr lang="en-US"/>
          </a:p>
        </p:txBody>
      </p:sp>
    </p:spTree>
    <p:extLst>
      <p:ext uri="{BB962C8B-B14F-4D97-AF65-F5344CB8AC3E}">
        <p14:creationId xmlns:p14="http://schemas.microsoft.com/office/powerpoint/2010/main" val="2007467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9A616-C6BF-3ABD-1480-D7B1ACAA41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FBCD70-EF41-3768-B0CF-5174607891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833DC1-65E7-2159-F3B8-4F40863F3901}"/>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F9C30E8-8DA6-8E2D-0D01-556BFEA81135}"/>
              </a:ext>
            </a:extLst>
          </p:cNvPr>
          <p:cNvSpPr>
            <a:spLocks noGrp="1"/>
          </p:cNvSpPr>
          <p:nvPr>
            <p:ph type="sldNum" sz="quarter" idx="5"/>
          </p:nvPr>
        </p:nvSpPr>
        <p:spPr/>
        <p:txBody>
          <a:bodyPr/>
          <a:lstStyle/>
          <a:p>
            <a:fld id="{B7924F22-AC36-4F1B-B78D-11CE21608D0F}" type="slidenum">
              <a:rPr lang="en-US" smtClean="0"/>
              <a:t>7</a:t>
            </a:fld>
            <a:endParaRPr lang="en-US"/>
          </a:p>
        </p:txBody>
      </p:sp>
    </p:spTree>
    <p:extLst>
      <p:ext uri="{BB962C8B-B14F-4D97-AF65-F5344CB8AC3E}">
        <p14:creationId xmlns:p14="http://schemas.microsoft.com/office/powerpoint/2010/main" val="166638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0CCDC-AB87-98B8-4F7B-EB5C20F73D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B6174A-4F0A-6C66-4AEA-9D88CB2C8A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650EF0-681C-E70A-FD72-C849A4CF2E12}"/>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1B5D944-56F8-EAC3-2AFF-66D7279EE1A6}"/>
              </a:ext>
            </a:extLst>
          </p:cNvPr>
          <p:cNvSpPr>
            <a:spLocks noGrp="1"/>
          </p:cNvSpPr>
          <p:nvPr>
            <p:ph type="sldNum" sz="quarter" idx="5"/>
          </p:nvPr>
        </p:nvSpPr>
        <p:spPr/>
        <p:txBody>
          <a:bodyPr/>
          <a:lstStyle/>
          <a:p>
            <a:fld id="{B7924F22-AC36-4F1B-B78D-11CE21608D0F}" type="slidenum">
              <a:rPr lang="en-US" smtClean="0"/>
              <a:t>8</a:t>
            </a:fld>
            <a:endParaRPr lang="en-US"/>
          </a:p>
        </p:txBody>
      </p:sp>
    </p:spTree>
    <p:extLst>
      <p:ext uri="{BB962C8B-B14F-4D97-AF65-F5344CB8AC3E}">
        <p14:creationId xmlns:p14="http://schemas.microsoft.com/office/powerpoint/2010/main" val="349410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AF942-0E60-ACD6-5A41-41BE18AF4B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ACFEF8-9C88-DFAC-C07B-9492D86368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65CF0F-C556-88DD-54F1-D647AD7E435A}"/>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364474E-F29C-D52D-38E0-85FF50AE8344}"/>
              </a:ext>
            </a:extLst>
          </p:cNvPr>
          <p:cNvSpPr>
            <a:spLocks noGrp="1"/>
          </p:cNvSpPr>
          <p:nvPr>
            <p:ph type="sldNum" sz="quarter" idx="5"/>
          </p:nvPr>
        </p:nvSpPr>
        <p:spPr/>
        <p:txBody>
          <a:bodyPr/>
          <a:lstStyle/>
          <a:p>
            <a:fld id="{B7924F22-AC36-4F1B-B78D-11CE21608D0F}" type="slidenum">
              <a:rPr lang="en-US" smtClean="0"/>
              <a:t>15</a:t>
            </a:fld>
            <a:endParaRPr lang="en-US"/>
          </a:p>
        </p:txBody>
      </p:sp>
    </p:spTree>
    <p:extLst>
      <p:ext uri="{BB962C8B-B14F-4D97-AF65-F5344CB8AC3E}">
        <p14:creationId xmlns:p14="http://schemas.microsoft.com/office/powerpoint/2010/main" val="764206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924F22-AC36-4F1B-B78D-11CE21608D0F}" type="slidenum">
              <a:rPr lang="en-US" smtClean="0"/>
              <a:t>16</a:t>
            </a:fld>
            <a:endParaRPr lang="en-US"/>
          </a:p>
        </p:txBody>
      </p:sp>
    </p:spTree>
    <p:extLst>
      <p:ext uri="{BB962C8B-B14F-4D97-AF65-F5344CB8AC3E}">
        <p14:creationId xmlns:p14="http://schemas.microsoft.com/office/powerpoint/2010/main" val="1233285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924F22-AC36-4F1B-B78D-11CE21608D0F}" type="slidenum">
              <a:rPr lang="en-US" smtClean="0"/>
              <a:t>17</a:t>
            </a:fld>
            <a:endParaRPr lang="en-US"/>
          </a:p>
        </p:txBody>
      </p:sp>
    </p:spTree>
    <p:extLst>
      <p:ext uri="{BB962C8B-B14F-4D97-AF65-F5344CB8AC3E}">
        <p14:creationId xmlns:p14="http://schemas.microsoft.com/office/powerpoint/2010/main" val="3326749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AB526-07FE-F87D-9A6D-CFEA50A2B6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E3FD10-D76F-B8B3-F32E-91DFEDE5A0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880EAA-FBD8-532C-C423-FE0CF0410C4D}"/>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075CD42-4D56-747C-637C-3C8178821CC3}"/>
              </a:ext>
            </a:extLst>
          </p:cNvPr>
          <p:cNvSpPr>
            <a:spLocks noGrp="1"/>
          </p:cNvSpPr>
          <p:nvPr>
            <p:ph type="sldNum" sz="quarter" idx="5"/>
          </p:nvPr>
        </p:nvSpPr>
        <p:spPr/>
        <p:txBody>
          <a:bodyPr/>
          <a:lstStyle/>
          <a:p>
            <a:fld id="{B7924F22-AC36-4F1B-B78D-11CE21608D0F}" type="slidenum">
              <a:rPr lang="en-US" smtClean="0"/>
              <a:t>20</a:t>
            </a:fld>
            <a:endParaRPr lang="en-US"/>
          </a:p>
        </p:txBody>
      </p:sp>
    </p:spTree>
    <p:extLst>
      <p:ext uri="{BB962C8B-B14F-4D97-AF65-F5344CB8AC3E}">
        <p14:creationId xmlns:p14="http://schemas.microsoft.com/office/powerpoint/2010/main" val="2898785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分析了效果最好的模型预测的结果绝对误差大于</a:t>
            </a:r>
            <a:r>
              <a:rPr lang="en-HK" altLang="zh-CN" dirty="0"/>
              <a:t>0.2</a:t>
            </a:r>
            <a:r>
              <a:rPr lang="zh-CN" altLang="en-US" dirty="0"/>
              <a:t>的</a:t>
            </a:r>
            <a:r>
              <a:rPr lang="en-HK" altLang="zh-CN" dirty="0"/>
              <a:t>Special Case</a:t>
            </a:r>
            <a:r>
              <a:rPr lang="zh-CN" altLang="en-US" dirty="0"/>
              <a:t>进行分析。</a:t>
            </a:r>
            <a:endParaRPr lang="en-HK" altLang="zh-CN" dirty="0"/>
          </a:p>
          <a:p>
            <a:pPr marL="285750" indent="-285750">
              <a:buFont typeface="Arial" panose="020B0604020202020204" pitchFamily="34" charset="0"/>
              <a:buChar char="•"/>
            </a:pPr>
            <a:r>
              <a:rPr lang="en-HK" dirty="0"/>
              <a:t>Ionic pairs,</a:t>
            </a:r>
            <a:r>
              <a:rPr lang="zh-CN" altLang="en-US" dirty="0"/>
              <a:t> </a:t>
            </a:r>
            <a:r>
              <a:rPr lang="en-HK" dirty="0"/>
              <a:t>Highly charged, non-neutral structures </a:t>
            </a:r>
          </a:p>
          <a:p>
            <a:pPr marL="285750" indent="-285750">
              <a:buFont typeface="Arial" panose="020B0604020202020204" pitchFamily="34" charset="0"/>
              <a:buChar char="•"/>
            </a:pPr>
            <a:endParaRPr lang="en-HK" dirty="0"/>
          </a:p>
          <a:p>
            <a:pPr marL="285750" indent="-285750">
              <a:buFont typeface="Arial" panose="020B0604020202020204" pitchFamily="34" charset="0"/>
              <a:buChar char="•"/>
            </a:pPr>
            <a:r>
              <a:rPr lang="en-HK" dirty="0"/>
              <a:t>Presence of atypical chemical elements/groups (e.g., boron-based anions, halogens</a:t>
            </a:r>
            <a:r>
              <a:rPr lang="zh-CN" altLang="en-US" dirty="0"/>
              <a:t>：</a:t>
            </a:r>
            <a:r>
              <a:rPr lang="en-HK" dirty="0"/>
              <a:t>[O-]I、[BH3-]I)</a:t>
            </a:r>
          </a:p>
          <a:p>
            <a:endParaRPr lang="en-HK" altLang="zh-CN" dirty="0"/>
          </a:p>
          <a:p>
            <a:endParaRPr lang="en-HK" dirty="0"/>
          </a:p>
        </p:txBody>
      </p:sp>
      <p:sp>
        <p:nvSpPr>
          <p:cNvPr id="4" name="灯片编号占位符 3"/>
          <p:cNvSpPr>
            <a:spLocks noGrp="1"/>
          </p:cNvSpPr>
          <p:nvPr>
            <p:ph type="sldNum" sz="quarter" idx="5"/>
          </p:nvPr>
        </p:nvSpPr>
        <p:spPr/>
        <p:txBody>
          <a:bodyPr/>
          <a:lstStyle/>
          <a:p>
            <a:fld id="{B7924F22-AC36-4F1B-B78D-11CE21608D0F}" type="slidenum">
              <a:rPr lang="en-US" smtClean="0"/>
              <a:t>21</a:t>
            </a:fld>
            <a:endParaRPr lang="en-US"/>
          </a:p>
        </p:txBody>
      </p:sp>
    </p:spTree>
    <p:extLst>
      <p:ext uri="{BB962C8B-B14F-4D97-AF65-F5344CB8AC3E}">
        <p14:creationId xmlns:p14="http://schemas.microsoft.com/office/powerpoint/2010/main" val="28643099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1A322-6767-453D-69C8-FA879215B2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CA25A8-0614-F3C8-9053-76CF6A43CA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4793CE-1CE7-9712-BA44-93B1C8FD0317}"/>
              </a:ext>
            </a:extLst>
          </p:cNvPr>
          <p:cNvSpPr>
            <a:spLocks noGrp="1"/>
          </p:cNvSpPr>
          <p:nvPr>
            <p:ph type="body" idx="1"/>
          </p:nvPr>
        </p:nvSpPr>
        <p:spPr/>
        <p:txBody>
          <a:bodyPr/>
          <a:lstStyle/>
          <a:p>
            <a:r>
              <a:rPr lang="zh-CN" altLang="en-US" dirty="0"/>
              <a:t>分析了效果最好的模型预测的结果绝对误差大于</a:t>
            </a:r>
            <a:r>
              <a:rPr lang="en-HK" altLang="zh-CN" dirty="0"/>
              <a:t>0.2</a:t>
            </a:r>
            <a:r>
              <a:rPr lang="zh-CN" altLang="en-US" dirty="0"/>
              <a:t>的</a:t>
            </a:r>
            <a:r>
              <a:rPr lang="en-HK" altLang="zh-CN" dirty="0"/>
              <a:t>Special Case</a:t>
            </a:r>
            <a:r>
              <a:rPr lang="zh-CN" altLang="en-US" dirty="0"/>
              <a:t>进行分析。</a:t>
            </a:r>
            <a:endParaRPr lang="en-HK" altLang="zh-CN" dirty="0"/>
          </a:p>
          <a:p>
            <a:endParaRPr lang="en-HK" dirty="0"/>
          </a:p>
        </p:txBody>
      </p:sp>
      <p:sp>
        <p:nvSpPr>
          <p:cNvPr id="4" name="灯片编号占位符 3">
            <a:extLst>
              <a:ext uri="{FF2B5EF4-FFF2-40B4-BE49-F238E27FC236}">
                <a16:creationId xmlns:a16="http://schemas.microsoft.com/office/drawing/2014/main" id="{7DCDEEDD-1A49-4112-72C0-59D506689E02}"/>
              </a:ext>
            </a:extLst>
          </p:cNvPr>
          <p:cNvSpPr>
            <a:spLocks noGrp="1"/>
          </p:cNvSpPr>
          <p:nvPr>
            <p:ph type="sldNum" sz="quarter" idx="5"/>
          </p:nvPr>
        </p:nvSpPr>
        <p:spPr/>
        <p:txBody>
          <a:bodyPr/>
          <a:lstStyle/>
          <a:p>
            <a:fld id="{B7924F22-AC36-4F1B-B78D-11CE21608D0F}" type="slidenum">
              <a:rPr lang="en-US" smtClean="0"/>
              <a:t>22</a:t>
            </a:fld>
            <a:endParaRPr lang="en-US"/>
          </a:p>
        </p:txBody>
      </p:sp>
    </p:spTree>
    <p:extLst>
      <p:ext uri="{BB962C8B-B14F-4D97-AF65-F5344CB8AC3E}">
        <p14:creationId xmlns:p14="http://schemas.microsoft.com/office/powerpoint/2010/main" val="2914127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924F22-AC36-4F1B-B78D-11CE21608D0F}" type="slidenum">
              <a:rPr lang="en-US" smtClean="0"/>
              <a:t>26</a:t>
            </a:fld>
            <a:endParaRPr lang="en-US"/>
          </a:p>
        </p:txBody>
      </p:sp>
    </p:spTree>
    <p:extLst>
      <p:ext uri="{BB962C8B-B14F-4D97-AF65-F5344CB8AC3E}">
        <p14:creationId xmlns:p14="http://schemas.microsoft.com/office/powerpoint/2010/main" val="2902943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25873">
              <a:srgbClr val="FFFFFF"/>
            </a:gs>
            <a:gs pos="100000">
              <a:srgbClr val="FFB100"/>
            </a:gs>
            <a:gs pos="49000">
              <a:srgbClr val="FFFFFF"/>
            </a:gs>
            <a:gs pos="0">
              <a:schemeClr val="bg1"/>
            </a:gs>
            <a:gs pos="70000">
              <a:schemeClr val="bg1">
                <a:alpha val="50000"/>
              </a:schemeClr>
            </a:gs>
          </a:gsLst>
          <a:lin ang="10800000" scaled="1"/>
        </a:gradFill>
        <a:effectLst/>
      </p:bgPr>
    </p:bg>
    <p:spTree>
      <p:nvGrpSpPr>
        <p:cNvPr id="1" name=""/>
        <p:cNvGrpSpPr/>
        <p:nvPr/>
      </p:nvGrpSpPr>
      <p:grpSpPr>
        <a:xfrm>
          <a:off x="0" y="0"/>
          <a:ext cx="0" cy="0"/>
          <a:chOff x="0" y="0"/>
          <a:chExt cx="0" cy="0"/>
        </a:xfrm>
      </p:grpSpPr>
      <p:pic>
        <p:nvPicPr>
          <p:cNvPr id="3" name="图片 2" descr="Monocrystalline-Solar-Panels_compressed"/>
          <p:cNvPicPr>
            <a:picLocks noChangeAspect="1"/>
          </p:cNvPicPr>
          <p:nvPr userDrawn="1"/>
        </p:nvPicPr>
        <p:blipFill>
          <a:blip r:embed="rId2"/>
          <a:stretch>
            <a:fillRect/>
          </a:stretch>
        </p:blipFill>
        <p:spPr>
          <a:xfrm>
            <a:off x="-97790" y="-16510"/>
            <a:ext cx="12285345" cy="6884035"/>
          </a:xfrm>
          <a:prstGeom prst="rect">
            <a:avLst/>
          </a:prstGeom>
        </p:spPr>
      </p:pic>
      <p:sp>
        <p:nvSpPr>
          <p:cNvPr id="14" name="矩形 13"/>
          <p:cNvSpPr/>
          <p:nvPr userDrawn="1"/>
        </p:nvSpPr>
        <p:spPr>
          <a:xfrm rot="10800000">
            <a:off x="-97155" y="-59690"/>
            <a:ext cx="9760585" cy="6977380"/>
          </a:xfrm>
          <a:prstGeom prst="rect">
            <a:avLst/>
          </a:prstGeom>
          <a:gradFill flip="none" rotWithShape="1">
            <a:gsLst>
              <a:gs pos="100000">
                <a:srgbClr val="E3E9F1"/>
              </a:gs>
              <a:gs pos="57000">
                <a:srgbClr val="E3E9F1">
                  <a:alpha val="95000"/>
                </a:srgbClr>
              </a:gs>
              <a:gs pos="0">
                <a:srgbClr val="E3E9F1">
                  <a:alpha val="0"/>
                </a:srgbClr>
              </a:gs>
              <a:gs pos="28718">
                <a:srgbClr val="E3E9F1">
                  <a:alpha val="8000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47F715E-B9BC-4920-AF97-2CBE5421FD71}" type="datetime1">
              <a:rPr lang="en-US" smtClean="0"/>
              <a:t>5/3/26</a:t>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a:xfrm>
            <a:off x="9355756" y="6356350"/>
            <a:ext cx="2743200" cy="365125"/>
          </a:xfrm>
        </p:spPr>
        <p:txBody>
          <a:bodyPr/>
          <a:lstStyle>
            <a:lvl1pPr>
              <a:defRPr>
                <a:latin typeface="Segoe UI Black" panose="020B0A02040204020203" pitchFamily="34" charset="0"/>
              </a:defRPr>
            </a:lvl1pPr>
          </a:lstStyle>
          <a:p>
            <a:fld id="{5A846D4C-743D-4A62-AF1E-2CABDD37274B}" type="slidenum">
              <a:rPr lang="en-US" smtClean="0"/>
              <a:t>‹#›</a:t>
            </a:fld>
            <a:endParaRPr lang="en-US"/>
          </a:p>
        </p:txBody>
      </p:sp>
      <p:sp>
        <p:nvSpPr>
          <p:cNvPr id="8" name="矩形 7"/>
          <p:cNvSpPr/>
          <p:nvPr userDrawn="1"/>
        </p:nvSpPr>
        <p:spPr>
          <a:xfrm>
            <a:off x="0" y="269507"/>
            <a:ext cx="273652" cy="644885"/>
          </a:xfrm>
          <a:prstGeom prst="rect">
            <a:avLst/>
          </a:prstGeom>
          <a:solidFill>
            <a:srgbClr val="FFB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图片 10" descr="蓝色的标志&#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86762" y="288392"/>
            <a:ext cx="2512194" cy="607114"/>
          </a:xfrm>
          <a:prstGeom prst="rect">
            <a:avLst/>
          </a:prstGeom>
        </p:spPr>
      </p:pic>
      <p:sp>
        <p:nvSpPr>
          <p:cNvPr id="5" name="矩形 4"/>
          <p:cNvSpPr/>
          <p:nvPr userDrawn="1"/>
        </p:nvSpPr>
        <p:spPr>
          <a:xfrm>
            <a:off x="1" y="0"/>
            <a:ext cx="12192000" cy="136525"/>
          </a:xfrm>
          <a:prstGeom prst="rect">
            <a:avLst/>
          </a:prstGeom>
          <a:solidFill>
            <a:srgbClr val="0038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35243350-28A3-4E9B-8585-9E3E5C9FF4B6}" type="datetime1">
              <a:rPr lang="en-US" smtClean="0"/>
              <a:t>5/3/26</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F6FAACB-29B3-4E00-9D22-59E10261C081}" type="datetime1">
              <a:rPr lang="en-US" smtClean="0"/>
              <a:t>5/3/26</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p:cNvSpPr>
            <a:spLocks noGrp="1"/>
          </p:cNvSpPr>
          <p:nvPr>
            <p:ph type="dt" sz="half" idx="10"/>
          </p:nvPr>
        </p:nvSpPr>
        <p:spPr/>
        <p:txBody>
          <a:bodyPr/>
          <a:lstStyle/>
          <a:p>
            <a:fld id="{38B5EB14-0563-4280-8D48-313A4772812E}" type="datetime1">
              <a:rPr lang="en-US" smtClean="0"/>
              <a:t>5/3/26</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p:cNvSpPr>
            <a:spLocks noGrp="1"/>
          </p:cNvSpPr>
          <p:nvPr>
            <p:ph type="dt" sz="half" idx="10"/>
          </p:nvPr>
        </p:nvSpPr>
        <p:spPr/>
        <p:txBody>
          <a:bodyPr/>
          <a:lstStyle/>
          <a:p>
            <a:fld id="{1987BB1F-A91B-4738-887E-53B2D9EAA4D7}" type="datetime1">
              <a:rPr lang="en-US" smtClean="0"/>
              <a:t>5/3/26</a:t>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A205A857-6E48-48CD-85CA-7A5FEE1815B6}" type="datetime1">
              <a:rPr lang="en-US" smtClean="0"/>
              <a:t>5/3/26</a:t>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8A3D1D0-CE50-42E2-B3B4-191C4C680BA1}" type="datetime1">
              <a:rPr lang="en-US" smtClean="0"/>
              <a:t>5/3/26</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744BA-D99B-47EE-B781-6879D8BD01B7}" type="datetime1">
              <a:rPr lang="en-US" smtClean="0"/>
              <a:t>5/3/26</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59640CBA-2D95-4C76-878F-FDA7AA21CCFB}" type="datetime1">
              <a:rPr lang="en-US" smtClean="0"/>
              <a:t>5/3/26</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688BC8E1-45D7-4A99-B4D4-D0AC2DC7D69D}" type="datetime1">
              <a:rPr lang="en-US" smtClean="0"/>
              <a:t>5/3/26</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9B5F7D-8FAF-452F-95ED-71D77532267E}" type="datetime1">
              <a:rPr lang="en-US" smtClean="0"/>
              <a:t>5/3/26</a:t>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846D4C-743D-4A62-AF1E-2CABDD37274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DCF3894-F3A4-7A66-993E-0F8CED1E9AF5}"/>
              </a:ext>
            </a:extLst>
          </p:cNvPr>
          <p:cNvSpPr txBox="1"/>
          <p:nvPr/>
        </p:nvSpPr>
        <p:spPr>
          <a:xfrm>
            <a:off x="100094" y="1751906"/>
            <a:ext cx="7265324" cy="2677656"/>
          </a:xfrm>
          <a:prstGeom prst="rect">
            <a:avLst/>
          </a:prstGeom>
          <a:noFill/>
        </p:spPr>
        <p:txBody>
          <a:bodyPr wrap="square" rtlCol="0">
            <a:spAutoFit/>
          </a:bodyPr>
          <a:lstStyle/>
          <a:p>
            <a:pPr algn="ctr"/>
            <a:r>
              <a:rPr lang="en-US" altLang="zh-CN" sz="4200" b="1" dirty="0">
                <a:latin typeface="Arial" panose="020B0604020202020204" pitchFamily="34" charset="0"/>
                <a:ea typeface="Arial Unicode MS" panose="020B0604020202020204" pitchFamily="34" charset="-122"/>
                <a:cs typeface="Arial" panose="020B0604020202020204" pitchFamily="34" charset="0"/>
              </a:rPr>
              <a:t>Using Deep Learning to accelerate molecular additive design for perovskite interface</a:t>
            </a:r>
            <a:endParaRPr lang="en-GB" sz="42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F2255F58-060B-1A0E-131E-1C2A702E688A}"/>
              </a:ext>
            </a:extLst>
          </p:cNvPr>
          <p:cNvSpPr txBox="1"/>
          <p:nvPr/>
        </p:nvSpPr>
        <p:spPr>
          <a:xfrm>
            <a:off x="870559" y="4493028"/>
            <a:ext cx="5724394" cy="1322863"/>
          </a:xfrm>
          <a:prstGeom prst="rect">
            <a:avLst/>
          </a:prstGeom>
          <a:noFill/>
        </p:spPr>
        <p:txBody>
          <a:bodyPr wrap="square" rtlCol="0">
            <a:spAutoFit/>
          </a:bodyPr>
          <a:lstStyle/>
          <a:p>
            <a:pPr algn="ctr">
              <a:lnSpc>
                <a:spcPct val="150000"/>
              </a:lnSpc>
            </a:pPr>
            <a:r>
              <a:rPr lang="en-US" altLang="zh-CN" sz="2800" dirty="0"/>
              <a:t>Group 9</a:t>
            </a:r>
          </a:p>
          <a:p>
            <a:pPr algn="ctr">
              <a:lnSpc>
                <a:spcPct val="150000"/>
              </a:lnSpc>
            </a:pPr>
            <a:r>
              <a:rPr lang="en-US" altLang="zh-CN" sz="2800" dirty="0"/>
              <a:t>May. 5</a:t>
            </a:r>
            <a:r>
              <a:rPr lang="en-US" altLang="zh-CN" sz="2800" baseline="30000" dirty="0"/>
              <a:t>th</a:t>
            </a:r>
            <a:r>
              <a:rPr lang="en-US" altLang="zh-CN" sz="2800" dirty="0"/>
              <a:t>, 2026</a:t>
            </a:r>
            <a:endParaRPr lang="en-GB" sz="2800" dirty="0"/>
          </a:p>
        </p:txBody>
      </p:sp>
      <p:pic>
        <p:nvPicPr>
          <p:cNvPr id="6" name="图片 5" descr="文本&#10;&#10;AI 生成的内容可能不正确。">
            <a:extLst>
              <a:ext uri="{FF2B5EF4-FFF2-40B4-BE49-F238E27FC236}">
                <a16:creationId xmlns:a16="http://schemas.microsoft.com/office/drawing/2014/main" id="{E9A65F4A-56AA-721B-4915-0F439A6D2894}"/>
              </a:ext>
            </a:extLst>
          </p:cNvPr>
          <p:cNvPicPr>
            <a:picLocks noChangeAspect="1"/>
          </p:cNvPicPr>
          <p:nvPr/>
        </p:nvPicPr>
        <p:blipFill>
          <a:blip r:embed="rId3" cstate="print">
            <a:extLst>
              <a:ext uri="{28A0092B-C50C-407E-A947-70E740481C1C}">
                <a14:useLocalDpi xmlns:a14="http://schemas.microsoft.com/office/drawing/2010/main" val="0"/>
              </a:ext>
            </a:extLst>
          </a:blip>
          <a:srcRect l="9923" t="27981" r="7524" b="26774"/>
          <a:stretch>
            <a:fillRect/>
          </a:stretch>
        </p:blipFill>
        <p:spPr>
          <a:xfrm>
            <a:off x="175365" y="90131"/>
            <a:ext cx="2605413" cy="951978"/>
          </a:xfrm>
          <a:prstGeom prst="rect">
            <a:avLst/>
          </a:prstGeom>
        </p:spPr>
      </p:pic>
    </p:spTree>
    <p:extLst>
      <p:ext uri="{BB962C8B-B14F-4D97-AF65-F5344CB8AC3E}">
        <p14:creationId xmlns:p14="http://schemas.microsoft.com/office/powerpoint/2010/main" val="2322594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78BB248-3214-F0A1-F323-29249B432AB9}"/>
              </a:ext>
            </a:extLst>
          </p:cNvPr>
          <p:cNvSpPr>
            <a:spLocks noGrp="1"/>
          </p:cNvSpPr>
          <p:nvPr>
            <p:ph type="sldNum" sz="quarter" idx="12"/>
          </p:nvPr>
        </p:nvSpPr>
        <p:spPr/>
        <p:txBody>
          <a:bodyPr/>
          <a:lstStyle/>
          <a:p>
            <a:r>
              <a:rPr sz="1200">
                <a:latin typeface="Arial"/>
              </a:rPr>
              <a:t>2</a:t>
            </a:r>
          </a:p>
        </p:txBody>
      </p:sp>
      <p:sp>
        <p:nvSpPr>
          <p:cNvPr id="5" name="文本框 4">
            <a:extLst>
              <a:ext uri="{FF2B5EF4-FFF2-40B4-BE49-F238E27FC236}">
                <a16:creationId xmlns:a16="http://schemas.microsoft.com/office/drawing/2014/main" id="{579E15B2-A7E1-D157-4757-BD31B7CA13A4}"/>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Outline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241DEC0B-EFB5-D218-9BE6-D6CF8A40B607}"/>
              </a:ext>
            </a:extLst>
          </p:cNvPr>
          <p:cNvSpPr txBox="1"/>
          <p:nvPr/>
        </p:nvSpPr>
        <p:spPr>
          <a:xfrm>
            <a:off x="1666714" y="1268760"/>
            <a:ext cx="8856984" cy="3970318"/>
          </a:xfrm>
          <a:prstGeom prst="rect">
            <a:avLst/>
          </a:prstGeom>
          <a:noFill/>
        </p:spPr>
        <p:txBody>
          <a:bodyPr wrap="square">
            <a:spAutoFit/>
          </a:bodyPr>
          <a:lstStyle/>
          <a:p>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solidFill>
                  <a:schemeClr val="accent1"/>
                </a:solidFill>
                <a:ea typeface="微软雅黑" panose="020B0503020204020204" pitchFamily="34" charset="-122"/>
                <a:cs typeface="Arial" panose="020B0604020202020204" pitchFamily="34" charset="0"/>
              </a:rPr>
              <a:t>   </a:t>
            </a:r>
            <a:r>
              <a:rPr lang="en-US" altLang="zh-CN" sz="2800" b="1" dirty="0">
                <a:solidFill>
                  <a:schemeClr val="accent1"/>
                </a:solidFill>
                <a:ea typeface="Segoe UI Black" panose="020B0A02040204020203" pitchFamily="34" charset="0"/>
              </a:rPr>
              <a:t>Background and data processing</a:t>
            </a:r>
            <a:endParaRPr lang="en-US" altLang="zh-CN" sz="2800" b="1" dirty="0">
              <a:solidFill>
                <a:schemeClr val="accent1"/>
              </a:solidFill>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M</a:t>
            </a:r>
            <a:r>
              <a:rPr lang="en-US" altLang="zh-CN" sz="2800" b="1" dirty="0">
                <a:solidFill>
                  <a:srgbClr val="111827"/>
                </a:solidFill>
              </a:rPr>
              <a:t>odel and training strategy</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Results and mechanistic analysis</a:t>
            </a: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Special cases, attention, limitations</a:t>
            </a:r>
            <a:endParaRPr lang="en-US" altLang="zh-CN" sz="2800" dirty="0"/>
          </a:p>
          <a:p>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p:txBody>
      </p:sp>
    </p:spTree>
    <p:extLst>
      <p:ext uri="{BB962C8B-B14F-4D97-AF65-F5344CB8AC3E}">
        <p14:creationId xmlns:p14="http://schemas.microsoft.com/office/powerpoint/2010/main" val="3914152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B79DDA5-765D-CAEF-140F-8F01F6FD6D13}"/>
              </a:ext>
            </a:extLst>
          </p:cNvPr>
          <p:cNvSpPr>
            <a:spLocks noGrp="1"/>
          </p:cNvSpPr>
          <p:nvPr>
            <p:ph type="sldNum" sz="quarter" idx="12"/>
          </p:nvPr>
        </p:nvSpPr>
        <p:spPr/>
        <p:txBody>
          <a:bodyPr/>
          <a:lstStyle/>
          <a:p>
            <a:r>
              <a:rPr sz="1200">
                <a:latin typeface="Arial"/>
              </a:rPr>
              <a:t>3</a:t>
            </a:r>
          </a:p>
        </p:txBody>
      </p:sp>
      <p:sp>
        <p:nvSpPr>
          <p:cNvPr id="4" name="文本框 3">
            <a:extLst>
              <a:ext uri="{FF2B5EF4-FFF2-40B4-BE49-F238E27FC236}">
                <a16:creationId xmlns:a16="http://schemas.microsoft.com/office/drawing/2014/main" id="{166D49F3-EFAB-8924-03B2-0579BD35E577}"/>
              </a:ext>
            </a:extLst>
          </p:cNvPr>
          <p:cNvSpPr txBox="1"/>
          <p:nvPr/>
        </p:nvSpPr>
        <p:spPr>
          <a:xfrm>
            <a:off x="273652" y="6461664"/>
            <a:ext cx="6093912" cy="338554"/>
          </a:xfrm>
          <a:prstGeom prst="rect">
            <a:avLst/>
          </a:prstGeom>
          <a:noFill/>
        </p:spPr>
        <p:txBody>
          <a:bodyPr wrap="square">
            <a:spAutoFit/>
          </a:bodyPr>
          <a:lstStyle/>
          <a:p>
            <a:r>
              <a:rPr lang="sv-SE" altLang="zh-CN" sz="1600" dirty="0"/>
              <a:t> </a:t>
            </a:r>
            <a:r>
              <a:rPr lang="sv-SE" altLang="zh-CN" sz="1600" i="1" dirty="0"/>
              <a:t>Nat. Mater.</a:t>
            </a:r>
            <a:r>
              <a:rPr lang="sv-SE" altLang="zh-CN" sz="1600" dirty="0"/>
              <a:t> </a:t>
            </a:r>
            <a:r>
              <a:rPr lang="sv-SE" altLang="zh-CN" sz="1600" b="1" dirty="0"/>
              <a:t>22</a:t>
            </a:r>
            <a:r>
              <a:rPr lang="sv-SE" altLang="zh-CN" sz="1600" dirty="0"/>
              <a:t>, 1507–1514 (2023).</a:t>
            </a:r>
            <a:endParaRPr lang="en-GB" sz="1600" dirty="0"/>
          </a:p>
        </p:txBody>
      </p:sp>
      <p:sp>
        <p:nvSpPr>
          <p:cNvPr id="3" name="文本框 2">
            <a:extLst>
              <a:ext uri="{FF2B5EF4-FFF2-40B4-BE49-F238E27FC236}">
                <a16:creationId xmlns:a16="http://schemas.microsoft.com/office/drawing/2014/main" id="{C735FB94-346E-8BD5-BB7A-CB04AB4C6811}"/>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Introduction</a:t>
            </a:r>
          </a:p>
        </p:txBody>
      </p:sp>
      <p:pic>
        <p:nvPicPr>
          <p:cNvPr id="14" name="图片 13">
            <a:extLst>
              <a:ext uri="{FF2B5EF4-FFF2-40B4-BE49-F238E27FC236}">
                <a16:creationId xmlns:a16="http://schemas.microsoft.com/office/drawing/2014/main" id="{87EE4D29-CC80-67E0-D632-ECB6BBE9A9CD}"/>
              </a:ext>
            </a:extLst>
          </p:cNvPr>
          <p:cNvPicPr>
            <a:picLocks noChangeAspect="1"/>
          </p:cNvPicPr>
          <p:nvPr/>
        </p:nvPicPr>
        <p:blipFill>
          <a:blip r:embed="rId3">
            <a:extLst>
              <a:ext uri="{28A0092B-C50C-407E-A947-70E740481C1C}">
                <a14:useLocalDpi xmlns:a14="http://schemas.microsoft.com/office/drawing/2010/main" val="0"/>
              </a:ext>
            </a:extLst>
          </a:blip>
          <a:srcRect l="2595" t="13053" r="2122" b="6783"/>
          <a:stretch>
            <a:fillRect/>
          </a:stretch>
        </p:blipFill>
        <p:spPr>
          <a:xfrm>
            <a:off x="4460632" y="3126713"/>
            <a:ext cx="7409792" cy="3400435"/>
          </a:xfrm>
          <a:prstGeom prst="rect">
            <a:avLst/>
          </a:prstGeom>
        </p:spPr>
      </p:pic>
      <p:pic>
        <p:nvPicPr>
          <p:cNvPr id="9" name="图片 8">
            <a:extLst>
              <a:ext uri="{FF2B5EF4-FFF2-40B4-BE49-F238E27FC236}">
                <a16:creationId xmlns:a16="http://schemas.microsoft.com/office/drawing/2014/main" id="{8F72A4AD-71A8-DBC8-F88C-F40FCA491AB8}"/>
              </a:ext>
            </a:extLst>
          </p:cNvPr>
          <p:cNvPicPr>
            <a:picLocks noChangeAspect="1"/>
          </p:cNvPicPr>
          <p:nvPr/>
        </p:nvPicPr>
        <p:blipFill>
          <a:blip r:embed="rId4"/>
          <a:stretch>
            <a:fillRect/>
          </a:stretch>
        </p:blipFill>
        <p:spPr>
          <a:xfrm>
            <a:off x="385067" y="3429000"/>
            <a:ext cx="3960000" cy="2828572"/>
          </a:xfrm>
          <a:prstGeom prst="rect">
            <a:avLst/>
          </a:prstGeom>
        </p:spPr>
      </p:pic>
      <p:pic>
        <p:nvPicPr>
          <p:cNvPr id="10" name="图片 9" descr="手机屏幕截图&#10;&#10;AI 生成的内容可能不正确。">
            <a:extLst>
              <a:ext uri="{FF2B5EF4-FFF2-40B4-BE49-F238E27FC236}">
                <a16:creationId xmlns:a16="http://schemas.microsoft.com/office/drawing/2014/main" id="{642FDF79-8820-20DD-FBF2-5A49C83DD61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5067" y="994929"/>
            <a:ext cx="3960000" cy="2116125"/>
          </a:xfrm>
          <a:prstGeom prst="rect">
            <a:avLst/>
          </a:prstGeom>
        </p:spPr>
      </p:pic>
      <p:sp>
        <p:nvSpPr>
          <p:cNvPr id="15" name="文本框 14">
            <a:extLst>
              <a:ext uri="{FF2B5EF4-FFF2-40B4-BE49-F238E27FC236}">
                <a16:creationId xmlns:a16="http://schemas.microsoft.com/office/drawing/2014/main" id="{7AC29741-1FC0-2EAC-526D-68EB776029A3}"/>
              </a:ext>
            </a:extLst>
          </p:cNvPr>
          <p:cNvSpPr txBox="1"/>
          <p:nvPr/>
        </p:nvSpPr>
        <p:spPr>
          <a:xfrm>
            <a:off x="5540262" y="2598859"/>
            <a:ext cx="5070763" cy="477054"/>
          </a:xfrm>
          <a:prstGeom prst="rect">
            <a:avLst/>
          </a:prstGeom>
          <a:noFill/>
        </p:spPr>
        <p:txBody>
          <a:bodyPr wrap="square" rtlCol="0">
            <a:spAutoFit/>
          </a:bodyPr>
          <a:lstStyle/>
          <a:p>
            <a:pPr algn="ctr"/>
            <a:r>
              <a:rPr lang="en-US" altLang="zh-CN" sz="2400" dirty="0">
                <a:solidFill>
                  <a:schemeClr val="tx1">
                    <a:lumMod val="65000"/>
                    <a:lumOff val="35000"/>
                  </a:schemeClr>
                </a:solidFill>
              </a:rPr>
              <a:t>DFT Calculation Workflow</a:t>
            </a:r>
          </a:p>
        </p:txBody>
      </p:sp>
      <p:sp>
        <p:nvSpPr>
          <p:cNvPr id="16" name="文本框 15">
            <a:extLst>
              <a:ext uri="{FF2B5EF4-FFF2-40B4-BE49-F238E27FC236}">
                <a16:creationId xmlns:a16="http://schemas.microsoft.com/office/drawing/2014/main" id="{978CD278-8C28-062B-E525-8C6E726DD227}"/>
              </a:ext>
            </a:extLst>
          </p:cNvPr>
          <p:cNvSpPr txBox="1"/>
          <p:nvPr/>
        </p:nvSpPr>
        <p:spPr>
          <a:xfrm>
            <a:off x="269502" y="3085361"/>
            <a:ext cx="4075565" cy="369332"/>
          </a:xfrm>
          <a:prstGeom prst="rect">
            <a:avLst/>
          </a:prstGeom>
          <a:noFill/>
        </p:spPr>
        <p:txBody>
          <a:bodyPr wrap="square" rtlCol="0">
            <a:spAutoFit/>
          </a:bodyPr>
          <a:lstStyle/>
          <a:p>
            <a:pPr algn="ctr"/>
            <a:r>
              <a:rPr lang="en-US" altLang="zh-CN" dirty="0"/>
              <a:t>Schematic of perovskite solar cell</a:t>
            </a:r>
          </a:p>
        </p:txBody>
      </p:sp>
      <p:grpSp>
        <p:nvGrpSpPr>
          <p:cNvPr id="17" name="组合 16">
            <a:extLst>
              <a:ext uri="{FF2B5EF4-FFF2-40B4-BE49-F238E27FC236}">
                <a16:creationId xmlns:a16="http://schemas.microsoft.com/office/drawing/2014/main" id="{072F7A77-1F44-DB54-F7CF-A2713862D999}"/>
              </a:ext>
            </a:extLst>
          </p:cNvPr>
          <p:cNvGrpSpPr/>
          <p:nvPr/>
        </p:nvGrpSpPr>
        <p:grpSpPr>
          <a:xfrm>
            <a:off x="4774130" y="1620899"/>
            <a:ext cx="6977390" cy="612000"/>
            <a:chOff x="1918842" y="1747486"/>
            <a:chExt cx="6977390" cy="612000"/>
          </a:xfrm>
        </p:grpSpPr>
        <p:sp>
          <p:nvSpPr>
            <p:cNvPr id="18" name="矩形: 圆角 17">
              <a:extLst>
                <a:ext uri="{FF2B5EF4-FFF2-40B4-BE49-F238E27FC236}">
                  <a16:creationId xmlns:a16="http://schemas.microsoft.com/office/drawing/2014/main" id="{E1AFE326-FE1A-7589-7181-D937481C2207}"/>
                </a:ext>
              </a:extLst>
            </p:cNvPr>
            <p:cNvSpPr/>
            <p:nvPr/>
          </p:nvSpPr>
          <p:spPr>
            <a:xfrm>
              <a:off x="1918842" y="1747486"/>
              <a:ext cx="1169727"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Candidate molecular</a:t>
              </a:r>
              <a:endParaRPr lang="zh-CN" altLang="en-US" sz="1400" dirty="0">
                <a:solidFill>
                  <a:schemeClr val="tx1"/>
                </a:solidFill>
              </a:endParaRPr>
            </a:p>
          </p:txBody>
        </p:sp>
        <p:sp>
          <p:nvSpPr>
            <p:cNvPr id="19" name="矩形: 圆角 18">
              <a:extLst>
                <a:ext uri="{FF2B5EF4-FFF2-40B4-BE49-F238E27FC236}">
                  <a16:creationId xmlns:a16="http://schemas.microsoft.com/office/drawing/2014/main" id="{07FD1B44-C08D-F0B4-6025-ED98AC89E3BA}"/>
                </a:ext>
              </a:extLst>
            </p:cNvPr>
            <p:cNvSpPr/>
            <p:nvPr/>
          </p:nvSpPr>
          <p:spPr>
            <a:xfrm>
              <a:off x="3858454" y="1747486"/>
              <a:ext cx="1169728"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DFT Calculation</a:t>
              </a:r>
              <a:endParaRPr lang="zh-CN" altLang="en-US" sz="1400" dirty="0">
                <a:solidFill>
                  <a:schemeClr val="tx1"/>
                </a:solidFill>
              </a:endParaRPr>
            </a:p>
          </p:txBody>
        </p:sp>
        <p:sp>
          <p:nvSpPr>
            <p:cNvPr id="20" name="矩形: 圆角 19">
              <a:extLst>
                <a:ext uri="{FF2B5EF4-FFF2-40B4-BE49-F238E27FC236}">
                  <a16:creationId xmlns:a16="http://schemas.microsoft.com/office/drawing/2014/main" id="{E4B0CFC8-5D3C-2BDF-1A6E-74648232A078}"/>
                </a:ext>
              </a:extLst>
            </p:cNvPr>
            <p:cNvSpPr/>
            <p:nvPr/>
          </p:nvSpPr>
          <p:spPr>
            <a:xfrm>
              <a:off x="5869090" y="1747486"/>
              <a:ext cx="1169729"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Binding energy</a:t>
              </a:r>
              <a:endParaRPr lang="zh-CN" altLang="en-US" sz="1400" dirty="0">
                <a:solidFill>
                  <a:schemeClr val="tx1"/>
                </a:solidFill>
              </a:endParaRPr>
            </a:p>
          </p:txBody>
        </p:sp>
        <p:sp>
          <p:nvSpPr>
            <p:cNvPr id="21" name="矩形: 圆角 20">
              <a:extLst>
                <a:ext uri="{FF2B5EF4-FFF2-40B4-BE49-F238E27FC236}">
                  <a16:creationId xmlns:a16="http://schemas.microsoft.com/office/drawing/2014/main" id="{983A5178-7D53-E3A7-9244-FE8B413BF380}"/>
                </a:ext>
              </a:extLst>
            </p:cNvPr>
            <p:cNvSpPr/>
            <p:nvPr/>
          </p:nvSpPr>
          <p:spPr>
            <a:xfrm>
              <a:off x="7826666" y="1747486"/>
              <a:ext cx="1069566"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chemeClr val="tx1"/>
                  </a:solidFill>
                </a:rPr>
                <a:t>Screening</a:t>
              </a:r>
              <a:endParaRPr lang="zh-CN" altLang="en-US" sz="1400" dirty="0">
                <a:solidFill>
                  <a:schemeClr val="tx1"/>
                </a:solidFill>
              </a:endParaRPr>
            </a:p>
          </p:txBody>
        </p:sp>
        <p:sp>
          <p:nvSpPr>
            <p:cNvPr id="22" name="箭头: 右 21">
              <a:extLst>
                <a:ext uri="{FF2B5EF4-FFF2-40B4-BE49-F238E27FC236}">
                  <a16:creationId xmlns:a16="http://schemas.microsoft.com/office/drawing/2014/main" id="{D8BB64BD-C153-3712-2827-E78CEEE002EF}"/>
                </a:ext>
              </a:extLst>
            </p:cNvPr>
            <p:cNvSpPr/>
            <p:nvPr/>
          </p:nvSpPr>
          <p:spPr>
            <a:xfrm>
              <a:off x="3233517" y="1891209"/>
              <a:ext cx="479988" cy="284924"/>
            </a:xfrm>
            <a:prstGeom prst="rightArrow">
              <a:avLst>
                <a:gd name="adj1" fmla="val 66406"/>
                <a:gd name="adj2" fmla="val 50000"/>
              </a:avLst>
            </a:prstGeom>
            <a:solidFill>
              <a:srgbClr val="F8CBA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18A474C3-FDC4-BCAD-B9A7-17EB0D6E201A}"/>
                </a:ext>
              </a:extLst>
            </p:cNvPr>
            <p:cNvSpPr/>
            <p:nvPr/>
          </p:nvSpPr>
          <p:spPr>
            <a:xfrm>
              <a:off x="5208642" y="1891209"/>
              <a:ext cx="479988" cy="284924"/>
            </a:xfrm>
            <a:prstGeom prst="rightArrow">
              <a:avLst>
                <a:gd name="adj1" fmla="val 66406"/>
                <a:gd name="adj2" fmla="val 50000"/>
              </a:avLst>
            </a:prstGeom>
            <a:solidFill>
              <a:srgbClr val="F8CBA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E1251B0C-B904-D7B9-0042-B5EBB64E008B}"/>
                </a:ext>
              </a:extLst>
            </p:cNvPr>
            <p:cNvSpPr/>
            <p:nvPr/>
          </p:nvSpPr>
          <p:spPr>
            <a:xfrm>
              <a:off x="7166218" y="1891209"/>
              <a:ext cx="479988" cy="284924"/>
            </a:xfrm>
            <a:prstGeom prst="rightArrow">
              <a:avLst>
                <a:gd name="adj1" fmla="val 66406"/>
                <a:gd name="adj2" fmla="val 50000"/>
              </a:avLst>
            </a:prstGeom>
            <a:solidFill>
              <a:srgbClr val="F8CBA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84646AAD-46C8-55C5-1C18-A2463488CE0F}"/>
              </a:ext>
            </a:extLst>
          </p:cNvPr>
          <p:cNvSpPr txBox="1"/>
          <p:nvPr/>
        </p:nvSpPr>
        <p:spPr>
          <a:xfrm>
            <a:off x="4696492" y="1037809"/>
            <a:ext cx="2303471" cy="400110"/>
          </a:xfrm>
          <a:prstGeom prst="rect">
            <a:avLst/>
          </a:prstGeom>
          <a:noFill/>
        </p:spPr>
        <p:txBody>
          <a:bodyPr wrap="square" rtlCol="0">
            <a:spAutoFit/>
          </a:bodyPr>
          <a:lstStyle/>
          <a:p>
            <a:r>
              <a:rPr lang="en-US" altLang="zh-CN" sz="2000" b="1" dirty="0">
                <a:solidFill>
                  <a:schemeClr val="tx1">
                    <a:lumMod val="65000"/>
                    <a:lumOff val="35000"/>
                  </a:schemeClr>
                </a:solidFill>
              </a:rPr>
              <a:t>Traditional route</a:t>
            </a:r>
          </a:p>
        </p:txBody>
      </p:sp>
    </p:spTree>
    <p:extLst>
      <p:ext uri="{BB962C8B-B14F-4D97-AF65-F5344CB8AC3E}">
        <p14:creationId xmlns:p14="http://schemas.microsoft.com/office/powerpoint/2010/main" val="1173504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50656-428F-ECB1-369A-580174CFB2E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8D82DA-80C7-3B3E-18A8-7ABD24223C48}"/>
              </a:ext>
            </a:extLst>
          </p:cNvPr>
          <p:cNvSpPr>
            <a:spLocks noGrp="1"/>
          </p:cNvSpPr>
          <p:nvPr>
            <p:ph type="sldNum" sz="quarter" idx="12"/>
          </p:nvPr>
        </p:nvSpPr>
        <p:spPr/>
        <p:txBody>
          <a:bodyPr/>
          <a:lstStyle/>
          <a:p>
            <a:r>
              <a:rPr sz="1200">
                <a:latin typeface="Arial"/>
              </a:rPr>
              <a:t>4</a:t>
            </a:r>
          </a:p>
        </p:txBody>
      </p:sp>
      <p:sp>
        <p:nvSpPr>
          <p:cNvPr id="5" name="文本框 4">
            <a:extLst>
              <a:ext uri="{FF2B5EF4-FFF2-40B4-BE49-F238E27FC236}">
                <a16:creationId xmlns:a16="http://schemas.microsoft.com/office/drawing/2014/main" id="{46BF762D-5F58-28BF-3B36-0484805F44DF}"/>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Objective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pic>
        <p:nvPicPr>
          <p:cNvPr id="63" name="图片 62">
            <a:extLst>
              <a:ext uri="{FF2B5EF4-FFF2-40B4-BE49-F238E27FC236}">
                <a16:creationId xmlns:a16="http://schemas.microsoft.com/office/drawing/2014/main" id="{919182E2-4781-88BE-4C86-331087ED7E48}"/>
              </a:ext>
            </a:extLst>
          </p:cNvPr>
          <p:cNvPicPr>
            <a:picLocks noChangeAspect="1"/>
          </p:cNvPicPr>
          <p:nvPr/>
        </p:nvPicPr>
        <p:blipFill>
          <a:blip r:embed="rId3"/>
          <a:stretch>
            <a:fillRect/>
          </a:stretch>
        </p:blipFill>
        <p:spPr>
          <a:xfrm>
            <a:off x="757856" y="879383"/>
            <a:ext cx="10858632" cy="3584667"/>
          </a:xfrm>
          <a:prstGeom prst="rect">
            <a:avLst/>
          </a:prstGeom>
        </p:spPr>
      </p:pic>
      <p:sp>
        <p:nvSpPr>
          <p:cNvPr id="7168" name="文本框 7167">
            <a:extLst>
              <a:ext uri="{FF2B5EF4-FFF2-40B4-BE49-F238E27FC236}">
                <a16:creationId xmlns:a16="http://schemas.microsoft.com/office/drawing/2014/main" id="{E1B8E37A-726F-DC7A-A810-79CC7DACDC33}"/>
              </a:ext>
            </a:extLst>
          </p:cNvPr>
          <p:cNvSpPr txBox="1"/>
          <p:nvPr/>
        </p:nvSpPr>
        <p:spPr>
          <a:xfrm>
            <a:off x="273652" y="1054142"/>
            <a:ext cx="2928779" cy="400110"/>
          </a:xfrm>
          <a:prstGeom prst="rect">
            <a:avLst/>
          </a:prstGeom>
          <a:noFill/>
        </p:spPr>
        <p:txBody>
          <a:bodyPr wrap="square" rtlCol="0">
            <a:spAutoFit/>
          </a:bodyPr>
          <a:lstStyle/>
          <a:p>
            <a:r>
              <a:rPr lang="en-US" altLang="zh-CN" sz="2000" b="1" dirty="0">
                <a:solidFill>
                  <a:schemeClr val="tx1">
                    <a:lumMod val="65000"/>
                    <a:lumOff val="35000"/>
                  </a:schemeClr>
                </a:solidFill>
              </a:rPr>
              <a:t> ML-assisted route</a:t>
            </a:r>
          </a:p>
        </p:txBody>
      </p:sp>
      <p:sp>
        <p:nvSpPr>
          <p:cNvPr id="5155" name="Shape 7">
            <a:extLst>
              <a:ext uri="{FF2B5EF4-FFF2-40B4-BE49-F238E27FC236}">
                <a16:creationId xmlns:a16="http://schemas.microsoft.com/office/drawing/2014/main" id="{33586C9D-E25F-68B7-C9E3-652C51670F21}"/>
              </a:ext>
            </a:extLst>
          </p:cNvPr>
          <p:cNvSpPr/>
          <p:nvPr/>
        </p:nvSpPr>
        <p:spPr>
          <a:xfrm>
            <a:off x="2415968" y="5559885"/>
            <a:ext cx="566928" cy="384048"/>
          </a:xfrm>
          <a:prstGeom prst="rightArrow">
            <a:avLst/>
          </a:prstGeom>
          <a:solidFill>
            <a:srgbClr val="B0BCDF"/>
          </a:solidFill>
          <a:ln w="12700">
            <a:solidFill>
              <a:srgbClr val="B0BCDF"/>
            </a:solidFill>
            <a:prstDash val="solid"/>
          </a:ln>
          <a:effectLst>
            <a:outerShdw blurRad="50800" dist="38100" dir="2700000" algn="tl" rotWithShape="0">
              <a:prstClr val="black">
                <a:alpha val="40000"/>
              </a:prstClr>
            </a:outerShdw>
          </a:effectLst>
        </p:spPr>
        <p:txBody>
          <a:bodyPr/>
          <a:lstStyle/>
          <a:p>
            <a:endParaRPr lang="zh-CN" altLang="en-US"/>
          </a:p>
        </p:txBody>
      </p:sp>
      <p:sp>
        <p:nvSpPr>
          <p:cNvPr id="5159" name="文本框 5158">
            <a:extLst>
              <a:ext uri="{FF2B5EF4-FFF2-40B4-BE49-F238E27FC236}">
                <a16:creationId xmlns:a16="http://schemas.microsoft.com/office/drawing/2014/main" id="{75B42A72-BD14-9DA8-FE04-4BA8621BA7A7}"/>
              </a:ext>
            </a:extLst>
          </p:cNvPr>
          <p:cNvSpPr txBox="1"/>
          <p:nvPr/>
        </p:nvSpPr>
        <p:spPr>
          <a:xfrm>
            <a:off x="323436" y="4464050"/>
            <a:ext cx="4185064" cy="400110"/>
          </a:xfrm>
          <a:prstGeom prst="rect">
            <a:avLst/>
          </a:prstGeom>
          <a:noFill/>
        </p:spPr>
        <p:txBody>
          <a:bodyPr wrap="square" rtlCol="0">
            <a:spAutoFit/>
          </a:bodyPr>
          <a:lstStyle/>
          <a:p>
            <a:r>
              <a:rPr lang="en-US" altLang="zh-CN" sz="2000" b="1" dirty="0">
                <a:solidFill>
                  <a:schemeClr val="tx1">
                    <a:lumMod val="65000"/>
                    <a:lumOff val="35000"/>
                  </a:schemeClr>
                </a:solidFill>
              </a:rPr>
              <a:t>Supervised Learning Formulation</a:t>
            </a:r>
          </a:p>
        </p:txBody>
      </p:sp>
      <p:sp>
        <p:nvSpPr>
          <p:cNvPr id="5160" name="矩形: 圆角 5159">
            <a:extLst>
              <a:ext uri="{FF2B5EF4-FFF2-40B4-BE49-F238E27FC236}">
                <a16:creationId xmlns:a16="http://schemas.microsoft.com/office/drawing/2014/main" id="{A6E3090B-1A1B-60F5-45C9-0339A8AEFBA0}"/>
              </a:ext>
            </a:extLst>
          </p:cNvPr>
          <p:cNvSpPr/>
          <p:nvPr/>
        </p:nvSpPr>
        <p:spPr>
          <a:xfrm>
            <a:off x="3201156" y="5224978"/>
            <a:ext cx="3233937" cy="1053861"/>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zh-CN" sz="1600" b="1" dirty="0">
                <a:solidFill>
                  <a:schemeClr val="tx1"/>
                </a:solidFill>
              </a:rPr>
              <a:t>MODEL Objective</a:t>
            </a:r>
          </a:p>
          <a:p>
            <a:pPr algn="ctr">
              <a:spcAft>
                <a:spcPts val="600"/>
              </a:spcAft>
            </a:pPr>
            <a:r>
              <a:rPr lang="en-US" altLang="zh-CN" sz="1600" dirty="0">
                <a:solidFill>
                  <a:schemeClr val="tx1"/>
                </a:solidFill>
              </a:rPr>
              <a:t>learn f(SMILES) -&gt; binding energy</a:t>
            </a:r>
          </a:p>
        </p:txBody>
      </p:sp>
      <p:sp>
        <p:nvSpPr>
          <p:cNvPr id="5163" name="矩形: 圆角 5162">
            <a:extLst>
              <a:ext uri="{FF2B5EF4-FFF2-40B4-BE49-F238E27FC236}">
                <a16:creationId xmlns:a16="http://schemas.microsoft.com/office/drawing/2014/main" id="{1D9B40AF-2298-D139-690D-9B8E5DAC1BF1}"/>
              </a:ext>
            </a:extLst>
          </p:cNvPr>
          <p:cNvSpPr/>
          <p:nvPr/>
        </p:nvSpPr>
        <p:spPr>
          <a:xfrm>
            <a:off x="664492" y="5086459"/>
            <a:ext cx="1516709"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INPUT</a:t>
            </a:r>
            <a:r>
              <a:rPr lang="zh-CN" altLang="en-US" sz="1400" b="1" dirty="0">
                <a:solidFill>
                  <a:schemeClr val="tx1"/>
                </a:solidFill>
              </a:rPr>
              <a:t> </a:t>
            </a:r>
            <a:r>
              <a:rPr lang="en-US" altLang="zh-CN" sz="1400" b="1" dirty="0">
                <a:solidFill>
                  <a:schemeClr val="tx1"/>
                </a:solidFill>
              </a:rPr>
              <a:t>‘X’</a:t>
            </a:r>
          </a:p>
          <a:p>
            <a:pPr algn="ctr"/>
            <a:r>
              <a:rPr lang="en-US" altLang="zh-CN" sz="1400" dirty="0">
                <a:solidFill>
                  <a:schemeClr val="tx1"/>
                </a:solidFill>
              </a:rPr>
              <a:t>SMILES string</a:t>
            </a:r>
          </a:p>
        </p:txBody>
      </p:sp>
      <p:sp>
        <p:nvSpPr>
          <p:cNvPr id="5164" name="矩形: 圆角 5163">
            <a:extLst>
              <a:ext uri="{FF2B5EF4-FFF2-40B4-BE49-F238E27FC236}">
                <a16:creationId xmlns:a16="http://schemas.microsoft.com/office/drawing/2014/main" id="{62EB11EE-1034-75F7-F787-50884F2FD763}"/>
              </a:ext>
            </a:extLst>
          </p:cNvPr>
          <p:cNvSpPr/>
          <p:nvPr/>
        </p:nvSpPr>
        <p:spPr>
          <a:xfrm>
            <a:off x="664491" y="5848621"/>
            <a:ext cx="1516709"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LABEL</a:t>
            </a:r>
            <a:r>
              <a:rPr lang="zh-CN" altLang="en-US" sz="1400" b="1" dirty="0">
                <a:solidFill>
                  <a:schemeClr val="tx1"/>
                </a:solidFill>
              </a:rPr>
              <a:t> </a:t>
            </a:r>
            <a:r>
              <a:rPr lang="en-US" altLang="zh-CN" sz="1400" b="1" dirty="0">
                <a:solidFill>
                  <a:schemeClr val="tx1"/>
                </a:solidFill>
              </a:rPr>
              <a:t>‘Y’</a:t>
            </a:r>
          </a:p>
          <a:p>
            <a:pPr algn="ctr"/>
            <a:r>
              <a:rPr lang="en-US" altLang="zh-CN" sz="1400" dirty="0">
                <a:solidFill>
                  <a:schemeClr val="tx1"/>
                </a:solidFill>
              </a:rPr>
              <a:t>Binding energy</a:t>
            </a:r>
          </a:p>
        </p:txBody>
      </p:sp>
      <p:grpSp>
        <p:nvGrpSpPr>
          <p:cNvPr id="7232" name="组合 7231">
            <a:extLst>
              <a:ext uri="{FF2B5EF4-FFF2-40B4-BE49-F238E27FC236}">
                <a16:creationId xmlns:a16="http://schemas.microsoft.com/office/drawing/2014/main" id="{9CBFC35B-BD98-9349-0F2A-E7FEB62A9205}"/>
              </a:ext>
            </a:extLst>
          </p:cNvPr>
          <p:cNvGrpSpPr/>
          <p:nvPr/>
        </p:nvGrpSpPr>
        <p:grpSpPr>
          <a:xfrm>
            <a:off x="6653353" y="5181559"/>
            <a:ext cx="1645920" cy="1097280"/>
            <a:chOff x="6978316" y="4354322"/>
            <a:chExt cx="1645920" cy="1097280"/>
          </a:xfrm>
        </p:grpSpPr>
        <p:sp>
          <p:nvSpPr>
            <p:cNvPr id="5172" name="Text 13">
              <a:extLst>
                <a:ext uri="{FF2B5EF4-FFF2-40B4-BE49-F238E27FC236}">
                  <a16:creationId xmlns:a16="http://schemas.microsoft.com/office/drawing/2014/main" id="{AEDCCE89-5E41-B4E1-FBC1-0041B8D68EBC}"/>
                </a:ext>
              </a:extLst>
            </p:cNvPr>
            <p:cNvSpPr/>
            <p:nvPr/>
          </p:nvSpPr>
          <p:spPr>
            <a:xfrm>
              <a:off x="6978316" y="4354322"/>
              <a:ext cx="1645920" cy="219456"/>
            </a:xfrm>
            <a:prstGeom prst="rect">
              <a:avLst/>
            </a:prstGeom>
            <a:noFill/>
            <a:ln/>
          </p:spPr>
          <p:txBody>
            <a:bodyPr wrap="square" lIns="0" tIns="0" rIns="0" bIns="0" rtlCol="0" anchor="ctr"/>
            <a:lstStyle/>
            <a:p>
              <a:pPr marL="0" indent="0" algn="ctr">
                <a:buNone/>
              </a:pPr>
              <a:r>
                <a:rPr lang="en-US" sz="1400" b="1" dirty="0">
                  <a:solidFill>
                    <a:srgbClr val="2563EB"/>
                  </a:solidFill>
                </a:rPr>
                <a:t>Loss</a:t>
              </a:r>
              <a:endParaRPr lang="en-US" sz="1400" dirty="0"/>
            </a:p>
          </p:txBody>
        </p:sp>
        <p:sp>
          <p:nvSpPr>
            <p:cNvPr id="5173" name="Text 14">
              <a:extLst>
                <a:ext uri="{FF2B5EF4-FFF2-40B4-BE49-F238E27FC236}">
                  <a16:creationId xmlns:a16="http://schemas.microsoft.com/office/drawing/2014/main" id="{4EF39B3A-F784-7F12-86E7-AFAB3ABE97C3}"/>
                </a:ext>
              </a:extLst>
            </p:cNvPr>
            <p:cNvSpPr/>
            <p:nvPr/>
          </p:nvSpPr>
          <p:spPr>
            <a:xfrm>
              <a:off x="6978316" y="4665218"/>
              <a:ext cx="1645920" cy="457200"/>
            </a:xfrm>
            <a:prstGeom prst="rect">
              <a:avLst/>
            </a:prstGeom>
            <a:noFill/>
            <a:ln/>
          </p:spPr>
          <p:txBody>
            <a:bodyPr wrap="square" lIns="0" tIns="0" rIns="0" bIns="0" rtlCol="0" anchor="ctr"/>
            <a:lstStyle/>
            <a:p>
              <a:pPr marL="0" indent="0" algn="ctr">
                <a:buNone/>
              </a:pPr>
              <a:r>
                <a:rPr lang="en-US" sz="2300" b="1" dirty="0">
                  <a:solidFill>
                    <a:srgbClr val="14213D"/>
                  </a:solidFill>
                </a:rPr>
                <a:t>MSE</a:t>
              </a:r>
              <a:endParaRPr lang="en-US" sz="2300" dirty="0"/>
            </a:p>
          </p:txBody>
        </p:sp>
        <p:sp>
          <p:nvSpPr>
            <p:cNvPr id="5174" name="Text 15">
              <a:extLst>
                <a:ext uri="{FF2B5EF4-FFF2-40B4-BE49-F238E27FC236}">
                  <a16:creationId xmlns:a16="http://schemas.microsoft.com/office/drawing/2014/main" id="{F1590FB7-4A9A-1854-6473-2E54638C7EFB}"/>
                </a:ext>
              </a:extLst>
            </p:cNvPr>
            <p:cNvSpPr/>
            <p:nvPr/>
          </p:nvSpPr>
          <p:spPr>
            <a:xfrm>
              <a:off x="6978316" y="5195570"/>
              <a:ext cx="1645920" cy="256032"/>
            </a:xfrm>
            <a:prstGeom prst="rect">
              <a:avLst/>
            </a:prstGeom>
            <a:noFill/>
            <a:ln/>
          </p:spPr>
          <p:txBody>
            <a:bodyPr wrap="square" lIns="0" tIns="0" rIns="0" bIns="0" rtlCol="0" anchor="ctr"/>
            <a:lstStyle/>
            <a:p>
              <a:pPr marL="0" indent="0" algn="ctr">
                <a:buNone/>
              </a:pPr>
              <a:r>
                <a:rPr lang="en-US" sz="1200" dirty="0">
                  <a:solidFill>
                    <a:srgbClr val="516070"/>
                  </a:solidFill>
                </a:rPr>
                <a:t>on normalized y</a:t>
              </a:r>
              <a:endParaRPr lang="en-US" sz="1200" dirty="0"/>
            </a:p>
          </p:txBody>
        </p:sp>
      </p:grpSp>
      <p:grpSp>
        <p:nvGrpSpPr>
          <p:cNvPr id="7233" name="组合 7232">
            <a:extLst>
              <a:ext uri="{FF2B5EF4-FFF2-40B4-BE49-F238E27FC236}">
                <a16:creationId xmlns:a16="http://schemas.microsoft.com/office/drawing/2014/main" id="{FEDCF220-7E75-53A8-F042-3DC93F07572B}"/>
              </a:ext>
            </a:extLst>
          </p:cNvPr>
          <p:cNvGrpSpPr/>
          <p:nvPr/>
        </p:nvGrpSpPr>
        <p:grpSpPr>
          <a:xfrm>
            <a:off x="7810915" y="5181559"/>
            <a:ext cx="1645920" cy="1097280"/>
            <a:chOff x="9538636" y="4354322"/>
            <a:chExt cx="1645920" cy="1097280"/>
          </a:xfrm>
        </p:grpSpPr>
        <p:sp>
          <p:nvSpPr>
            <p:cNvPr id="5175" name="Text 16">
              <a:extLst>
                <a:ext uri="{FF2B5EF4-FFF2-40B4-BE49-F238E27FC236}">
                  <a16:creationId xmlns:a16="http://schemas.microsoft.com/office/drawing/2014/main" id="{68B63E1B-F90B-3210-622B-3F84DD0016DB}"/>
                </a:ext>
              </a:extLst>
            </p:cNvPr>
            <p:cNvSpPr/>
            <p:nvPr/>
          </p:nvSpPr>
          <p:spPr>
            <a:xfrm>
              <a:off x="9538636" y="4354322"/>
              <a:ext cx="1645920" cy="219456"/>
            </a:xfrm>
            <a:prstGeom prst="rect">
              <a:avLst/>
            </a:prstGeom>
            <a:noFill/>
            <a:ln/>
          </p:spPr>
          <p:txBody>
            <a:bodyPr wrap="square" lIns="0" tIns="0" rIns="0" bIns="0" rtlCol="0" anchor="ctr"/>
            <a:lstStyle/>
            <a:p>
              <a:pPr marL="0" indent="0" algn="ctr">
                <a:buNone/>
              </a:pPr>
              <a:r>
                <a:rPr lang="en-US" sz="1400" b="1" dirty="0">
                  <a:solidFill>
                    <a:srgbClr val="16A34A"/>
                  </a:solidFill>
                </a:rPr>
                <a:t>Metric</a:t>
              </a:r>
              <a:endParaRPr lang="en-US" sz="1400" dirty="0"/>
            </a:p>
          </p:txBody>
        </p:sp>
        <p:sp>
          <p:nvSpPr>
            <p:cNvPr id="5176" name="Text 17">
              <a:extLst>
                <a:ext uri="{FF2B5EF4-FFF2-40B4-BE49-F238E27FC236}">
                  <a16:creationId xmlns:a16="http://schemas.microsoft.com/office/drawing/2014/main" id="{E995897A-746C-4B6B-0489-80D742FE5053}"/>
                </a:ext>
              </a:extLst>
            </p:cNvPr>
            <p:cNvSpPr/>
            <p:nvPr/>
          </p:nvSpPr>
          <p:spPr>
            <a:xfrm>
              <a:off x="9538636" y="4665218"/>
              <a:ext cx="1645920" cy="457200"/>
            </a:xfrm>
            <a:prstGeom prst="rect">
              <a:avLst/>
            </a:prstGeom>
            <a:noFill/>
            <a:ln/>
          </p:spPr>
          <p:txBody>
            <a:bodyPr wrap="square" lIns="0" tIns="0" rIns="0" bIns="0" rtlCol="0" anchor="ctr"/>
            <a:lstStyle/>
            <a:p>
              <a:pPr marL="0" indent="0" algn="ctr">
                <a:buNone/>
              </a:pPr>
              <a:r>
                <a:rPr lang="en-US" sz="2300" b="1" dirty="0">
                  <a:solidFill>
                    <a:srgbClr val="14213D"/>
                  </a:solidFill>
                </a:rPr>
                <a:t>RMSE</a:t>
              </a:r>
              <a:endParaRPr lang="en-US" sz="2300" dirty="0"/>
            </a:p>
          </p:txBody>
        </p:sp>
        <p:sp>
          <p:nvSpPr>
            <p:cNvPr id="5177" name="Text 18">
              <a:extLst>
                <a:ext uri="{FF2B5EF4-FFF2-40B4-BE49-F238E27FC236}">
                  <a16:creationId xmlns:a16="http://schemas.microsoft.com/office/drawing/2014/main" id="{D806E128-9F18-3773-DF11-5853B2CCB12B}"/>
                </a:ext>
              </a:extLst>
            </p:cNvPr>
            <p:cNvSpPr/>
            <p:nvPr/>
          </p:nvSpPr>
          <p:spPr>
            <a:xfrm>
              <a:off x="9538636" y="5195570"/>
              <a:ext cx="1645920" cy="256032"/>
            </a:xfrm>
            <a:prstGeom prst="rect">
              <a:avLst/>
            </a:prstGeom>
            <a:noFill/>
            <a:ln/>
          </p:spPr>
          <p:txBody>
            <a:bodyPr wrap="square" lIns="0" tIns="0" rIns="0" bIns="0" rtlCol="0" anchor="ctr"/>
            <a:lstStyle/>
            <a:p>
              <a:pPr marL="0" indent="0" algn="ctr">
                <a:buNone/>
              </a:pPr>
              <a:r>
                <a:rPr lang="en-US" sz="1300" dirty="0">
                  <a:solidFill>
                    <a:srgbClr val="516070"/>
                  </a:solidFill>
                </a:rPr>
                <a:t>lower is better</a:t>
              </a:r>
              <a:endParaRPr lang="en-US" sz="1300" dirty="0"/>
            </a:p>
          </p:txBody>
        </p:sp>
      </p:grpSp>
      <p:grpSp>
        <p:nvGrpSpPr>
          <p:cNvPr id="7234" name="组合 7233">
            <a:extLst>
              <a:ext uri="{FF2B5EF4-FFF2-40B4-BE49-F238E27FC236}">
                <a16:creationId xmlns:a16="http://schemas.microsoft.com/office/drawing/2014/main" id="{4FEB2C57-80C7-D28E-8018-44EE07EF53F2}"/>
              </a:ext>
            </a:extLst>
          </p:cNvPr>
          <p:cNvGrpSpPr/>
          <p:nvPr/>
        </p:nvGrpSpPr>
        <p:grpSpPr>
          <a:xfrm>
            <a:off x="8968477" y="5181559"/>
            <a:ext cx="1645920" cy="1097280"/>
            <a:chOff x="8908256" y="5098694"/>
            <a:chExt cx="1645920" cy="1097280"/>
          </a:xfrm>
        </p:grpSpPr>
        <p:sp>
          <p:nvSpPr>
            <p:cNvPr id="5178" name="Text 19">
              <a:extLst>
                <a:ext uri="{FF2B5EF4-FFF2-40B4-BE49-F238E27FC236}">
                  <a16:creationId xmlns:a16="http://schemas.microsoft.com/office/drawing/2014/main" id="{4FBE5EC5-B57A-4F22-876B-FE32A584BA7C}"/>
                </a:ext>
              </a:extLst>
            </p:cNvPr>
            <p:cNvSpPr/>
            <p:nvPr/>
          </p:nvSpPr>
          <p:spPr>
            <a:xfrm>
              <a:off x="8908256" y="5098694"/>
              <a:ext cx="1645920" cy="219456"/>
            </a:xfrm>
            <a:prstGeom prst="rect">
              <a:avLst/>
            </a:prstGeom>
            <a:noFill/>
            <a:ln/>
          </p:spPr>
          <p:txBody>
            <a:bodyPr wrap="square" lIns="0" tIns="0" rIns="0" bIns="0" rtlCol="0" anchor="ctr"/>
            <a:lstStyle/>
            <a:p>
              <a:pPr marL="0" indent="0" algn="ctr">
                <a:buNone/>
              </a:pPr>
              <a:r>
                <a:rPr lang="en-US" sz="1400" b="1" dirty="0">
                  <a:solidFill>
                    <a:srgbClr val="D97706"/>
                  </a:solidFill>
                </a:rPr>
                <a:t>Metric</a:t>
              </a:r>
              <a:endParaRPr lang="en-US" sz="1400" dirty="0"/>
            </a:p>
          </p:txBody>
        </p:sp>
        <p:sp>
          <p:nvSpPr>
            <p:cNvPr id="5179" name="Text 20">
              <a:extLst>
                <a:ext uri="{FF2B5EF4-FFF2-40B4-BE49-F238E27FC236}">
                  <a16:creationId xmlns:a16="http://schemas.microsoft.com/office/drawing/2014/main" id="{32CFC7BC-D7A6-D5DC-3D12-79DE2843710E}"/>
                </a:ext>
              </a:extLst>
            </p:cNvPr>
            <p:cNvSpPr/>
            <p:nvPr/>
          </p:nvSpPr>
          <p:spPr>
            <a:xfrm>
              <a:off x="8908256" y="5409590"/>
              <a:ext cx="1645920" cy="457200"/>
            </a:xfrm>
            <a:prstGeom prst="rect">
              <a:avLst/>
            </a:prstGeom>
            <a:noFill/>
            <a:ln/>
          </p:spPr>
          <p:txBody>
            <a:bodyPr wrap="square" lIns="0" tIns="0" rIns="0" bIns="0" rtlCol="0" anchor="ctr"/>
            <a:lstStyle/>
            <a:p>
              <a:pPr marL="0" indent="0" algn="ctr">
                <a:buNone/>
              </a:pPr>
              <a:r>
                <a:rPr lang="en-US" sz="2300" b="1" dirty="0">
                  <a:solidFill>
                    <a:srgbClr val="14213D"/>
                  </a:solidFill>
                </a:rPr>
                <a:t>MAE</a:t>
              </a:r>
              <a:endParaRPr lang="en-US" sz="2300" dirty="0"/>
            </a:p>
          </p:txBody>
        </p:sp>
        <p:sp>
          <p:nvSpPr>
            <p:cNvPr id="5180" name="Text 21">
              <a:extLst>
                <a:ext uri="{FF2B5EF4-FFF2-40B4-BE49-F238E27FC236}">
                  <a16:creationId xmlns:a16="http://schemas.microsoft.com/office/drawing/2014/main" id="{DF6CBAC7-CB27-BCBB-5353-F8DD25E4C0B6}"/>
                </a:ext>
              </a:extLst>
            </p:cNvPr>
            <p:cNvSpPr/>
            <p:nvPr/>
          </p:nvSpPr>
          <p:spPr>
            <a:xfrm>
              <a:off x="8908256" y="5939942"/>
              <a:ext cx="1645920" cy="256032"/>
            </a:xfrm>
            <a:prstGeom prst="rect">
              <a:avLst/>
            </a:prstGeom>
            <a:noFill/>
            <a:ln/>
          </p:spPr>
          <p:txBody>
            <a:bodyPr wrap="square" lIns="0" tIns="0" rIns="0" bIns="0" rtlCol="0" anchor="ctr"/>
            <a:lstStyle/>
            <a:p>
              <a:pPr marL="0" indent="0" algn="ctr">
                <a:buNone/>
              </a:pPr>
              <a:r>
                <a:rPr lang="en-US" sz="1300" dirty="0">
                  <a:solidFill>
                    <a:srgbClr val="516070"/>
                  </a:solidFill>
                </a:rPr>
                <a:t>robust error</a:t>
              </a:r>
              <a:endParaRPr lang="en-US" sz="1300" dirty="0"/>
            </a:p>
          </p:txBody>
        </p:sp>
      </p:grpSp>
      <p:grpSp>
        <p:nvGrpSpPr>
          <p:cNvPr id="7235" name="组合 7234">
            <a:extLst>
              <a:ext uri="{FF2B5EF4-FFF2-40B4-BE49-F238E27FC236}">
                <a16:creationId xmlns:a16="http://schemas.microsoft.com/office/drawing/2014/main" id="{98F66EDE-9571-51D8-339E-18B5BD05530F}"/>
              </a:ext>
            </a:extLst>
          </p:cNvPr>
          <p:cNvGrpSpPr/>
          <p:nvPr/>
        </p:nvGrpSpPr>
        <p:grpSpPr>
          <a:xfrm>
            <a:off x="10126039" y="5175318"/>
            <a:ext cx="1645920" cy="1097280"/>
            <a:chOff x="9970568" y="5096094"/>
            <a:chExt cx="1645920" cy="1097280"/>
          </a:xfrm>
        </p:grpSpPr>
        <p:sp>
          <p:nvSpPr>
            <p:cNvPr id="5181" name="Text 22">
              <a:extLst>
                <a:ext uri="{FF2B5EF4-FFF2-40B4-BE49-F238E27FC236}">
                  <a16:creationId xmlns:a16="http://schemas.microsoft.com/office/drawing/2014/main" id="{27FB113D-BBA9-A926-C4D0-C365EBA70451}"/>
                </a:ext>
              </a:extLst>
            </p:cNvPr>
            <p:cNvSpPr/>
            <p:nvPr/>
          </p:nvSpPr>
          <p:spPr>
            <a:xfrm>
              <a:off x="9970568" y="5096094"/>
              <a:ext cx="1645920" cy="219456"/>
            </a:xfrm>
            <a:prstGeom prst="rect">
              <a:avLst/>
            </a:prstGeom>
            <a:noFill/>
            <a:ln/>
          </p:spPr>
          <p:txBody>
            <a:bodyPr wrap="square" lIns="0" tIns="0" rIns="0" bIns="0" rtlCol="0" anchor="ctr"/>
            <a:lstStyle/>
            <a:p>
              <a:pPr marL="0" indent="0" algn="ctr">
                <a:buNone/>
              </a:pPr>
              <a:r>
                <a:rPr lang="en-US" sz="1400" b="1" dirty="0">
                  <a:solidFill>
                    <a:srgbClr val="7C3AED"/>
                  </a:solidFill>
                </a:rPr>
                <a:t>Metric</a:t>
              </a:r>
              <a:endParaRPr lang="en-US" sz="1400" dirty="0"/>
            </a:p>
          </p:txBody>
        </p:sp>
        <p:sp>
          <p:nvSpPr>
            <p:cNvPr id="5182" name="Text 23">
              <a:extLst>
                <a:ext uri="{FF2B5EF4-FFF2-40B4-BE49-F238E27FC236}">
                  <a16:creationId xmlns:a16="http://schemas.microsoft.com/office/drawing/2014/main" id="{79F75FED-C219-7A78-2446-F2332A5F4DA7}"/>
                </a:ext>
              </a:extLst>
            </p:cNvPr>
            <p:cNvSpPr/>
            <p:nvPr/>
          </p:nvSpPr>
          <p:spPr>
            <a:xfrm>
              <a:off x="9970568" y="5406990"/>
              <a:ext cx="1645920" cy="457200"/>
            </a:xfrm>
            <a:prstGeom prst="rect">
              <a:avLst/>
            </a:prstGeom>
            <a:noFill/>
            <a:ln/>
          </p:spPr>
          <p:txBody>
            <a:bodyPr wrap="square" lIns="0" tIns="0" rIns="0" bIns="0" rtlCol="0" anchor="ctr"/>
            <a:lstStyle/>
            <a:p>
              <a:pPr marL="0" indent="0" algn="ctr">
                <a:buNone/>
              </a:pPr>
              <a:r>
                <a:rPr lang="en-US" sz="2300" b="1" dirty="0">
                  <a:solidFill>
                    <a:srgbClr val="14213D"/>
                  </a:solidFill>
                </a:rPr>
                <a:t>R²</a:t>
              </a:r>
              <a:endParaRPr lang="en-US" sz="2300" dirty="0"/>
            </a:p>
          </p:txBody>
        </p:sp>
        <p:sp>
          <p:nvSpPr>
            <p:cNvPr id="5183" name="Text 24">
              <a:extLst>
                <a:ext uri="{FF2B5EF4-FFF2-40B4-BE49-F238E27FC236}">
                  <a16:creationId xmlns:a16="http://schemas.microsoft.com/office/drawing/2014/main" id="{2D6E4C7E-021B-48FA-AB3E-9B6A6B2EF56D}"/>
                </a:ext>
              </a:extLst>
            </p:cNvPr>
            <p:cNvSpPr/>
            <p:nvPr/>
          </p:nvSpPr>
          <p:spPr>
            <a:xfrm>
              <a:off x="9970568" y="5937342"/>
              <a:ext cx="1645920" cy="256032"/>
            </a:xfrm>
            <a:prstGeom prst="rect">
              <a:avLst/>
            </a:prstGeom>
            <a:noFill/>
            <a:ln/>
          </p:spPr>
          <p:txBody>
            <a:bodyPr wrap="square" lIns="0" tIns="0" rIns="0" bIns="0" rtlCol="0" anchor="ctr"/>
            <a:lstStyle/>
            <a:p>
              <a:pPr marL="0" indent="0" algn="ctr">
                <a:buNone/>
              </a:pPr>
              <a:r>
                <a:rPr lang="en-US" sz="1300" dirty="0">
                  <a:solidFill>
                    <a:srgbClr val="516070"/>
                  </a:solidFill>
                </a:rPr>
                <a:t>higher is better</a:t>
              </a:r>
              <a:endParaRPr lang="en-US" sz="1300" dirty="0"/>
            </a:p>
          </p:txBody>
        </p:sp>
      </p:grpSp>
      <p:pic>
        <p:nvPicPr>
          <p:cNvPr id="7236" name="图片 7235">
            <a:extLst>
              <a:ext uri="{FF2B5EF4-FFF2-40B4-BE49-F238E27FC236}">
                <a16:creationId xmlns:a16="http://schemas.microsoft.com/office/drawing/2014/main" id="{BBC999CE-EDA7-28CF-6B98-F1D5AFE716AE}"/>
              </a:ext>
            </a:extLst>
          </p:cNvPr>
          <p:cNvPicPr>
            <a:picLocks noChangeAspect="1"/>
          </p:cNvPicPr>
          <p:nvPr/>
        </p:nvPicPr>
        <p:blipFill>
          <a:blip r:embed="rId4"/>
          <a:stretch>
            <a:fillRect/>
          </a:stretch>
        </p:blipFill>
        <p:spPr>
          <a:xfrm>
            <a:off x="7901533" y="3850666"/>
            <a:ext cx="1889904" cy="1349931"/>
          </a:xfrm>
          <a:prstGeom prst="rect">
            <a:avLst/>
          </a:prstGeom>
        </p:spPr>
      </p:pic>
      <p:sp>
        <p:nvSpPr>
          <p:cNvPr id="7237" name="箭头: 右 7236">
            <a:extLst>
              <a:ext uri="{FF2B5EF4-FFF2-40B4-BE49-F238E27FC236}">
                <a16:creationId xmlns:a16="http://schemas.microsoft.com/office/drawing/2014/main" id="{A63FBF8B-456A-E39C-6C3B-7879B2BB25DA}"/>
              </a:ext>
            </a:extLst>
          </p:cNvPr>
          <p:cNvSpPr/>
          <p:nvPr/>
        </p:nvSpPr>
        <p:spPr>
          <a:xfrm rot="5400000">
            <a:off x="10127925" y="3702679"/>
            <a:ext cx="529474" cy="358543"/>
          </a:xfrm>
          <a:prstGeom prst="rightArrow">
            <a:avLst>
              <a:gd name="adj1" fmla="val 66406"/>
              <a:gd name="adj2" fmla="val 50000"/>
            </a:avLst>
          </a:prstGeom>
          <a:solidFill>
            <a:srgbClr val="B0BCDF"/>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38" name="矩形: 圆角 7237">
            <a:extLst>
              <a:ext uri="{FF2B5EF4-FFF2-40B4-BE49-F238E27FC236}">
                <a16:creationId xmlns:a16="http://schemas.microsoft.com/office/drawing/2014/main" id="{CB58635C-708C-50F8-00E8-9C657E188E75}"/>
              </a:ext>
            </a:extLst>
          </p:cNvPr>
          <p:cNvSpPr/>
          <p:nvPr/>
        </p:nvSpPr>
        <p:spPr>
          <a:xfrm>
            <a:off x="9464898" y="4282278"/>
            <a:ext cx="1855528" cy="509848"/>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Predicate DFT result </a:t>
            </a:r>
            <a:endParaRPr lang="zh-CN" altLang="en-US" sz="1400" dirty="0">
              <a:solidFill>
                <a:schemeClr val="tx1"/>
              </a:solidFill>
            </a:endParaRPr>
          </a:p>
        </p:txBody>
      </p:sp>
      <p:sp>
        <p:nvSpPr>
          <p:cNvPr id="7239" name="箭头: 右 7238">
            <a:extLst>
              <a:ext uri="{FF2B5EF4-FFF2-40B4-BE49-F238E27FC236}">
                <a16:creationId xmlns:a16="http://schemas.microsoft.com/office/drawing/2014/main" id="{17DBBBFE-95C4-46D3-AC44-C78EA044924C}"/>
              </a:ext>
            </a:extLst>
          </p:cNvPr>
          <p:cNvSpPr/>
          <p:nvPr/>
        </p:nvSpPr>
        <p:spPr>
          <a:xfrm rot="10800000">
            <a:off x="7453266" y="4357930"/>
            <a:ext cx="529474" cy="358543"/>
          </a:xfrm>
          <a:prstGeom prst="rightArrow">
            <a:avLst>
              <a:gd name="adj1" fmla="val 66406"/>
              <a:gd name="adj2" fmla="val 50000"/>
            </a:avLst>
          </a:prstGeom>
          <a:solidFill>
            <a:srgbClr val="B0BCDF"/>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40" name="矩形: 圆角 7239">
            <a:extLst>
              <a:ext uri="{FF2B5EF4-FFF2-40B4-BE49-F238E27FC236}">
                <a16:creationId xmlns:a16="http://schemas.microsoft.com/office/drawing/2014/main" id="{DD82FC53-1720-3D1B-203E-01A9303E50CF}"/>
              </a:ext>
            </a:extLst>
          </p:cNvPr>
          <p:cNvSpPr/>
          <p:nvPr/>
        </p:nvSpPr>
        <p:spPr>
          <a:xfrm>
            <a:off x="5628214" y="4269541"/>
            <a:ext cx="1706738" cy="562002"/>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Find candidate materials</a:t>
            </a:r>
            <a:endParaRPr lang="zh-CN" altLang="en-US" sz="1400" dirty="0">
              <a:solidFill>
                <a:schemeClr val="tx1"/>
              </a:solidFill>
            </a:endParaRPr>
          </a:p>
        </p:txBody>
      </p:sp>
    </p:spTree>
    <p:extLst>
      <p:ext uri="{BB962C8B-B14F-4D97-AF65-F5344CB8AC3E}">
        <p14:creationId xmlns:p14="http://schemas.microsoft.com/office/powerpoint/2010/main" val="1203496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EF3F73D-C2A8-CDCC-E4DB-3D8E70C9AF46}"/>
              </a:ext>
            </a:extLst>
          </p:cNvPr>
          <p:cNvSpPr>
            <a:spLocks noGrp="1"/>
          </p:cNvSpPr>
          <p:nvPr>
            <p:ph type="sldNum" sz="quarter" idx="12"/>
          </p:nvPr>
        </p:nvSpPr>
        <p:spPr/>
        <p:txBody>
          <a:bodyPr/>
          <a:lstStyle/>
          <a:p>
            <a:r>
              <a:rPr sz="1200">
                <a:latin typeface="Arial"/>
              </a:rPr>
              <a:t>5</a:t>
            </a:r>
          </a:p>
        </p:txBody>
      </p:sp>
      <p:grpSp>
        <p:nvGrpSpPr>
          <p:cNvPr id="10" name="组合 9">
            <a:extLst>
              <a:ext uri="{FF2B5EF4-FFF2-40B4-BE49-F238E27FC236}">
                <a16:creationId xmlns:a16="http://schemas.microsoft.com/office/drawing/2014/main" id="{0F73AFE1-C19A-0F43-7402-9D300EEEE185}"/>
              </a:ext>
            </a:extLst>
          </p:cNvPr>
          <p:cNvGrpSpPr/>
          <p:nvPr/>
        </p:nvGrpSpPr>
        <p:grpSpPr>
          <a:xfrm>
            <a:off x="1099152" y="2214373"/>
            <a:ext cx="3316918" cy="4050180"/>
            <a:chOff x="5014913" y="1911349"/>
            <a:chExt cx="2776537" cy="3390338"/>
          </a:xfrm>
        </p:grpSpPr>
        <p:sp>
          <p:nvSpPr>
            <p:cNvPr id="4" name="梯形 3">
              <a:extLst>
                <a:ext uri="{FF2B5EF4-FFF2-40B4-BE49-F238E27FC236}">
                  <a16:creationId xmlns:a16="http://schemas.microsoft.com/office/drawing/2014/main" id="{29A2C667-0FE7-34BE-72A6-15D0B33425D1}"/>
                </a:ext>
              </a:extLst>
            </p:cNvPr>
            <p:cNvSpPr/>
            <p:nvPr/>
          </p:nvSpPr>
          <p:spPr>
            <a:xfrm flipV="1">
              <a:off x="5014913" y="1911349"/>
              <a:ext cx="2776537" cy="504000"/>
            </a:xfrm>
            <a:prstGeom prst="trapezoid">
              <a:avLst>
                <a:gd name="adj" fmla="val 39879"/>
              </a:avLst>
            </a:prstGeom>
            <a:solidFill>
              <a:srgbClr val="F7AB8C"/>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梯形 4">
              <a:extLst>
                <a:ext uri="{FF2B5EF4-FFF2-40B4-BE49-F238E27FC236}">
                  <a16:creationId xmlns:a16="http://schemas.microsoft.com/office/drawing/2014/main" id="{D3BAF84B-FE9B-C1EE-2B8F-95637414A80E}"/>
                </a:ext>
              </a:extLst>
            </p:cNvPr>
            <p:cNvSpPr/>
            <p:nvPr/>
          </p:nvSpPr>
          <p:spPr>
            <a:xfrm flipV="1">
              <a:off x="5217320" y="2415347"/>
              <a:ext cx="2375296" cy="504000"/>
            </a:xfrm>
            <a:prstGeom prst="trapezoid">
              <a:avLst>
                <a:gd name="adj" fmla="val 39879"/>
              </a:avLst>
            </a:prstGeom>
            <a:solidFill>
              <a:srgbClr val="D0D0D0"/>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梯形 5">
              <a:extLst>
                <a:ext uri="{FF2B5EF4-FFF2-40B4-BE49-F238E27FC236}">
                  <a16:creationId xmlns:a16="http://schemas.microsoft.com/office/drawing/2014/main" id="{8D2B6B4C-4D8E-0C27-24CB-DF1F5A93697F}"/>
                </a:ext>
              </a:extLst>
            </p:cNvPr>
            <p:cNvSpPr/>
            <p:nvPr/>
          </p:nvSpPr>
          <p:spPr>
            <a:xfrm flipV="1">
              <a:off x="5424488" y="2919347"/>
              <a:ext cx="1964531" cy="504000"/>
            </a:xfrm>
            <a:prstGeom prst="trapezoid">
              <a:avLst>
                <a:gd name="adj" fmla="val 39879"/>
              </a:avLst>
            </a:prstGeom>
            <a:solidFill>
              <a:srgbClr val="FFD99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a:extLst>
                <a:ext uri="{FF2B5EF4-FFF2-40B4-BE49-F238E27FC236}">
                  <a16:creationId xmlns:a16="http://schemas.microsoft.com/office/drawing/2014/main" id="{318F36FF-A269-E09A-44AD-E75440E47FCA}"/>
                </a:ext>
              </a:extLst>
            </p:cNvPr>
            <p:cNvSpPr/>
            <p:nvPr/>
          </p:nvSpPr>
          <p:spPr>
            <a:xfrm flipV="1">
              <a:off x="5634433" y="3434654"/>
              <a:ext cx="1549797" cy="504000"/>
            </a:xfrm>
            <a:prstGeom prst="trapezoid">
              <a:avLst>
                <a:gd name="adj" fmla="val 39879"/>
              </a:avLst>
            </a:prstGeom>
            <a:solidFill>
              <a:srgbClr val="A5C1E5"/>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a:extLst>
                <a:ext uri="{FF2B5EF4-FFF2-40B4-BE49-F238E27FC236}">
                  <a16:creationId xmlns:a16="http://schemas.microsoft.com/office/drawing/2014/main" id="{65F4CC04-148A-2F73-3734-ED03AC98176F}"/>
                </a:ext>
              </a:extLst>
            </p:cNvPr>
            <p:cNvSpPr/>
            <p:nvPr/>
          </p:nvSpPr>
          <p:spPr>
            <a:xfrm flipV="1">
              <a:off x="5837433" y="3940437"/>
              <a:ext cx="1139034" cy="504000"/>
            </a:xfrm>
            <a:prstGeom prst="trapezoid">
              <a:avLst>
                <a:gd name="adj" fmla="val 39879"/>
              </a:avLst>
            </a:prstGeom>
            <a:solidFill>
              <a:srgbClr val="AED29F"/>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a:extLst>
                <a:ext uri="{FF2B5EF4-FFF2-40B4-BE49-F238E27FC236}">
                  <a16:creationId xmlns:a16="http://schemas.microsoft.com/office/drawing/2014/main" id="{7892AA58-3BC0-D1EB-E7BF-37A5464E0A74}"/>
                </a:ext>
              </a:extLst>
            </p:cNvPr>
            <p:cNvSpPr/>
            <p:nvPr/>
          </p:nvSpPr>
          <p:spPr>
            <a:xfrm flipV="1">
              <a:off x="6048375" y="4444437"/>
              <a:ext cx="723900" cy="857250"/>
            </a:xfrm>
            <a:prstGeom prst="triangle">
              <a:avLst/>
            </a:prstGeom>
            <a:solidFill>
              <a:srgbClr val="FFCDCD"/>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8B1AA6D9-7B3C-1A0A-4488-F3F166085F1E}"/>
              </a:ext>
            </a:extLst>
          </p:cNvPr>
          <p:cNvSpPr txBox="1"/>
          <p:nvPr/>
        </p:nvSpPr>
        <p:spPr>
          <a:xfrm>
            <a:off x="2165769" y="2303461"/>
            <a:ext cx="1233635" cy="430887"/>
          </a:xfrm>
          <a:prstGeom prst="rect">
            <a:avLst/>
          </a:prstGeom>
          <a:noFill/>
        </p:spPr>
        <p:txBody>
          <a:bodyPr wrap="square" rtlCol="0">
            <a:spAutoFit/>
          </a:bodyPr>
          <a:lstStyle/>
          <a:p>
            <a:pPr algn="ctr"/>
            <a:r>
              <a:rPr lang="en-US" altLang="zh-CN" sz="2200" dirty="0"/>
              <a:t>5 million</a:t>
            </a:r>
            <a:endParaRPr lang="zh-CN" altLang="en-US" sz="2200" dirty="0"/>
          </a:p>
        </p:txBody>
      </p:sp>
      <p:sp>
        <p:nvSpPr>
          <p:cNvPr id="12" name="文本框 11">
            <a:extLst>
              <a:ext uri="{FF2B5EF4-FFF2-40B4-BE49-F238E27FC236}">
                <a16:creationId xmlns:a16="http://schemas.microsoft.com/office/drawing/2014/main" id="{C7C1B714-470F-70C1-6603-A7E9A9F2FC44}"/>
              </a:ext>
            </a:extLst>
          </p:cNvPr>
          <p:cNvSpPr txBox="1"/>
          <p:nvPr/>
        </p:nvSpPr>
        <p:spPr>
          <a:xfrm>
            <a:off x="2338118" y="2905552"/>
            <a:ext cx="888937" cy="430887"/>
          </a:xfrm>
          <a:prstGeom prst="rect">
            <a:avLst/>
          </a:prstGeom>
          <a:noFill/>
        </p:spPr>
        <p:txBody>
          <a:bodyPr wrap="square" rtlCol="0">
            <a:spAutoFit/>
          </a:bodyPr>
          <a:lstStyle/>
          <a:p>
            <a:pPr algn="ctr"/>
            <a:r>
              <a:rPr lang="en-US" altLang="zh-CN" sz="2200" dirty="0"/>
              <a:t>8,027</a:t>
            </a:r>
            <a:endParaRPr lang="zh-CN" altLang="en-US" sz="2200" dirty="0"/>
          </a:p>
        </p:txBody>
      </p:sp>
      <p:sp>
        <p:nvSpPr>
          <p:cNvPr id="13" name="文本框 12">
            <a:extLst>
              <a:ext uri="{FF2B5EF4-FFF2-40B4-BE49-F238E27FC236}">
                <a16:creationId xmlns:a16="http://schemas.microsoft.com/office/drawing/2014/main" id="{24A7B13D-25F2-9953-9457-346DCA549060}"/>
              </a:ext>
            </a:extLst>
          </p:cNvPr>
          <p:cNvSpPr txBox="1"/>
          <p:nvPr/>
        </p:nvSpPr>
        <p:spPr>
          <a:xfrm>
            <a:off x="2338118" y="3542857"/>
            <a:ext cx="888937" cy="430887"/>
          </a:xfrm>
          <a:prstGeom prst="rect">
            <a:avLst/>
          </a:prstGeom>
          <a:noFill/>
        </p:spPr>
        <p:txBody>
          <a:bodyPr wrap="square" rtlCol="0">
            <a:spAutoFit/>
          </a:bodyPr>
          <a:lstStyle/>
          <a:p>
            <a:pPr algn="ctr"/>
            <a:r>
              <a:rPr lang="en-US" altLang="zh-CN" sz="2200" dirty="0"/>
              <a:t>7,169</a:t>
            </a:r>
            <a:endParaRPr lang="zh-CN" altLang="en-US" sz="2200" dirty="0"/>
          </a:p>
        </p:txBody>
      </p:sp>
      <p:sp>
        <p:nvSpPr>
          <p:cNvPr id="14" name="文本框 11">
            <a:extLst>
              <a:ext uri="{FF2B5EF4-FFF2-40B4-BE49-F238E27FC236}">
                <a16:creationId xmlns:a16="http://schemas.microsoft.com/office/drawing/2014/main" id="{C7C1B714-470F-70C1-6603-A7E9A9F2FC44}"/>
              </a:ext>
            </a:extLst>
          </p:cNvPr>
          <p:cNvSpPr txBox="1"/>
          <p:nvPr/>
        </p:nvSpPr>
        <p:spPr>
          <a:xfrm>
            <a:off x="2451102" y="4099194"/>
            <a:ext cx="66296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dirty="0"/>
              <a:t>650</a:t>
            </a:r>
            <a:endParaRPr lang="zh-CN" altLang="en-US" sz="2200" dirty="0"/>
          </a:p>
        </p:txBody>
      </p:sp>
      <p:sp>
        <p:nvSpPr>
          <p:cNvPr id="15" name="文本框 11">
            <a:extLst>
              <a:ext uri="{FF2B5EF4-FFF2-40B4-BE49-F238E27FC236}">
                <a16:creationId xmlns:a16="http://schemas.microsoft.com/office/drawing/2014/main" id="{C7C1B714-470F-70C1-6603-A7E9A9F2FC44}"/>
              </a:ext>
            </a:extLst>
          </p:cNvPr>
          <p:cNvSpPr txBox="1"/>
          <p:nvPr/>
        </p:nvSpPr>
        <p:spPr>
          <a:xfrm>
            <a:off x="2451102" y="4730547"/>
            <a:ext cx="66296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dirty="0"/>
              <a:t>572</a:t>
            </a:r>
            <a:endParaRPr lang="zh-CN" altLang="en-US" sz="2200" dirty="0"/>
          </a:p>
        </p:txBody>
      </p:sp>
      <p:sp>
        <p:nvSpPr>
          <p:cNvPr id="16" name="文本框 11">
            <a:extLst>
              <a:ext uri="{FF2B5EF4-FFF2-40B4-BE49-F238E27FC236}">
                <a16:creationId xmlns:a16="http://schemas.microsoft.com/office/drawing/2014/main" id="{C7C1B714-470F-70C1-6603-A7E9A9F2FC44}"/>
              </a:ext>
            </a:extLst>
          </p:cNvPr>
          <p:cNvSpPr txBox="1"/>
          <p:nvPr/>
        </p:nvSpPr>
        <p:spPr>
          <a:xfrm>
            <a:off x="2451102" y="5332856"/>
            <a:ext cx="66296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dirty="0"/>
              <a:t>207</a:t>
            </a:r>
            <a:endParaRPr lang="zh-CN" altLang="en-US" sz="2200" dirty="0"/>
          </a:p>
        </p:txBody>
      </p:sp>
      <p:sp>
        <p:nvSpPr>
          <p:cNvPr id="17" name="矩形 16">
            <a:extLst>
              <a:ext uri="{FF2B5EF4-FFF2-40B4-BE49-F238E27FC236}">
                <a16:creationId xmlns:a16="http://schemas.microsoft.com/office/drawing/2014/main" id="{F1304A84-8C13-B688-4D94-7E0BD361048F}"/>
              </a:ext>
            </a:extLst>
          </p:cNvPr>
          <p:cNvSpPr/>
          <p:nvPr/>
        </p:nvSpPr>
        <p:spPr>
          <a:xfrm>
            <a:off x="5438423" y="2303461"/>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PubChem database</a:t>
            </a:r>
            <a:endParaRPr lang="zh-CN" altLang="en-US" sz="2000" dirty="0">
              <a:solidFill>
                <a:sysClr val="windowText" lastClr="000000"/>
              </a:solidFill>
            </a:endParaRPr>
          </a:p>
        </p:txBody>
      </p:sp>
      <p:cxnSp>
        <p:nvCxnSpPr>
          <p:cNvPr id="19" name="直接箭头连接符 18">
            <a:extLst>
              <a:ext uri="{FF2B5EF4-FFF2-40B4-BE49-F238E27FC236}">
                <a16:creationId xmlns:a16="http://schemas.microsoft.com/office/drawing/2014/main" id="{C8DE3D15-A81F-5AA4-07E7-D420328D384C}"/>
              </a:ext>
            </a:extLst>
          </p:cNvPr>
          <p:cNvCxnSpPr>
            <a:cxnSpLocks/>
          </p:cNvCxnSpPr>
          <p:nvPr/>
        </p:nvCxnSpPr>
        <p:spPr>
          <a:xfrm>
            <a:off x="4592282" y="2529892"/>
            <a:ext cx="551593"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1" name="矩形 20">
            <a:extLst>
              <a:ext uri="{FF2B5EF4-FFF2-40B4-BE49-F238E27FC236}">
                <a16:creationId xmlns:a16="http://schemas.microsoft.com/office/drawing/2014/main" id="{A7329A31-5C5C-8BA1-0B99-50A608853D26}"/>
              </a:ext>
            </a:extLst>
          </p:cNvPr>
          <p:cNvSpPr/>
          <p:nvPr/>
        </p:nvSpPr>
        <p:spPr>
          <a:xfrm>
            <a:off x="5438423" y="2905552"/>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Charge = -1 anions</a:t>
            </a:r>
            <a:endParaRPr lang="zh-CN" altLang="en-US" sz="2000" dirty="0">
              <a:solidFill>
                <a:sysClr val="windowText" lastClr="000000"/>
              </a:solidFill>
            </a:endParaRPr>
          </a:p>
        </p:txBody>
      </p:sp>
      <p:cxnSp>
        <p:nvCxnSpPr>
          <p:cNvPr id="22" name="直接箭头连接符 21">
            <a:extLst>
              <a:ext uri="{FF2B5EF4-FFF2-40B4-BE49-F238E27FC236}">
                <a16:creationId xmlns:a16="http://schemas.microsoft.com/office/drawing/2014/main" id="{BCFB413C-8EFF-D253-DBCB-B4A35AF6F797}"/>
              </a:ext>
            </a:extLst>
          </p:cNvPr>
          <p:cNvCxnSpPr>
            <a:cxnSpLocks/>
          </p:cNvCxnSpPr>
          <p:nvPr/>
        </p:nvCxnSpPr>
        <p:spPr>
          <a:xfrm>
            <a:off x="4353300" y="3131983"/>
            <a:ext cx="790575"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4" name="矩形 23">
            <a:extLst>
              <a:ext uri="{FF2B5EF4-FFF2-40B4-BE49-F238E27FC236}">
                <a16:creationId xmlns:a16="http://schemas.microsoft.com/office/drawing/2014/main" id="{B9EEEF2E-780C-7B9C-581A-24968285AA92}"/>
              </a:ext>
            </a:extLst>
          </p:cNvPr>
          <p:cNvSpPr/>
          <p:nvPr/>
        </p:nvSpPr>
        <p:spPr>
          <a:xfrm>
            <a:off x="5438422" y="3497103"/>
            <a:ext cx="4415565"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Exist as Li/Na/K salts</a:t>
            </a:r>
            <a:endParaRPr lang="zh-CN" altLang="en-US" sz="2000" dirty="0">
              <a:solidFill>
                <a:sysClr val="windowText" lastClr="000000"/>
              </a:solidFill>
            </a:endParaRPr>
          </a:p>
        </p:txBody>
      </p:sp>
      <p:cxnSp>
        <p:nvCxnSpPr>
          <p:cNvPr id="25" name="直接箭头连接符 24">
            <a:extLst>
              <a:ext uri="{FF2B5EF4-FFF2-40B4-BE49-F238E27FC236}">
                <a16:creationId xmlns:a16="http://schemas.microsoft.com/office/drawing/2014/main" id="{D35593FE-3318-3EDC-2504-C21EDB664D55}"/>
              </a:ext>
            </a:extLst>
          </p:cNvPr>
          <p:cNvCxnSpPr>
            <a:cxnSpLocks/>
          </p:cNvCxnSpPr>
          <p:nvPr/>
        </p:nvCxnSpPr>
        <p:spPr>
          <a:xfrm>
            <a:off x="4103269" y="3723534"/>
            <a:ext cx="1040606"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6" name="矩形 25">
            <a:extLst>
              <a:ext uri="{FF2B5EF4-FFF2-40B4-BE49-F238E27FC236}">
                <a16:creationId xmlns:a16="http://schemas.microsoft.com/office/drawing/2014/main" id="{7640FCDC-1ABB-B632-DD3B-3B253FE38D53}"/>
              </a:ext>
            </a:extLst>
          </p:cNvPr>
          <p:cNvSpPr/>
          <p:nvPr/>
        </p:nvSpPr>
        <p:spPr>
          <a:xfrm>
            <a:off x="5438423" y="4099194"/>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2&lt; non-hydrogen atoms &lt;5</a:t>
            </a:r>
            <a:endParaRPr lang="zh-CN" altLang="en-US" sz="2000" dirty="0">
              <a:solidFill>
                <a:sysClr val="windowText" lastClr="000000"/>
              </a:solidFill>
            </a:endParaRPr>
          </a:p>
        </p:txBody>
      </p:sp>
      <p:cxnSp>
        <p:nvCxnSpPr>
          <p:cNvPr id="27" name="直接箭头连接符 26">
            <a:extLst>
              <a:ext uri="{FF2B5EF4-FFF2-40B4-BE49-F238E27FC236}">
                <a16:creationId xmlns:a16="http://schemas.microsoft.com/office/drawing/2014/main" id="{12442389-E0D2-7FE1-8F02-046D7225A7F3}"/>
              </a:ext>
            </a:extLst>
          </p:cNvPr>
          <p:cNvCxnSpPr>
            <a:cxnSpLocks/>
          </p:cNvCxnSpPr>
          <p:nvPr/>
        </p:nvCxnSpPr>
        <p:spPr>
          <a:xfrm>
            <a:off x="3869906" y="4314637"/>
            <a:ext cx="1273969" cy="1098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2" name="矩形 31">
            <a:extLst>
              <a:ext uri="{FF2B5EF4-FFF2-40B4-BE49-F238E27FC236}">
                <a16:creationId xmlns:a16="http://schemas.microsoft.com/office/drawing/2014/main" id="{6C50554A-3E27-5300-6760-26553746F18E}"/>
              </a:ext>
            </a:extLst>
          </p:cNvPr>
          <p:cNvSpPr/>
          <p:nvPr/>
        </p:nvSpPr>
        <p:spPr>
          <a:xfrm>
            <a:off x="5438422" y="4776172"/>
            <a:ext cx="4415565"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Molecular weight &lt; 70</a:t>
            </a:r>
            <a:endParaRPr lang="zh-CN" altLang="en-US" sz="2000" dirty="0">
              <a:solidFill>
                <a:sysClr val="windowText" lastClr="000000"/>
              </a:solidFill>
            </a:endParaRPr>
          </a:p>
        </p:txBody>
      </p:sp>
      <p:cxnSp>
        <p:nvCxnSpPr>
          <p:cNvPr id="33" name="直接箭头连接符 32">
            <a:extLst>
              <a:ext uri="{FF2B5EF4-FFF2-40B4-BE49-F238E27FC236}">
                <a16:creationId xmlns:a16="http://schemas.microsoft.com/office/drawing/2014/main" id="{E2D232E3-6261-F72C-B7FF-E231814F6331}"/>
              </a:ext>
            </a:extLst>
          </p:cNvPr>
          <p:cNvCxnSpPr>
            <a:cxnSpLocks/>
          </p:cNvCxnSpPr>
          <p:nvPr/>
        </p:nvCxnSpPr>
        <p:spPr>
          <a:xfrm>
            <a:off x="3586538" y="5002603"/>
            <a:ext cx="1557337"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4" name="矩形 33">
            <a:extLst>
              <a:ext uri="{FF2B5EF4-FFF2-40B4-BE49-F238E27FC236}">
                <a16:creationId xmlns:a16="http://schemas.microsoft.com/office/drawing/2014/main" id="{960E557E-79DD-C9D0-ECF5-5CF41C00E474}"/>
              </a:ext>
            </a:extLst>
          </p:cNvPr>
          <p:cNvSpPr/>
          <p:nvPr/>
        </p:nvSpPr>
        <p:spPr>
          <a:xfrm>
            <a:off x="5438423" y="5406841"/>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Hydrogen Bond Acceptor Count </a:t>
            </a:r>
            <a:r>
              <a:rPr lang="zh-CN" altLang="en-US" sz="2000" dirty="0">
                <a:solidFill>
                  <a:sysClr val="windowText" lastClr="000000"/>
                </a:solidFill>
              </a:rPr>
              <a:t>≠ </a:t>
            </a:r>
            <a:r>
              <a:rPr lang="en-US" altLang="zh-CN" sz="2000" dirty="0">
                <a:solidFill>
                  <a:sysClr val="windowText" lastClr="000000"/>
                </a:solidFill>
              </a:rPr>
              <a:t>0</a:t>
            </a:r>
            <a:endParaRPr lang="zh-CN" altLang="en-US" sz="2000" dirty="0">
              <a:solidFill>
                <a:sysClr val="windowText" lastClr="000000"/>
              </a:solidFill>
            </a:endParaRPr>
          </a:p>
        </p:txBody>
      </p:sp>
      <p:cxnSp>
        <p:nvCxnSpPr>
          <p:cNvPr id="35" name="直接箭头连接符 34">
            <a:extLst>
              <a:ext uri="{FF2B5EF4-FFF2-40B4-BE49-F238E27FC236}">
                <a16:creationId xmlns:a16="http://schemas.microsoft.com/office/drawing/2014/main" id="{81B697D6-D33C-4E89-F5A7-AD42895318F8}"/>
              </a:ext>
            </a:extLst>
          </p:cNvPr>
          <p:cNvCxnSpPr>
            <a:cxnSpLocks/>
          </p:cNvCxnSpPr>
          <p:nvPr/>
        </p:nvCxnSpPr>
        <p:spPr>
          <a:xfrm>
            <a:off x="3322219" y="5633272"/>
            <a:ext cx="1821656"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47" name="文本框 46">
            <a:extLst>
              <a:ext uri="{FF2B5EF4-FFF2-40B4-BE49-F238E27FC236}">
                <a16:creationId xmlns:a16="http://schemas.microsoft.com/office/drawing/2014/main" id="{D6BC03BF-A06D-649D-241F-EC22D6D170E2}"/>
              </a:ext>
            </a:extLst>
          </p:cNvPr>
          <p:cNvSpPr txBox="1"/>
          <p:nvPr/>
        </p:nvSpPr>
        <p:spPr>
          <a:xfrm>
            <a:off x="6768399" y="1688038"/>
            <a:ext cx="1755609" cy="369332"/>
          </a:xfrm>
          <a:prstGeom prst="rect">
            <a:avLst/>
          </a:prstGeom>
          <a:noFill/>
        </p:spPr>
        <p:txBody>
          <a:bodyPr wrap="none" rtlCol="0">
            <a:spAutoFit/>
          </a:bodyPr>
          <a:lstStyle/>
          <a:p>
            <a:r>
              <a:rPr lang="en-US" altLang="zh-CN" b="1" dirty="0"/>
              <a:t>Screening tiers</a:t>
            </a:r>
            <a:endParaRPr lang="zh-CN" altLang="en-US" b="1" dirty="0"/>
          </a:p>
        </p:txBody>
      </p:sp>
      <p:sp>
        <p:nvSpPr>
          <p:cNvPr id="48" name="文本框 47">
            <a:extLst>
              <a:ext uri="{FF2B5EF4-FFF2-40B4-BE49-F238E27FC236}">
                <a16:creationId xmlns:a16="http://schemas.microsoft.com/office/drawing/2014/main" id="{8BBAF6CC-C267-F0C9-F278-9616FFD42C93}"/>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Data screening</a:t>
            </a:r>
          </a:p>
        </p:txBody>
      </p:sp>
      <p:cxnSp>
        <p:nvCxnSpPr>
          <p:cNvPr id="49" name="直接连接符 48">
            <a:extLst>
              <a:ext uri="{FF2B5EF4-FFF2-40B4-BE49-F238E27FC236}">
                <a16:creationId xmlns:a16="http://schemas.microsoft.com/office/drawing/2014/main" id="{7E109FBC-0602-1522-2B53-02D524D2F519}"/>
              </a:ext>
            </a:extLst>
          </p:cNvPr>
          <p:cNvCxnSpPr>
            <a:cxnSpLocks/>
          </p:cNvCxnSpPr>
          <p:nvPr/>
        </p:nvCxnSpPr>
        <p:spPr>
          <a:xfrm>
            <a:off x="2684002" y="1458606"/>
            <a:ext cx="0" cy="704967"/>
          </a:xfrm>
          <a:prstGeom prst="line">
            <a:avLst/>
          </a:prstGeom>
          <a:ln w="38100">
            <a:solidFill>
              <a:srgbClr val="FFD991"/>
            </a:solidFill>
            <a:prstDash val="dash"/>
            <a:headEnd type="none"/>
            <a:tailEnd type="oval"/>
          </a:ln>
        </p:spPr>
        <p:style>
          <a:lnRef idx="2">
            <a:schemeClr val="accent1"/>
          </a:lnRef>
          <a:fillRef idx="0">
            <a:schemeClr val="accent1"/>
          </a:fillRef>
          <a:effectRef idx="1">
            <a:schemeClr val="accent1"/>
          </a:effectRef>
          <a:fontRef idx="minor">
            <a:schemeClr val="tx1"/>
          </a:fontRef>
        </p:style>
      </p:cxnSp>
      <p:cxnSp>
        <p:nvCxnSpPr>
          <p:cNvPr id="50" name="直接连接符 49">
            <a:extLst>
              <a:ext uri="{FF2B5EF4-FFF2-40B4-BE49-F238E27FC236}">
                <a16:creationId xmlns:a16="http://schemas.microsoft.com/office/drawing/2014/main" id="{0AD96E32-078E-FF20-8A22-6287FEA356E4}"/>
              </a:ext>
            </a:extLst>
          </p:cNvPr>
          <p:cNvCxnSpPr>
            <a:cxnSpLocks/>
          </p:cNvCxnSpPr>
          <p:nvPr/>
        </p:nvCxnSpPr>
        <p:spPr>
          <a:xfrm flipH="1">
            <a:off x="0" y="1377803"/>
            <a:ext cx="2684002" cy="0"/>
          </a:xfrm>
          <a:prstGeom prst="line">
            <a:avLst/>
          </a:prstGeom>
          <a:ln w="38100">
            <a:solidFill>
              <a:srgbClr val="FFD991"/>
            </a:solidFill>
            <a:prstDash val="dash"/>
          </a:ln>
        </p:spPr>
        <p:style>
          <a:lnRef idx="2">
            <a:schemeClr val="accent1"/>
          </a:lnRef>
          <a:fillRef idx="0">
            <a:schemeClr val="accent1"/>
          </a:fillRef>
          <a:effectRef idx="1">
            <a:schemeClr val="accent1"/>
          </a:effectRef>
          <a:fontRef idx="minor">
            <a:schemeClr val="tx1"/>
          </a:fontRef>
        </p:style>
      </p:cxnSp>
      <p:sp>
        <p:nvSpPr>
          <p:cNvPr id="56" name="矩形 55">
            <a:extLst>
              <a:ext uri="{FF2B5EF4-FFF2-40B4-BE49-F238E27FC236}">
                <a16:creationId xmlns:a16="http://schemas.microsoft.com/office/drawing/2014/main" id="{83E1EBFD-47A9-463E-CD66-04DDE91688C0}"/>
              </a:ext>
            </a:extLst>
          </p:cNvPr>
          <p:cNvSpPr/>
          <p:nvPr/>
        </p:nvSpPr>
        <p:spPr>
          <a:xfrm>
            <a:off x="10148535" y="2998405"/>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sz="1200">
                <a:latin typeface="Arial"/>
              </a:rPr>
              <a:t>5</a:t>
            </a:r>
          </a:p>
        </p:txBody>
      </p:sp>
      <p:sp>
        <p:nvSpPr>
          <p:cNvPr id="59" name="矩形 58">
            <a:extLst>
              <a:ext uri="{FF2B5EF4-FFF2-40B4-BE49-F238E27FC236}">
                <a16:creationId xmlns:a16="http://schemas.microsoft.com/office/drawing/2014/main" id="{09D7AA08-D62D-4A76-BE99-BB44F5CE5800}"/>
              </a:ext>
            </a:extLst>
          </p:cNvPr>
          <p:cNvSpPr/>
          <p:nvPr/>
        </p:nvSpPr>
        <p:spPr>
          <a:xfrm>
            <a:off x="10148534" y="3585130"/>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sz="1200">
                <a:latin typeface="Arial"/>
              </a:rPr>
              <a:t>5</a:t>
            </a:r>
          </a:p>
        </p:txBody>
      </p:sp>
      <p:sp>
        <p:nvSpPr>
          <p:cNvPr id="60" name="矩形 59">
            <a:extLst>
              <a:ext uri="{FF2B5EF4-FFF2-40B4-BE49-F238E27FC236}">
                <a16:creationId xmlns:a16="http://schemas.microsoft.com/office/drawing/2014/main" id="{BE5393DB-8C21-5ED6-8278-FB60B924B14A}"/>
              </a:ext>
            </a:extLst>
          </p:cNvPr>
          <p:cNvSpPr/>
          <p:nvPr/>
        </p:nvSpPr>
        <p:spPr>
          <a:xfrm>
            <a:off x="10148533" y="4192047"/>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sz="1200">
                <a:latin typeface="Arial"/>
              </a:rPr>
              <a:t>5</a:t>
            </a:r>
          </a:p>
        </p:txBody>
      </p:sp>
      <p:sp>
        <p:nvSpPr>
          <p:cNvPr id="61" name="矩形 60">
            <a:extLst>
              <a:ext uri="{FF2B5EF4-FFF2-40B4-BE49-F238E27FC236}">
                <a16:creationId xmlns:a16="http://schemas.microsoft.com/office/drawing/2014/main" id="{275EE152-B241-12C4-6079-C873E0E9BABA}"/>
              </a:ext>
            </a:extLst>
          </p:cNvPr>
          <p:cNvSpPr/>
          <p:nvPr/>
        </p:nvSpPr>
        <p:spPr>
          <a:xfrm>
            <a:off x="10148533" y="4869025"/>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sz="1200">
                <a:latin typeface="Arial"/>
              </a:rPr>
              <a:t>5</a:t>
            </a:r>
          </a:p>
        </p:txBody>
      </p:sp>
      <p:sp>
        <p:nvSpPr>
          <p:cNvPr id="62" name="矩形 61">
            <a:extLst>
              <a:ext uri="{FF2B5EF4-FFF2-40B4-BE49-F238E27FC236}">
                <a16:creationId xmlns:a16="http://schemas.microsoft.com/office/drawing/2014/main" id="{CC245FDF-61E4-BD3E-DEC0-5791DF64409C}"/>
              </a:ext>
            </a:extLst>
          </p:cNvPr>
          <p:cNvSpPr/>
          <p:nvPr/>
        </p:nvSpPr>
        <p:spPr>
          <a:xfrm>
            <a:off x="10148532" y="5478370"/>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sz="1200">
                <a:latin typeface="Arial"/>
              </a:rPr>
              <a:t>5</a:t>
            </a:r>
          </a:p>
        </p:txBody>
      </p:sp>
    </p:spTree>
    <p:extLst>
      <p:ext uri="{BB962C8B-B14F-4D97-AF65-F5344CB8AC3E}">
        <p14:creationId xmlns:p14="http://schemas.microsoft.com/office/powerpoint/2010/main" val="3908341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E2839-9F09-F7AD-3DB8-CD12FD903C8E}"/>
            </a:ext>
          </a:extLst>
        </p:cNvPr>
        <p:cNvGrpSpPr/>
        <p:nvPr/>
      </p:nvGrpSpPr>
      <p:grpSpPr>
        <a:xfrm>
          <a:off x="0" y="0"/>
          <a:ext cx="0" cy="0"/>
          <a:chOff x="0" y="0"/>
          <a:chExt cx="0" cy="0"/>
        </a:xfrm>
      </p:grpSpPr>
      <p:pic>
        <p:nvPicPr>
          <p:cNvPr id="16" name="图片 15">
            <a:extLst>
              <a:ext uri="{FF2B5EF4-FFF2-40B4-BE49-F238E27FC236}">
                <a16:creationId xmlns:a16="http://schemas.microsoft.com/office/drawing/2014/main" id="{86B3BE64-FD20-05A2-389B-852A402BEA8B}"/>
              </a:ext>
            </a:extLst>
          </p:cNvPr>
          <p:cNvPicPr>
            <a:picLocks noChangeAspect="1"/>
          </p:cNvPicPr>
          <p:nvPr/>
        </p:nvPicPr>
        <p:blipFill>
          <a:blip r:embed="rId3"/>
          <a:stretch>
            <a:fillRect/>
          </a:stretch>
        </p:blipFill>
        <p:spPr>
          <a:xfrm>
            <a:off x="5232990" y="1254778"/>
            <a:ext cx="4824564" cy="2456141"/>
          </a:xfrm>
          <a:prstGeom prst="rect">
            <a:avLst/>
          </a:prstGeom>
        </p:spPr>
      </p:pic>
      <p:pic>
        <p:nvPicPr>
          <p:cNvPr id="18" name="图片 17">
            <a:extLst>
              <a:ext uri="{FF2B5EF4-FFF2-40B4-BE49-F238E27FC236}">
                <a16:creationId xmlns:a16="http://schemas.microsoft.com/office/drawing/2014/main" id="{213BC207-0339-0AE6-F71C-212E78F01DF0}"/>
              </a:ext>
            </a:extLst>
          </p:cNvPr>
          <p:cNvPicPr>
            <a:picLocks noChangeAspect="1"/>
          </p:cNvPicPr>
          <p:nvPr/>
        </p:nvPicPr>
        <p:blipFill>
          <a:blip r:embed="rId4"/>
          <a:stretch>
            <a:fillRect/>
          </a:stretch>
        </p:blipFill>
        <p:spPr>
          <a:xfrm>
            <a:off x="186619" y="1687387"/>
            <a:ext cx="4680000" cy="3640000"/>
          </a:xfrm>
          <a:prstGeom prst="rect">
            <a:avLst/>
          </a:prstGeom>
        </p:spPr>
      </p:pic>
      <p:sp>
        <p:nvSpPr>
          <p:cNvPr id="22" name="灯片编号占位符 21">
            <a:extLst>
              <a:ext uri="{FF2B5EF4-FFF2-40B4-BE49-F238E27FC236}">
                <a16:creationId xmlns:a16="http://schemas.microsoft.com/office/drawing/2014/main" id="{D4D19D27-2D23-2D97-DD6A-B34A7B346A9A}"/>
              </a:ext>
            </a:extLst>
          </p:cNvPr>
          <p:cNvSpPr>
            <a:spLocks noGrp="1"/>
          </p:cNvSpPr>
          <p:nvPr>
            <p:ph type="sldNum" sz="quarter" idx="12"/>
          </p:nvPr>
        </p:nvSpPr>
        <p:spPr/>
        <p:txBody>
          <a:bodyPr/>
          <a:lstStyle/>
          <a:p>
            <a:r>
              <a:rPr sz="1200">
                <a:latin typeface="Arial"/>
              </a:rPr>
              <a:t>6</a:t>
            </a:r>
          </a:p>
        </p:txBody>
      </p:sp>
      <p:sp>
        <p:nvSpPr>
          <p:cNvPr id="23" name="文本框 22">
            <a:extLst>
              <a:ext uri="{FF2B5EF4-FFF2-40B4-BE49-F238E27FC236}">
                <a16:creationId xmlns:a16="http://schemas.microsoft.com/office/drawing/2014/main" id="{79C0A701-0700-7A8C-867F-A128E695314C}"/>
              </a:ext>
            </a:extLst>
          </p:cNvPr>
          <p:cNvSpPr txBox="1"/>
          <p:nvPr/>
        </p:nvSpPr>
        <p:spPr>
          <a:xfrm>
            <a:off x="273652" y="304514"/>
            <a:ext cx="8286454" cy="574869"/>
          </a:xfrm>
          <a:prstGeom prst="rect">
            <a:avLst/>
          </a:prstGeom>
        </p:spPr>
        <p:txBody>
          <a:bodyPr vert="horz" lIns="91440" tIns="45720" rIns="91440" bIns="45720" rtlCol="0" anchor="ctr">
            <a:normAutofit lnSpcReduction="10000"/>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Feature</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Distribution</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and</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Design</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Space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54DEB8C3-867F-F794-A583-FE5AD30F90C3}"/>
              </a:ext>
            </a:extLst>
          </p:cNvPr>
          <p:cNvSpPr txBox="1"/>
          <p:nvPr/>
        </p:nvSpPr>
        <p:spPr>
          <a:xfrm>
            <a:off x="868525" y="1356845"/>
            <a:ext cx="3668036" cy="294824"/>
          </a:xfrm>
          <a:prstGeom prst="rect">
            <a:avLst/>
          </a:prstGeom>
          <a:noFill/>
        </p:spPr>
        <p:txBody>
          <a:bodyPr wrap="square">
            <a:spAutoFit/>
          </a:bodyPr>
          <a:lstStyle/>
          <a:p>
            <a:pPr algn="ctr">
              <a:lnSpc>
                <a:spcPct val="94000"/>
              </a:lnSpc>
              <a:spcBef>
                <a:spcPts val="600"/>
              </a:spcBef>
            </a:pPr>
            <a:r>
              <a:rPr lang="en-US" sz="1400" b="1" kern="50" spc="25" dirty="0">
                <a:latin typeface="微软雅黑" panose="020B0503020204020204" pitchFamily="34" charset="-122"/>
                <a:ea typeface="微软雅黑" panose="020B0503020204020204" pitchFamily="34" charset="-122"/>
              </a:rPr>
              <a:t>Figure</a:t>
            </a:r>
            <a:r>
              <a:rPr lang="en-US" sz="1400" b="1" kern="50" spc="25" dirty="0">
                <a:effectLst/>
                <a:latin typeface="微软雅黑" panose="020B0503020204020204" pitchFamily="34" charset="-122"/>
                <a:ea typeface="微软雅黑" panose="020B0503020204020204" pitchFamily="34" charset="-122"/>
              </a:rPr>
              <a:t> 1. </a:t>
            </a:r>
            <a:r>
              <a:rPr lang="en-US" sz="1400" kern="50" spc="25" dirty="0">
                <a:effectLst/>
                <a:latin typeface="微软雅黑" panose="020B0503020204020204" pitchFamily="34" charset="-122"/>
                <a:ea typeface="微软雅黑" panose="020B0503020204020204" pitchFamily="34" charset="-122"/>
              </a:rPr>
              <a:t>Distribution of molecular size</a:t>
            </a:r>
            <a:endParaRPr lang="en-US" sz="1400" dirty="0">
              <a:effectLst/>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EBCC0DD7-5268-7B0C-6F12-00F11719C17C}"/>
              </a:ext>
            </a:extLst>
          </p:cNvPr>
          <p:cNvSpPr txBox="1"/>
          <p:nvPr/>
        </p:nvSpPr>
        <p:spPr>
          <a:xfrm>
            <a:off x="5450719" y="1049068"/>
            <a:ext cx="4606835" cy="307777"/>
          </a:xfrm>
          <a:prstGeom prst="rect">
            <a:avLst/>
          </a:prstGeom>
          <a:noFill/>
        </p:spPr>
        <p:txBody>
          <a:bodyPr wrap="square">
            <a:spAutoFit/>
          </a:bodyPr>
          <a:lstStyle/>
          <a:p>
            <a:pPr>
              <a:buNone/>
            </a:pPr>
            <a:r>
              <a:rPr lang="en" altLang="zh-CN" sz="1400" b="1" kern="50" spc="25" dirty="0">
                <a:latin typeface="微软雅黑" panose="020B0503020204020204" pitchFamily="34" charset="-122"/>
                <a:ea typeface="微软雅黑" panose="020B0503020204020204" pitchFamily="34" charset="-122"/>
              </a:rPr>
              <a:t>Figure 2.</a:t>
            </a:r>
            <a:r>
              <a:rPr lang="en" altLang="zh-CN" sz="1400" kern="50" spc="25" dirty="0">
                <a:latin typeface="微软雅黑" panose="020B0503020204020204" pitchFamily="34" charset="-122"/>
                <a:ea typeface="微软雅黑" panose="020B0503020204020204" pitchFamily="34" charset="-122"/>
              </a:rPr>
              <a:t> Counts of H-bond donors and acceptors</a:t>
            </a:r>
          </a:p>
        </p:txBody>
      </p:sp>
      <p:pic>
        <p:nvPicPr>
          <p:cNvPr id="27" name="图片 26" descr="图表, 散点图&#10;&#10;AI 生成的内容可能不正确。">
            <a:extLst>
              <a:ext uri="{FF2B5EF4-FFF2-40B4-BE49-F238E27FC236}">
                <a16:creationId xmlns:a16="http://schemas.microsoft.com/office/drawing/2014/main" id="{52A53572-9F65-E072-4C84-DBA2C6156A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44324" y="4378901"/>
            <a:ext cx="5136063" cy="2307860"/>
          </a:xfrm>
          <a:prstGeom prst="rect">
            <a:avLst/>
          </a:prstGeom>
        </p:spPr>
      </p:pic>
      <p:sp>
        <p:nvSpPr>
          <p:cNvPr id="33" name="文本框 32">
            <a:extLst>
              <a:ext uri="{FF2B5EF4-FFF2-40B4-BE49-F238E27FC236}">
                <a16:creationId xmlns:a16="http://schemas.microsoft.com/office/drawing/2014/main" id="{9D6C71C7-9807-182A-53C7-FD0F878B8611}"/>
              </a:ext>
            </a:extLst>
          </p:cNvPr>
          <p:cNvSpPr txBox="1"/>
          <p:nvPr/>
        </p:nvSpPr>
        <p:spPr>
          <a:xfrm>
            <a:off x="5893051" y="4071124"/>
            <a:ext cx="3967835" cy="307777"/>
          </a:xfrm>
          <a:prstGeom prst="rect">
            <a:avLst/>
          </a:prstGeom>
          <a:noFill/>
        </p:spPr>
        <p:txBody>
          <a:bodyPr wrap="square">
            <a:spAutoFit/>
          </a:bodyPr>
          <a:lstStyle/>
          <a:p>
            <a:r>
              <a:rPr lang="en" altLang="zh-CN" sz="1400" b="1" kern="50" spc="25" dirty="0">
                <a:latin typeface="微软雅黑" panose="020B0503020204020204" pitchFamily="34" charset="-122"/>
                <a:ea typeface="微软雅黑" panose="020B0503020204020204" pitchFamily="34" charset="-122"/>
              </a:rPr>
              <a:t>Figure 3.</a:t>
            </a:r>
            <a:r>
              <a:rPr lang="en" altLang="zh-CN" sz="1400" kern="50" spc="25" dirty="0">
                <a:latin typeface="微软雅黑" panose="020B0503020204020204" pitchFamily="34" charset="-122"/>
                <a:ea typeface="微软雅黑" panose="020B0503020204020204" pitchFamily="34" charset="-122"/>
              </a:rPr>
              <a:t> Exact Mass vs. Polar Surface Area</a:t>
            </a:r>
          </a:p>
        </p:txBody>
      </p:sp>
      <p:grpSp>
        <p:nvGrpSpPr>
          <p:cNvPr id="53" name="组合 52">
            <a:extLst>
              <a:ext uri="{FF2B5EF4-FFF2-40B4-BE49-F238E27FC236}">
                <a16:creationId xmlns:a16="http://schemas.microsoft.com/office/drawing/2014/main" id="{53E578C2-5F0C-4D74-3AD6-6A9E36775AAB}"/>
              </a:ext>
            </a:extLst>
          </p:cNvPr>
          <p:cNvGrpSpPr/>
          <p:nvPr/>
        </p:nvGrpSpPr>
        <p:grpSpPr>
          <a:xfrm>
            <a:off x="665018" y="5396183"/>
            <a:ext cx="4049097" cy="906527"/>
            <a:chOff x="737755" y="5365010"/>
            <a:chExt cx="4049097" cy="906527"/>
          </a:xfrm>
        </p:grpSpPr>
        <p:sp>
          <p:nvSpPr>
            <p:cNvPr id="52" name="文本框 51">
              <a:extLst>
                <a:ext uri="{FF2B5EF4-FFF2-40B4-BE49-F238E27FC236}">
                  <a16:creationId xmlns:a16="http://schemas.microsoft.com/office/drawing/2014/main" id="{DC2C8665-0ADD-296D-07A8-BB4EF366A5BE}"/>
                </a:ext>
              </a:extLst>
            </p:cNvPr>
            <p:cNvSpPr txBox="1"/>
            <p:nvPr/>
          </p:nvSpPr>
          <p:spPr>
            <a:xfrm>
              <a:off x="737755" y="5365010"/>
              <a:ext cx="4049097" cy="906527"/>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37" name="文本框 36">
              <a:extLst>
                <a:ext uri="{FF2B5EF4-FFF2-40B4-BE49-F238E27FC236}">
                  <a16:creationId xmlns:a16="http://schemas.microsoft.com/office/drawing/2014/main" id="{CC36BD19-C66E-781F-6449-D914B172F406}"/>
                </a:ext>
              </a:extLst>
            </p:cNvPr>
            <p:cNvSpPr txBox="1"/>
            <p:nvPr/>
          </p:nvSpPr>
          <p:spPr>
            <a:xfrm>
              <a:off x="806646" y="5405884"/>
              <a:ext cx="3896169" cy="830997"/>
            </a:xfrm>
            <a:prstGeom prst="rect">
              <a:avLst/>
            </a:prstGeom>
            <a:noFill/>
          </p:spPr>
          <p:txBody>
            <a:bodyPr wrap="square" rtlCol="0">
              <a:spAutoFit/>
            </a:bodyPr>
            <a:lstStyle/>
            <a:p>
              <a:pPr algn="ctr"/>
              <a:r>
                <a:rPr lang="en" altLang="zh-CN" sz="1600" dirty="0"/>
                <a:t>Most molecules are </a:t>
              </a:r>
              <a:r>
                <a:rPr lang="en" altLang="zh-CN" sz="1600" b="1" dirty="0"/>
                <a:t>small</a:t>
              </a:r>
              <a:r>
                <a:rPr lang="en" altLang="zh-CN" sz="1600" dirty="0"/>
                <a:t> to </a:t>
              </a:r>
              <a:r>
                <a:rPr lang="en" altLang="zh-CN" sz="1600" b="1" dirty="0"/>
                <a:t>medium</a:t>
              </a:r>
              <a:r>
                <a:rPr lang="en" altLang="zh-CN" sz="1600" dirty="0"/>
                <a:t>-sized, with exact mass mainly between </a:t>
              </a:r>
              <a:r>
                <a:rPr lang="en-US" altLang="zh-CN" sz="1600" b="1" dirty="0"/>
                <a:t>40</a:t>
              </a:r>
              <a:r>
                <a:rPr lang="en" altLang="zh-CN" sz="1600" dirty="0"/>
                <a:t> and </a:t>
              </a:r>
              <a:r>
                <a:rPr lang="en" altLang="zh-CN" sz="1600" b="1" dirty="0"/>
                <a:t>1</a:t>
              </a:r>
              <a:r>
                <a:rPr lang="en-US" altLang="zh-CN" sz="1600" b="1" dirty="0"/>
                <a:t>0</a:t>
              </a:r>
              <a:r>
                <a:rPr lang="en" altLang="zh-CN" sz="1600" b="1" dirty="0"/>
                <a:t>0</a:t>
              </a:r>
              <a:r>
                <a:rPr lang="en" altLang="zh-CN" sz="1600" dirty="0"/>
                <a:t> Da.</a:t>
              </a:r>
            </a:p>
          </p:txBody>
        </p:sp>
      </p:grpSp>
      <p:grpSp>
        <p:nvGrpSpPr>
          <p:cNvPr id="57" name="组合 56">
            <a:extLst>
              <a:ext uri="{FF2B5EF4-FFF2-40B4-BE49-F238E27FC236}">
                <a16:creationId xmlns:a16="http://schemas.microsoft.com/office/drawing/2014/main" id="{9D342867-9228-1787-8B96-F4B1BB9BFBE7}"/>
              </a:ext>
            </a:extLst>
          </p:cNvPr>
          <p:cNvGrpSpPr/>
          <p:nvPr/>
        </p:nvGrpSpPr>
        <p:grpSpPr>
          <a:xfrm>
            <a:off x="10122459" y="1143491"/>
            <a:ext cx="1952482" cy="2363896"/>
            <a:chOff x="10122121" y="1112318"/>
            <a:chExt cx="1952482" cy="2363896"/>
          </a:xfrm>
        </p:grpSpPr>
        <p:sp>
          <p:nvSpPr>
            <p:cNvPr id="54" name="文本框 53">
              <a:extLst>
                <a:ext uri="{FF2B5EF4-FFF2-40B4-BE49-F238E27FC236}">
                  <a16:creationId xmlns:a16="http://schemas.microsoft.com/office/drawing/2014/main" id="{FF8E9144-6142-6BCD-335B-D60D1753B011}"/>
                </a:ext>
              </a:extLst>
            </p:cNvPr>
            <p:cNvSpPr txBox="1"/>
            <p:nvPr/>
          </p:nvSpPr>
          <p:spPr>
            <a:xfrm>
              <a:off x="10145873" y="1112318"/>
              <a:ext cx="1886796" cy="2363896"/>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39" name="文本框 38">
              <a:extLst>
                <a:ext uri="{FF2B5EF4-FFF2-40B4-BE49-F238E27FC236}">
                  <a16:creationId xmlns:a16="http://schemas.microsoft.com/office/drawing/2014/main" id="{2A8442AB-738A-C06C-9F51-189AD2B0C6D2}"/>
                </a:ext>
              </a:extLst>
            </p:cNvPr>
            <p:cNvSpPr txBox="1"/>
            <p:nvPr/>
          </p:nvSpPr>
          <p:spPr>
            <a:xfrm>
              <a:off x="10122121" y="1130617"/>
              <a:ext cx="1952482" cy="2308324"/>
            </a:xfrm>
            <a:prstGeom prst="rect">
              <a:avLst/>
            </a:prstGeom>
            <a:noFill/>
          </p:spPr>
          <p:txBody>
            <a:bodyPr wrap="square">
              <a:spAutoFit/>
            </a:bodyPr>
            <a:lstStyle/>
            <a:p>
              <a:pPr algn="ctr">
                <a:buNone/>
              </a:pPr>
              <a:r>
                <a:rPr lang="en" altLang="zh-CN" sz="1600" dirty="0">
                  <a:solidFill>
                    <a:srgbClr val="0E0E0E"/>
                  </a:solidFill>
                  <a:effectLst/>
                </a:rPr>
                <a:t>Most molecules have </a:t>
              </a:r>
              <a:r>
                <a:rPr lang="en" altLang="zh-CN" sz="1600" b="1" dirty="0">
                  <a:solidFill>
                    <a:srgbClr val="0E0E0E"/>
                  </a:solidFill>
                  <a:effectLst/>
                </a:rPr>
                <a:t>1</a:t>
              </a:r>
              <a:r>
                <a:rPr lang="en" altLang="zh-CN" sz="1600" dirty="0">
                  <a:solidFill>
                    <a:srgbClr val="0E0E0E"/>
                  </a:solidFill>
                  <a:effectLst/>
                </a:rPr>
                <a:t>–</a:t>
              </a:r>
              <a:r>
                <a:rPr lang="en" altLang="zh-CN" sz="1600" b="1" dirty="0">
                  <a:solidFill>
                    <a:srgbClr val="0E0E0E"/>
                  </a:solidFill>
                  <a:effectLst/>
                </a:rPr>
                <a:t>2</a:t>
              </a:r>
              <a:r>
                <a:rPr lang="en" altLang="zh-CN" sz="1600" dirty="0">
                  <a:solidFill>
                    <a:srgbClr val="0E0E0E"/>
                  </a:solidFill>
                </a:rPr>
                <a:t> H-bond </a:t>
              </a:r>
              <a:r>
                <a:rPr lang="en" altLang="zh-CN" sz="1600" b="1" dirty="0">
                  <a:solidFill>
                    <a:srgbClr val="0E0E0E"/>
                  </a:solidFill>
                  <a:effectLst/>
                </a:rPr>
                <a:t>acceptor</a:t>
              </a:r>
              <a:r>
                <a:rPr lang="en" altLang="zh-CN" sz="1600" dirty="0">
                  <a:solidFill>
                    <a:srgbClr val="0E0E0E"/>
                  </a:solidFill>
                  <a:effectLst/>
                </a:rPr>
                <a:t> sites but </a:t>
              </a:r>
              <a:r>
                <a:rPr lang="en" altLang="zh-CN" sz="1600" b="1" dirty="0">
                  <a:solidFill>
                    <a:srgbClr val="0E0E0E"/>
                  </a:solidFill>
                  <a:effectLst/>
                </a:rPr>
                <a:t>no</a:t>
              </a:r>
              <a:r>
                <a:rPr lang="en" altLang="zh-CN" sz="1600" dirty="0">
                  <a:solidFill>
                    <a:srgbClr val="0E0E0E"/>
                  </a:solidFill>
                  <a:effectLst/>
                </a:rPr>
                <a:t> </a:t>
              </a:r>
              <a:r>
                <a:rPr lang="en" altLang="zh-CN" sz="1600" b="1" dirty="0">
                  <a:solidFill>
                    <a:srgbClr val="0E0E0E"/>
                  </a:solidFill>
                  <a:effectLst/>
                </a:rPr>
                <a:t>donors</a:t>
              </a:r>
              <a:r>
                <a:rPr lang="en" altLang="zh-CN" sz="1600" dirty="0">
                  <a:solidFill>
                    <a:srgbClr val="0E0E0E"/>
                  </a:solidFill>
                  <a:effectLst/>
                </a:rPr>
                <a:t>, indicating a design bias toward neutral </a:t>
              </a:r>
              <a:r>
                <a:rPr lang="en" altLang="zh-CN" sz="1600" b="1" dirty="0">
                  <a:solidFill>
                    <a:srgbClr val="0E0E0E"/>
                  </a:solidFill>
                  <a:effectLst/>
                </a:rPr>
                <a:t>Lewis base</a:t>
              </a:r>
              <a:r>
                <a:rPr lang="en" altLang="zh-CN" sz="1600" dirty="0">
                  <a:solidFill>
                    <a:srgbClr val="0E0E0E"/>
                  </a:solidFill>
                  <a:effectLst/>
                </a:rPr>
                <a:t> ligands for Pb²⁺ defect passivation.</a:t>
              </a:r>
            </a:p>
          </p:txBody>
        </p:sp>
      </p:grpSp>
      <p:sp>
        <p:nvSpPr>
          <p:cNvPr id="56" name="文本框 55">
            <a:extLst>
              <a:ext uri="{FF2B5EF4-FFF2-40B4-BE49-F238E27FC236}">
                <a16:creationId xmlns:a16="http://schemas.microsoft.com/office/drawing/2014/main" id="{32D52A86-BD83-FE40-374A-B05EEFB92276}"/>
              </a:ext>
            </a:extLst>
          </p:cNvPr>
          <p:cNvSpPr txBox="1"/>
          <p:nvPr/>
        </p:nvSpPr>
        <p:spPr>
          <a:xfrm>
            <a:off x="10192967" y="3984568"/>
            <a:ext cx="1659099" cy="2620651"/>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41" name="文本框 40">
            <a:extLst>
              <a:ext uri="{FF2B5EF4-FFF2-40B4-BE49-F238E27FC236}">
                <a16:creationId xmlns:a16="http://schemas.microsoft.com/office/drawing/2014/main" id="{427ADC70-3CA6-7DBF-BFED-7567DB36A0DC}"/>
              </a:ext>
            </a:extLst>
          </p:cNvPr>
          <p:cNvSpPr txBox="1"/>
          <p:nvPr/>
        </p:nvSpPr>
        <p:spPr>
          <a:xfrm>
            <a:off x="10147519" y="4017620"/>
            <a:ext cx="1763189" cy="2554545"/>
          </a:xfrm>
          <a:prstGeom prst="rect">
            <a:avLst/>
          </a:prstGeom>
          <a:noFill/>
        </p:spPr>
        <p:txBody>
          <a:bodyPr wrap="square">
            <a:spAutoFit/>
          </a:bodyPr>
          <a:lstStyle/>
          <a:p>
            <a:pPr algn="ctr">
              <a:buNone/>
            </a:pPr>
            <a:r>
              <a:rPr lang="en" altLang="zh-CN" sz="1600" dirty="0">
                <a:solidFill>
                  <a:srgbClr val="0E0E0E"/>
                </a:solidFill>
                <a:effectLst/>
              </a:rPr>
              <a:t>Many molecules are </a:t>
            </a:r>
            <a:r>
              <a:rPr lang="en" altLang="zh-CN" sz="1600" dirty="0">
                <a:solidFill>
                  <a:srgbClr val="88C039"/>
                </a:solidFill>
                <a:effectLst/>
              </a:rPr>
              <a:t>moderately</a:t>
            </a:r>
            <a:r>
              <a:rPr lang="en" altLang="zh-CN" sz="1600" dirty="0">
                <a:solidFill>
                  <a:srgbClr val="0E0E0E"/>
                </a:solidFill>
                <a:effectLst/>
              </a:rPr>
              <a:t> </a:t>
            </a:r>
            <a:r>
              <a:rPr lang="en" altLang="zh-CN" sz="1600" dirty="0">
                <a:solidFill>
                  <a:srgbClr val="88C039"/>
                </a:solidFill>
                <a:effectLst/>
              </a:rPr>
              <a:t>polar (TPSA ≈</a:t>
            </a:r>
            <a:r>
              <a:rPr lang="zh-CN" altLang="en-US" sz="1600" dirty="0">
                <a:solidFill>
                  <a:srgbClr val="88C039"/>
                </a:solidFill>
                <a:effectLst/>
              </a:rPr>
              <a:t> </a:t>
            </a:r>
            <a:r>
              <a:rPr lang="en-US" altLang="zh-CN" sz="1600" dirty="0">
                <a:solidFill>
                  <a:srgbClr val="88C039"/>
                </a:solidFill>
                <a:effectLst/>
              </a:rPr>
              <a:t>5-30</a:t>
            </a:r>
            <a:r>
              <a:rPr lang="en" altLang="zh-CN" sz="1600" dirty="0">
                <a:solidFill>
                  <a:srgbClr val="88C039"/>
                </a:solidFill>
                <a:effectLst/>
              </a:rPr>
              <a:t>)</a:t>
            </a:r>
            <a:r>
              <a:rPr lang="en" altLang="zh-CN" sz="1600" dirty="0">
                <a:solidFill>
                  <a:srgbClr val="0E0E0E"/>
                </a:solidFill>
                <a:effectLst/>
              </a:rPr>
              <a:t>, while about </a:t>
            </a:r>
            <a:r>
              <a:rPr lang="en-US" altLang="zh-CN" sz="1600" b="1" dirty="0">
                <a:solidFill>
                  <a:srgbClr val="0E0E0E"/>
                </a:solidFill>
                <a:effectLst/>
              </a:rPr>
              <a:t>1/3</a:t>
            </a:r>
            <a:r>
              <a:rPr lang="zh-CN" altLang="en-US" sz="1600" dirty="0">
                <a:solidFill>
                  <a:srgbClr val="0E0E0E"/>
                </a:solidFill>
                <a:effectLst/>
              </a:rPr>
              <a:t> </a:t>
            </a:r>
            <a:r>
              <a:rPr lang="en" altLang="zh-CN" sz="1600" dirty="0">
                <a:solidFill>
                  <a:srgbClr val="0E0E0E"/>
                </a:solidFill>
                <a:effectLst/>
              </a:rPr>
              <a:t>are </a:t>
            </a:r>
            <a:r>
              <a:rPr lang="en" altLang="zh-CN" sz="1600" dirty="0">
                <a:solidFill>
                  <a:srgbClr val="006600"/>
                </a:solidFill>
                <a:effectLst/>
              </a:rPr>
              <a:t>non-polar (TPSA = 0)</a:t>
            </a:r>
            <a:r>
              <a:rPr lang="en" altLang="zh-CN" sz="1600" dirty="0">
                <a:solidFill>
                  <a:srgbClr val="0E0E0E"/>
                </a:solidFill>
                <a:effectLst/>
              </a:rPr>
              <a:t>, giving a diverse size–polarity design space for binding-energy prediction.</a:t>
            </a:r>
          </a:p>
        </p:txBody>
      </p:sp>
      <p:cxnSp>
        <p:nvCxnSpPr>
          <p:cNvPr id="43" name="直线连接符 42">
            <a:extLst>
              <a:ext uri="{FF2B5EF4-FFF2-40B4-BE49-F238E27FC236}">
                <a16:creationId xmlns:a16="http://schemas.microsoft.com/office/drawing/2014/main" id="{5FF4F61B-DD3F-CB14-3D51-F158D8DACEF6}"/>
              </a:ext>
            </a:extLst>
          </p:cNvPr>
          <p:cNvCxnSpPr>
            <a:cxnSpLocks/>
          </p:cNvCxnSpPr>
          <p:nvPr/>
        </p:nvCxnSpPr>
        <p:spPr>
          <a:xfrm>
            <a:off x="5008219" y="966355"/>
            <a:ext cx="0" cy="5891645"/>
          </a:xfrm>
          <a:prstGeom prst="line">
            <a:avLst/>
          </a:prstGeom>
          <a:ln w="50800">
            <a:solidFill>
              <a:srgbClr val="003870"/>
            </a:solidFill>
          </a:ln>
        </p:spPr>
        <p:style>
          <a:lnRef idx="2">
            <a:schemeClr val="accent1"/>
          </a:lnRef>
          <a:fillRef idx="0">
            <a:schemeClr val="accent1"/>
          </a:fillRef>
          <a:effectRef idx="1">
            <a:schemeClr val="accent1"/>
          </a:effectRef>
          <a:fontRef idx="minor">
            <a:schemeClr val="tx1"/>
          </a:fontRef>
        </p:style>
      </p:cxnSp>
      <p:cxnSp>
        <p:nvCxnSpPr>
          <p:cNvPr id="44" name="直线连接符 43">
            <a:extLst>
              <a:ext uri="{FF2B5EF4-FFF2-40B4-BE49-F238E27FC236}">
                <a16:creationId xmlns:a16="http://schemas.microsoft.com/office/drawing/2014/main" id="{56C630B9-9C63-C7B8-FE3C-C96DF3236F33}"/>
              </a:ext>
            </a:extLst>
          </p:cNvPr>
          <p:cNvCxnSpPr>
            <a:cxnSpLocks/>
          </p:cNvCxnSpPr>
          <p:nvPr/>
        </p:nvCxnSpPr>
        <p:spPr>
          <a:xfrm flipH="1">
            <a:off x="5008219" y="3797891"/>
            <a:ext cx="7183781" cy="0"/>
          </a:xfrm>
          <a:prstGeom prst="line">
            <a:avLst/>
          </a:prstGeom>
          <a:ln w="50800">
            <a:solidFill>
              <a:srgbClr val="00387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5303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A6EBE-48CF-D47C-EBB3-06F86CEB7DF7}"/>
            </a:ext>
          </a:extLst>
        </p:cNvPr>
        <p:cNvGrpSpPr/>
        <p:nvPr/>
      </p:nvGrpSpPr>
      <p:grpSpPr>
        <a:xfrm>
          <a:off x="0" y="0"/>
          <a:ext cx="0" cy="0"/>
          <a:chOff x="0" y="0"/>
          <a:chExt cx="0" cy="0"/>
        </a:xfrm>
      </p:grpSpPr>
      <p:sp>
        <p:nvSpPr>
          <p:cNvPr id="48" name="文本框 47">
            <a:extLst>
              <a:ext uri="{FF2B5EF4-FFF2-40B4-BE49-F238E27FC236}">
                <a16:creationId xmlns:a16="http://schemas.microsoft.com/office/drawing/2014/main" id="{EE383C8B-CF18-9F94-07C2-4CA98734DA0A}"/>
              </a:ext>
            </a:extLst>
          </p:cNvPr>
          <p:cNvSpPr txBox="1"/>
          <p:nvPr/>
        </p:nvSpPr>
        <p:spPr>
          <a:xfrm>
            <a:off x="273652" y="304514"/>
            <a:ext cx="8516734" cy="574869"/>
          </a:xfrm>
          <a:prstGeom prst="rect">
            <a:avLst/>
          </a:prstGeom>
        </p:spPr>
        <p:txBody>
          <a:bodyPr vert="horz" lIns="91440" tIns="45720" rIns="91440" bIns="45720" rtlCol="0" anchor="ctr">
            <a:noAutofit/>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Data Cleaning and Splitting</a:t>
            </a:r>
          </a:p>
        </p:txBody>
      </p:sp>
      <p:sp>
        <p:nvSpPr>
          <p:cNvPr id="4" name="文本框 3">
            <a:extLst>
              <a:ext uri="{FF2B5EF4-FFF2-40B4-BE49-F238E27FC236}">
                <a16:creationId xmlns:a16="http://schemas.microsoft.com/office/drawing/2014/main" id="{A4B8CD33-2450-EEDE-EE3C-84F628E38DD6}"/>
              </a:ext>
            </a:extLst>
          </p:cNvPr>
          <p:cNvSpPr txBox="1"/>
          <p:nvPr/>
        </p:nvSpPr>
        <p:spPr>
          <a:xfrm>
            <a:off x="273651" y="1063842"/>
            <a:ext cx="7838717" cy="400110"/>
          </a:xfrm>
          <a:prstGeom prst="rect">
            <a:avLst/>
          </a:prstGeom>
          <a:noFill/>
        </p:spPr>
        <p:txBody>
          <a:bodyPr wrap="square">
            <a:spAutoFit/>
          </a:bodyPr>
          <a:lstStyle/>
          <a:p>
            <a:pPr indent="0">
              <a:buNone/>
            </a:pPr>
            <a:r>
              <a:rPr lang="en-US" altLang="zh-CN" sz="2000" b="1" dirty="0">
                <a:solidFill>
                  <a:schemeClr val="tx1">
                    <a:lumMod val="65000"/>
                    <a:lumOff val="35000"/>
                  </a:schemeClr>
                </a:solidFill>
              </a:rPr>
              <a:t>Training-ready preprocessing avoids label leakage.</a:t>
            </a:r>
          </a:p>
        </p:txBody>
      </p:sp>
      <p:grpSp>
        <p:nvGrpSpPr>
          <p:cNvPr id="35" name="组合 34">
            <a:extLst>
              <a:ext uri="{FF2B5EF4-FFF2-40B4-BE49-F238E27FC236}">
                <a16:creationId xmlns:a16="http://schemas.microsoft.com/office/drawing/2014/main" id="{70FCE28B-F807-254C-D477-E991D104A091}"/>
              </a:ext>
            </a:extLst>
          </p:cNvPr>
          <p:cNvGrpSpPr/>
          <p:nvPr/>
        </p:nvGrpSpPr>
        <p:grpSpPr>
          <a:xfrm>
            <a:off x="410309" y="1600200"/>
            <a:ext cx="2351086" cy="1325880"/>
            <a:chOff x="586154" y="1600200"/>
            <a:chExt cx="2351086" cy="1325880"/>
          </a:xfrm>
        </p:grpSpPr>
        <p:sp>
          <p:nvSpPr>
            <p:cNvPr id="5" name="Shape 3">
              <a:extLst>
                <a:ext uri="{FF2B5EF4-FFF2-40B4-BE49-F238E27FC236}">
                  <a16:creationId xmlns:a16="http://schemas.microsoft.com/office/drawing/2014/main" id="{51787096-ECA7-5AB7-1C1C-633DA2AE6A3F}"/>
                </a:ext>
              </a:extLst>
            </p:cNvPr>
            <p:cNvSpPr/>
            <p:nvPr/>
          </p:nvSpPr>
          <p:spPr>
            <a:xfrm>
              <a:off x="586154" y="1600200"/>
              <a:ext cx="2351086" cy="1325880"/>
            </a:xfrm>
            <a:prstGeom prst="rect">
              <a:avLst/>
            </a:prstGeom>
            <a:solidFill>
              <a:srgbClr val="FFFFFF"/>
            </a:solidFill>
            <a:ln w="8890">
              <a:solidFill>
                <a:srgbClr val="E5E7EB"/>
              </a:solidFill>
              <a:prstDash val="solid"/>
            </a:ln>
          </p:spPr>
          <p:txBody>
            <a:bodyPr/>
            <a:lstStyle/>
            <a:p>
              <a:endParaRPr lang="zh-CN" altLang="en-US" dirty="0"/>
            </a:p>
          </p:txBody>
        </p:sp>
        <p:sp>
          <p:nvSpPr>
            <p:cNvPr id="6" name="Shape 4">
              <a:extLst>
                <a:ext uri="{FF2B5EF4-FFF2-40B4-BE49-F238E27FC236}">
                  <a16:creationId xmlns:a16="http://schemas.microsoft.com/office/drawing/2014/main" id="{3E68FF71-780F-F85D-078E-F6C156169877}"/>
                </a:ext>
              </a:extLst>
            </p:cNvPr>
            <p:cNvSpPr/>
            <p:nvPr/>
          </p:nvSpPr>
          <p:spPr>
            <a:xfrm>
              <a:off x="586154" y="1619160"/>
              <a:ext cx="2351086" cy="45719"/>
            </a:xfrm>
            <a:prstGeom prst="rect">
              <a:avLst/>
            </a:prstGeom>
            <a:solidFill>
              <a:srgbClr val="2563EB"/>
            </a:solidFill>
            <a:ln w="12700">
              <a:solidFill>
                <a:srgbClr val="2563EB">
                  <a:alpha val="0"/>
                </a:srgbClr>
              </a:solidFill>
              <a:prstDash val="solid"/>
            </a:ln>
          </p:spPr>
          <p:txBody>
            <a:bodyPr/>
            <a:lstStyle/>
            <a:p>
              <a:endParaRPr lang="zh-CN" altLang="en-US"/>
            </a:p>
          </p:txBody>
        </p:sp>
        <p:sp>
          <p:nvSpPr>
            <p:cNvPr id="7" name="Text 5">
              <a:extLst>
                <a:ext uri="{FF2B5EF4-FFF2-40B4-BE49-F238E27FC236}">
                  <a16:creationId xmlns:a16="http://schemas.microsoft.com/office/drawing/2014/main" id="{FDBB31FA-4EA1-C0B4-2FCD-608438534D94}"/>
                </a:ext>
              </a:extLst>
            </p:cNvPr>
            <p:cNvSpPr/>
            <p:nvPr/>
          </p:nvSpPr>
          <p:spPr>
            <a:xfrm>
              <a:off x="799557" y="1800763"/>
              <a:ext cx="1947672" cy="331082"/>
            </a:xfrm>
            <a:prstGeom prst="rect">
              <a:avLst/>
            </a:prstGeom>
            <a:noFill/>
            <a:ln/>
          </p:spPr>
          <p:txBody>
            <a:bodyPr wrap="square" lIns="0" tIns="0" rIns="0" bIns="0" rtlCol="0" anchor="ctr"/>
            <a:lstStyle/>
            <a:p>
              <a:pPr marL="0" indent="0" algn="ctr">
                <a:buNone/>
              </a:pPr>
              <a:r>
                <a:rPr lang="en-US" sz="2000" b="1" dirty="0">
                  <a:solidFill>
                    <a:srgbClr val="111827"/>
                  </a:solidFill>
                </a:rPr>
                <a:t>Raw properties</a:t>
              </a:r>
              <a:endParaRPr lang="en-US" sz="2000" dirty="0"/>
            </a:p>
          </p:txBody>
        </p:sp>
        <p:sp>
          <p:nvSpPr>
            <p:cNvPr id="8" name="Text 6">
              <a:extLst>
                <a:ext uri="{FF2B5EF4-FFF2-40B4-BE49-F238E27FC236}">
                  <a16:creationId xmlns:a16="http://schemas.microsoft.com/office/drawing/2014/main" id="{92F7FF38-DC9C-1D01-A3FF-53D6E10A82FC}"/>
                </a:ext>
              </a:extLst>
            </p:cNvPr>
            <p:cNvSpPr/>
            <p:nvPr/>
          </p:nvSpPr>
          <p:spPr>
            <a:xfrm>
              <a:off x="712147" y="2178090"/>
              <a:ext cx="2122493" cy="704088"/>
            </a:xfrm>
            <a:prstGeom prst="rect">
              <a:avLst/>
            </a:prstGeom>
            <a:noFill/>
            <a:ln/>
          </p:spPr>
          <p:txBody>
            <a:bodyPr wrap="square" lIns="0" tIns="0" rIns="0" bIns="0" rtlCol="0" anchor="ctr">
              <a:noAutofit/>
            </a:bodyPr>
            <a:lstStyle/>
            <a:p>
              <a:pPr marL="0" indent="0" algn="ctr">
                <a:buNone/>
              </a:pPr>
              <a:r>
                <a:rPr lang="en-US" dirty="0">
                  <a:solidFill>
                    <a:srgbClr val="374151"/>
                  </a:solidFill>
                </a:rPr>
                <a:t>Formula, SMILES, MW, HBA/HBD, TPSA</a:t>
              </a:r>
              <a:endParaRPr lang="en-US" dirty="0"/>
            </a:p>
          </p:txBody>
        </p:sp>
      </p:grpSp>
      <p:sp>
        <p:nvSpPr>
          <p:cNvPr id="9" name="Shape 7">
            <a:extLst>
              <a:ext uri="{FF2B5EF4-FFF2-40B4-BE49-F238E27FC236}">
                <a16:creationId xmlns:a16="http://schemas.microsoft.com/office/drawing/2014/main" id="{BB42BDA1-329D-86F0-6C3C-C8A4EB3F83B7}"/>
              </a:ext>
            </a:extLst>
          </p:cNvPr>
          <p:cNvSpPr/>
          <p:nvPr/>
        </p:nvSpPr>
        <p:spPr>
          <a:xfrm>
            <a:off x="2904415" y="2252589"/>
            <a:ext cx="468367" cy="0"/>
          </a:xfrm>
          <a:prstGeom prst="line">
            <a:avLst/>
          </a:prstGeom>
          <a:ln w="38100">
            <a:solidFill>
              <a:schemeClr val="bg1">
                <a:lumMod val="65000"/>
              </a:schemeClr>
            </a:solidFill>
            <a:tailEnd type="triangle"/>
          </a:ln>
        </p:spPr>
        <p:style>
          <a:lnRef idx="1">
            <a:schemeClr val="accent6"/>
          </a:lnRef>
          <a:fillRef idx="0">
            <a:schemeClr val="accent6"/>
          </a:fillRef>
          <a:effectRef idx="0">
            <a:schemeClr val="accent6"/>
          </a:effectRef>
          <a:fontRef idx="minor">
            <a:schemeClr val="tx1"/>
          </a:fontRef>
        </p:style>
        <p:txBody>
          <a:bodyPr/>
          <a:lstStyle/>
          <a:p>
            <a:endParaRPr lang="zh-CN" altLang="en-US"/>
          </a:p>
        </p:txBody>
      </p:sp>
      <p:grpSp>
        <p:nvGrpSpPr>
          <p:cNvPr id="34" name="组合 33">
            <a:extLst>
              <a:ext uri="{FF2B5EF4-FFF2-40B4-BE49-F238E27FC236}">
                <a16:creationId xmlns:a16="http://schemas.microsoft.com/office/drawing/2014/main" id="{9DBC74E9-BB7A-DB49-E3BA-8AC8F35E2A95}"/>
              </a:ext>
            </a:extLst>
          </p:cNvPr>
          <p:cNvGrpSpPr/>
          <p:nvPr/>
        </p:nvGrpSpPr>
        <p:grpSpPr>
          <a:xfrm>
            <a:off x="1039581" y="3613390"/>
            <a:ext cx="4824845" cy="3873027"/>
            <a:chOff x="927599" y="3074562"/>
            <a:chExt cx="4937760" cy="2951736"/>
          </a:xfrm>
        </p:grpSpPr>
        <p:sp>
          <p:nvSpPr>
            <p:cNvPr id="27" name="Shape 22">
              <a:extLst>
                <a:ext uri="{FF2B5EF4-FFF2-40B4-BE49-F238E27FC236}">
                  <a16:creationId xmlns:a16="http://schemas.microsoft.com/office/drawing/2014/main" id="{37994F29-AE5F-76E4-CB06-5E3FF5D746F0}"/>
                </a:ext>
              </a:extLst>
            </p:cNvPr>
            <p:cNvSpPr/>
            <p:nvPr/>
          </p:nvSpPr>
          <p:spPr>
            <a:xfrm>
              <a:off x="927599" y="3310893"/>
              <a:ext cx="4937760" cy="2715405"/>
            </a:xfrm>
            <a:prstGeom prst="rect">
              <a:avLst/>
            </a:prstGeom>
            <a:solidFill>
              <a:srgbClr val="FFFFFF"/>
            </a:solidFill>
            <a:ln w="8890">
              <a:solidFill>
                <a:srgbClr val="E5E7EB"/>
              </a:solidFill>
              <a:prstDash val="solid"/>
            </a:ln>
          </p:spPr>
          <p:txBody>
            <a:bodyPr/>
            <a:lstStyle/>
            <a:p>
              <a:endParaRPr lang="zh-CN" altLang="en-US"/>
            </a:p>
          </p:txBody>
        </p:sp>
        <p:sp>
          <p:nvSpPr>
            <p:cNvPr id="28" name="Text 23">
              <a:extLst>
                <a:ext uri="{FF2B5EF4-FFF2-40B4-BE49-F238E27FC236}">
                  <a16:creationId xmlns:a16="http://schemas.microsoft.com/office/drawing/2014/main" id="{160293FE-6E93-8412-1953-7FF2DE31E158}"/>
                </a:ext>
              </a:extLst>
            </p:cNvPr>
            <p:cNvSpPr/>
            <p:nvPr/>
          </p:nvSpPr>
          <p:spPr>
            <a:xfrm>
              <a:off x="927599" y="3074562"/>
              <a:ext cx="4608576" cy="201168"/>
            </a:xfrm>
            <a:prstGeom prst="rect">
              <a:avLst/>
            </a:prstGeom>
            <a:noFill/>
            <a:ln/>
          </p:spPr>
          <p:txBody>
            <a:bodyPr wrap="square" lIns="0" tIns="0" rIns="0" bIns="0" rtlCol="0" anchor="ctr"/>
            <a:lstStyle/>
            <a:p>
              <a:pPr marL="0" indent="0">
                <a:buNone/>
              </a:pPr>
              <a:r>
                <a:rPr lang="en-US" b="1" dirty="0">
                  <a:solidFill>
                    <a:srgbClr val="111827"/>
                  </a:solidFill>
                </a:rPr>
                <a:t>Random split counts</a:t>
              </a:r>
              <a:endParaRPr lang="en-US" dirty="0"/>
            </a:p>
          </p:txBody>
        </p:sp>
        <p:pic>
          <p:nvPicPr>
            <p:cNvPr id="29" name="Image 0" descr="/mnt/data/extended_assets/split_counts.png">
              <a:extLst>
                <a:ext uri="{FF2B5EF4-FFF2-40B4-BE49-F238E27FC236}">
                  <a16:creationId xmlns:a16="http://schemas.microsoft.com/office/drawing/2014/main" id="{8F8508A9-16E7-0C9A-99BC-2B307DAAEF0D}"/>
                </a:ext>
              </a:extLst>
            </p:cNvPr>
            <p:cNvPicPr>
              <a:picLocks noChangeAspect="1"/>
            </p:cNvPicPr>
            <p:nvPr/>
          </p:nvPicPr>
          <p:blipFill>
            <a:blip r:embed="rId3"/>
            <a:stretch>
              <a:fillRect/>
            </a:stretch>
          </p:blipFill>
          <p:spPr>
            <a:xfrm>
              <a:off x="1376357" y="3355030"/>
              <a:ext cx="4344331" cy="2505640"/>
            </a:xfrm>
            <a:prstGeom prst="rect">
              <a:avLst/>
            </a:prstGeom>
          </p:spPr>
        </p:pic>
      </p:grpSp>
      <p:grpSp>
        <p:nvGrpSpPr>
          <p:cNvPr id="11" name="组合 10">
            <a:extLst>
              <a:ext uri="{FF2B5EF4-FFF2-40B4-BE49-F238E27FC236}">
                <a16:creationId xmlns:a16="http://schemas.microsoft.com/office/drawing/2014/main" id="{6040568B-81F4-DD36-453B-6CFD039CFBDD}"/>
              </a:ext>
            </a:extLst>
          </p:cNvPr>
          <p:cNvGrpSpPr/>
          <p:nvPr/>
        </p:nvGrpSpPr>
        <p:grpSpPr>
          <a:xfrm>
            <a:off x="7211536" y="3137902"/>
            <a:ext cx="4983480" cy="1737360"/>
            <a:chOff x="6252926" y="4338156"/>
            <a:chExt cx="4983480" cy="1737360"/>
          </a:xfrm>
        </p:grpSpPr>
        <p:sp>
          <p:nvSpPr>
            <p:cNvPr id="30" name="Shape 24">
              <a:extLst>
                <a:ext uri="{FF2B5EF4-FFF2-40B4-BE49-F238E27FC236}">
                  <a16:creationId xmlns:a16="http://schemas.microsoft.com/office/drawing/2014/main" id="{B936F9C6-5304-A5CA-5915-56D741C6727F}"/>
                </a:ext>
              </a:extLst>
            </p:cNvPr>
            <p:cNvSpPr/>
            <p:nvPr/>
          </p:nvSpPr>
          <p:spPr>
            <a:xfrm>
              <a:off x="6252926" y="4338156"/>
              <a:ext cx="4983480" cy="1737360"/>
            </a:xfrm>
            <a:prstGeom prst="rect">
              <a:avLst/>
            </a:prstGeom>
            <a:solidFill>
              <a:srgbClr val="FFFFFF"/>
            </a:solidFill>
            <a:ln w="8890">
              <a:solidFill>
                <a:srgbClr val="E5E7EB"/>
              </a:solidFill>
              <a:prstDash val="solid"/>
            </a:ln>
          </p:spPr>
          <p:txBody>
            <a:bodyPr/>
            <a:lstStyle/>
            <a:p>
              <a:endParaRPr lang="zh-CN" altLang="en-US"/>
            </a:p>
          </p:txBody>
        </p:sp>
        <p:sp>
          <p:nvSpPr>
            <p:cNvPr id="31" name="Shape 25">
              <a:extLst>
                <a:ext uri="{FF2B5EF4-FFF2-40B4-BE49-F238E27FC236}">
                  <a16:creationId xmlns:a16="http://schemas.microsoft.com/office/drawing/2014/main" id="{F866C952-55B7-17AB-0C9A-19978CD2631C}"/>
                </a:ext>
              </a:extLst>
            </p:cNvPr>
            <p:cNvSpPr/>
            <p:nvPr/>
          </p:nvSpPr>
          <p:spPr>
            <a:xfrm>
              <a:off x="6252926" y="4338156"/>
              <a:ext cx="73152" cy="1737360"/>
            </a:xfrm>
            <a:prstGeom prst="rect">
              <a:avLst/>
            </a:prstGeom>
            <a:solidFill>
              <a:srgbClr val="DC2626"/>
            </a:solidFill>
            <a:ln w="12700">
              <a:solidFill>
                <a:srgbClr val="DC2626">
                  <a:alpha val="0"/>
                </a:srgbClr>
              </a:solidFill>
              <a:prstDash val="solid"/>
            </a:ln>
          </p:spPr>
          <p:txBody>
            <a:bodyPr/>
            <a:lstStyle/>
            <a:p>
              <a:endParaRPr lang="zh-CN" altLang="en-US"/>
            </a:p>
          </p:txBody>
        </p:sp>
        <p:sp>
          <p:nvSpPr>
            <p:cNvPr id="32" name="Text 26">
              <a:extLst>
                <a:ext uri="{FF2B5EF4-FFF2-40B4-BE49-F238E27FC236}">
                  <a16:creationId xmlns:a16="http://schemas.microsoft.com/office/drawing/2014/main" id="{B4AC2368-1A57-AF61-5CF7-A768B5F4027C}"/>
                </a:ext>
              </a:extLst>
            </p:cNvPr>
            <p:cNvSpPr/>
            <p:nvPr/>
          </p:nvSpPr>
          <p:spPr>
            <a:xfrm>
              <a:off x="6454094" y="4484460"/>
              <a:ext cx="4672584" cy="219456"/>
            </a:xfrm>
            <a:prstGeom prst="rect">
              <a:avLst/>
            </a:prstGeom>
            <a:noFill/>
            <a:ln/>
          </p:spPr>
          <p:txBody>
            <a:bodyPr wrap="square" lIns="0" tIns="0" rIns="0" bIns="0" rtlCol="0" anchor="ctr"/>
            <a:lstStyle/>
            <a:p>
              <a:pPr marL="0" indent="0">
                <a:buNone/>
              </a:pPr>
              <a:r>
                <a:rPr lang="en-US" sz="2200" b="1" dirty="0">
                  <a:solidFill>
                    <a:srgbClr val="111827"/>
                  </a:solidFill>
                </a:rPr>
                <a:t>No leakage principle</a:t>
              </a:r>
              <a:endParaRPr lang="en-US" sz="2200" dirty="0"/>
            </a:p>
          </p:txBody>
        </p:sp>
        <p:sp>
          <p:nvSpPr>
            <p:cNvPr id="33" name="Text 27">
              <a:extLst>
                <a:ext uri="{FF2B5EF4-FFF2-40B4-BE49-F238E27FC236}">
                  <a16:creationId xmlns:a16="http://schemas.microsoft.com/office/drawing/2014/main" id="{93BC7977-9D41-3FB3-AACB-E502BA75627E}"/>
                </a:ext>
              </a:extLst>
            </p:cNvPr>
            <p:cNvSpPr/>
            <p:nvPr/>
          </p:nvSpPr>
          <p:spPr>
            <a:xfrm>
              <a:off x="6454094" y="4813644"/>
              <a:ext cx="4672584" cy="1170432"/>
            </a:xfrm>
            <a:prstGeom prst="rect">
              <a:avLst/>
            </a:prstGeom>
            <a:noFill/>
            <a:ln/>
          </p:spPr>
          <p:txBody>
            <a:bodyPr wrap="square" lIns="254" tIns="254" rIns="254" bIns="254" rtlCol="0" anchor="ctr">
              <a:noAutofit/>
            </a:bodyPr>
            <a:lstStyle/>
            <a:p>
              <a:pPr marL="0" indent="0">
                <a:buNone/>
              </a:pPr>
              <a:r>
                <a:rPr lang="en-US" sz="2000" dirty="0">
                  <a:solidFill>
                    <a:srgbClr val="374151"/>
                  </a:solidFill>
                </a:rPr>
                <a:t>Label normalization is computed from training statistics only. Validation and test sets are held out for model selection and final evaluation.</a:t>
              </a:r>
              <a:endParaRPr lang="en-US" sz="2000" dirty="0"/>
            </a:p>
          </p:txBody>
        </p:sp>
      </p:grpSp>
      <p:grpSp>
        <p:nvGrpSpPr>
          <p:cNvPr id="36" name="组合 35">
            <a:extLst>
              <a:ext uri="{FF2B5EF4-FFF2-40B4-BE49-F238E27FC236}">
                <a16:creationId xmlns:a16="http://schemas.microsoft.com/office/drawing/2014/main" id="{6ED73A54-1A16-5906-F485-EFBADCB73C67}"/>
              </a:ext>
            </a:extLst>
          </p:cNvPr>
          <p:cNvGrpSpPr/>
          <p:nvPr/>
        </p:nvGrpSpPr>
        <p:grpSpPr>
          <a:xfrm>
            <a:off x="3422742" y="1611241"/>
            <a:ext cx="2351086" cy="1325880"/>
            <a:chOff x="586154" y="1600200"/>
            <a:chExt cx="2351086" cy="1325880"/>
          </a:xfrm>
        </p:grpSpPr>
        <p:sp>
          <p:nvSpPr>
            <p:cNvPr id="37" name="Shape 3">
              <a:extLst>
                <a:ext uri="{FF2B5EF4-FFF2-40B4-BE49-F238E27FC236}">
                  <a16:creationId xmlns:a16="http://schemas.microsoft.com/office/drawing/2014/main" id="{3036FC69-EE8C-0366-CFF8-A755D3DB6A7D}"/>
                </a:ext>
              </a:extLst>
            </p:cNvPr>
            <p:cNvSpPr/>
            <p:nvPr/>
          </p:nvSpPr>
          <p:spPr>
            <a:xfrm>
              <a:off x="586154" y="1600200"/>
              <a:ext cx="2351086" cy="1325880"/>
            </a:xfrm>
            <a:prstGeom prst="rect">
              <a:avLst/>
            </a:prstGeom>
            <a:solidFill>
              <a:srgbClr val="FFFFFF"/>
            </a:solidFill>
            <a:ln w="8890">
              <a:solidFill>
                <a:srgbClr val="E5E7EB"/>
              </a:solidFill>
              <a:prstDash val="solid"/>
            </a:ln>
          </p:spPr>
          <p:txBody>
            <a:bodyPr/>
            <a:lstStyle/>
            <a:p>
              <a:endParaRPr lang="zh-CN" altLang="en-US"/>
            </a:p>
          </p:txBody>
        </p:sp>
        <p:sp>
          <p:nvSpPr>
            <p:cNvPr id="38" name="Shape 4">
              <a:extLst>
                <a:ext uri="{FF2B5EF4-FFF2-40B4-BE49-F238E27FC236}">
                  <a16:creationId xmlns:a16="http://schemas.microsoft.com/office/drawing/2014/main" id="{D9C65F84-0F31-CC8F-E1E8-6E71D0A9CAD8}"/>
                </a:ext>
              </a:extLst>
            </p:cNvPr>
            <p:cNvSpPr/>
            <p:nvPr/>
          </p:nvSpPr>
          <p:spPr>
            <a:xfrm>
              <a:off x="586154" y="1619160"/>
              <a:ext cx="2351086" cy="45719"/>
            </a:xfrm>
            <a:prstGeom prst="rect">
              <a:avLst/>
            </a:prstGeom>
            <a:solidFill>
              <a:srgbClr val="059669"/>
            </a:solidFill>
            <a:ln w="12700">
              <a:solidFill>
                <a:srgbClr val="2563EB">
                  <a:alpha val="0"/>
                </a:srgbClr>
              </a:solidFill>
              <a:prstDash val="solid"/>
            </a:ln>
          </p:spPr>
          <p:txBody>
            <a:bodyPr/>
            <a:lstStyle/>
            <a:p>
              <a:endParaRPr lang="zh-CN" altLang="en-US"/>
            </a:p>
          </p:txBody>
        </p:sp>
        <p:sp>
          <p:nvSpPr>
            <p:cNvPr id="39" name="Text 5">
              <a:extLst>
                <a:ext uri="{FF2B5EF4-FFF2-40B4-BE49-F238E27FC236}">
                  <a16:creationId xmlns:a16="http://schemas.microsoft.com/office/drawing/2014/main" id="{AAB5C85C-74A6-3D63-6D8E-915D48B5D7D8}"/>
                </a:ext>
              </a:extLst>
            </p:cNvPr>
            <p:cNvSpPr/>
            <p:nvPr/>
          </p:nvSpPr>
          <p:spPr>
            <a:xfrm>
              <a:off x="799557" y="1800763"/>
              <a:ext cx="1947672" cy="331082"/>
            </a:xfrm>
            <a:prstGeom prst="rect">
              <a:avLst/>
            </a:prstGeom>
            <a:noFill/>
            <a:ln/>
          </p:spPr>
          <p:txBody>
            <a:bodyPr wrap="square" lIns="0" tIns="0" rIns="0" bIns="0" rtlCol="0" anchor="ctr"/>
            <a:lstStyle/>
            <a:p>
              <a:pPr algn="ctr"/>
              <a:r>
                <a:rPr lang="en-US" altLang="zh-CN" sz="2000" b="1" dirty="0">
                  <a:solidFill>
                    <a:srgbClr val="111827"/>
                  </a:solidFill>
                </a:rPr>
                <a:t>Energy labels</a:t>
              </a:r>
              <a:endParaRPr lang="en-US" altLang="zh-CN" sz="2000" dirty="0"/>
            </a:p>
          </p:txBody>
        </p:sp>
        <p:sp>
          <p:nvSpPr>
            <p:cNvPr id="40" name="Text 6">
              <a:extLst>
                <a:ext uri="{FF2B5EF4-FFF2-40B4-BE49-F238E27FC236}">
                  <a16:creationId xmlns:a16="http://schemas.microsoft.com/office/drawing/2014/main" id="{A3B252AB-8F04-F017-DB35-D89E3FA7079C}"/>
                </a:ext>
              </a:extLst>
            </p:cNvPr>
            <p:cNvSpPr/>
            <p:nvPr/>
          </p:nvSpPr>
          <p:spPr>
            <a:xfrm>
              <a:off x="712147" y="2178090"/>
              <a:ext cx="2122493" cy="704088"/>
            </a:xfrm>
            <a:prstGeom prst="rect">
              <a:avLst/>
            </a:prstGeom>
            <a:noFill/>
            <a:ln/>
          </p:spPr>
          <p:txBody>
            <a:bodyPr wrap="square" lIns="0" tIns="0" rIns="0" bIns="0" rtlCol="0" anchor="ctr">
              <a:noAutofit/>
            </a:bodyPr>
            <a:lstStyle/>
            <a:p>
              <a:pPr algn="ctr"/>
              <a:r>
                <a:rPr lang="en-US" altLang="zh-CN" dirty="0" err="1">
                  <a:solidFill>
                    <a:srgbClr val="374151"/>
                  </a:solidFill>
                </a:rPr>
                <a:t>Energy_AB</a:t>
              </a:r>
              <a:r>
                <a:rPr lang="en-US" altLang="zh-CN" dirty="0">
                  <a:solidFill>
                    <a:srgbClr val="374151"/>
                  </a:solidFill>
                </a:rPr>
                <a:t>, Energy_8H, </a:t>
              </a:r>
              <a:r>
                <a:rPr lang="en-US" altLang="zh-CN" dirty="0" err="1">
                  <a:solidFill>
                    <a:srgbClr val="374151"/>
                  </a:solidFill>
                </a:rPr>
                <a:t>Energy_min</a:t>
              </a:r>
              <a:endParaRPr lang="en-US" altLang="zh-CN" dirty="0"/>
            </a:p>
          </p:txBody>
        </p:sp>
      </p:grpSp>
      <p:grpSp>
        <p:nvGrpSpPr>
          <p:cNvPr id="41" name="组合 40">
            <a:extLst>
              <a:ext uri="{FF2B5EF4-FFF2-40B4-BE49-F238E27FC236}">
                <a16:creationId xmlns:a16="http://schemas.microsoft.com/office/drawing/2014/main" id="{BBB1997F-2055-513E-312B-FF8A57E28733}"/>
              </a:ext>
            </a:extLst>
          </p:cNvPr>
          <p:cNvGrpSpPr/>
          <p:nvPr/>
        </p:nvGrpSpPr>
        <p:grpSpPr>
          <a:xfrm>
            <a:off x="6393580" y="1632204"/>
            <a:ext cx="2351086" cy="1325880"/>
            <a:chOff x="586154" y="1600200"/>
            <a:chExt cx="2351086" cy="1325880"/>
          </a:xfrm>
        </p:grpSpPr>
        <p:sp>
          <p:nvSpPr>
            <p:cNvPr id="42" name="Shape 3">
              <a:extLst>
                <a:ext uri="{FF2B5EF4-FFF2-40B4-BE49-F238E27FC236}">
                  <a16:creationId xmlns:a16="http://schemas.microsoft.com/office/drawing/2014/main" id="{0B1ED503-1612-ADFF-59F0-CB261E81A86F}"/>
                </a:ext>
              </a:extLst>
            </p:cNvPr>
            <p:cNvSpPr/>
            <p:nvPr/>
          </p:nvSpPr>
          <p:spPr>
            <a:xfrm>
              <a:off x="586154" y="1600200"/>
              <a:ext cx="2351086" cy="1325880"/>
            </a:xfrm>
            <a:prstGeom prst="rect">
              <a:avLst/>
            </a:prstGeom>
            <a:solidFill>
              <a:srgbClr val="FFFFFF"/>
            </a:solidFill>
            <a:ln w="8890">
              <a:solidFill>
                <a:srgbClr val="E5E7EB"/>
              </a:solidFill>
              <a:prstDash val="solid"/>
            </a:ln>
          </p:spPr>
          <p:txBody>
            <a:bodyPr/>
            <a:lstStyle/>
            <a:p>
              <a:endParaRPr lang="zh-CN" altLang="en-US"/>
            </a:p>
          </p:txBody>
        </p:sp>
        <p:sp>
          <p:nvSpPr>
            <p:cNvPr id="43" name="Shape 4">
              <a:extLst>
                <a:ext uri="{FF2B5EF4-FFF2-40B4-BE49-F238E27FC236}">
                  <a16:creationId xmlns:a16="http://schemas.microsoft.com/office/drawing/2014/main" id="{C14148AC-7D9C-4C49-D377-116637871004}"/>
                </a:ext>
              </a:extLst>
            </p:cNvPr>
            <p:cNvSpPr/>
            <p:nvPr/>
          </p:nvSpPr>
          <p:spPr>
            <a:xfrm>
              <a:off x="586154" y="1619160"/>
              <a:ext cx="2351086" cy="45719"/>
            </a:xfrm>
            <a:prstGeom prst="rect">
              <a:avLst/>
            </a:prstGeom>
            <a:solidFill>
              <a:srgbClr val="7C3AED"/>
            </a:solidFill>
            <a:ln w="12700">
              <a:solidFill>
                <a:srgbClr val="2563EB">
                  <a:alpha val="0"/>
                </a:srgbClr>
              </a:solidFill>
              <a:prstDash val="solid"/>
            </a:ln>
          </p:spPr>
          <p:txBody>
            <a:bodyPr/>
            <a:lstStyle/>
            <a:p>
              <a:endParaRPr lang="zh-CN" altLang="en-US"/>
            </a:p>
          </p:txBody>
        </p:sp>
        <p:sp>
          <p:nvSpPr>
            <p:cNvPr id="47" name="Text 5">
              <a:extLst>
                <a:ext uri="{FF2B5EF4-FFF2-40B4-BE49-F238E27FC236}">
                  <a16:creationId xmlns:a16="http://schemas.microsoft.com/office/drawing/2014/main" id="{DD40A89F-C609-FBC5-9A22-C343040E97BC}"/>
                </a:ext>
              </a:extLst>
            </p:cNvPr>
            <p:cNvSpPr/>
            <p:nvPr/>
          </p:nvSpPr>
          <p:spPr>
            <a:xfrm>
              <a:off x="799557" y="1800763"/>
              <a:ext cx="1947672" cy="331082"/>
            </a:xfrm>
            <a:prstGeom prst="rect">
              <a:avLst/>
            </a:prstGeom>
            <a:noFill/>
            <a:ln/>
          </p:spPr>
          <p:txBody>
            <a:bodyPr wrap="square" lIns="0" tIns="0" rIns="0" bIns="0" rtlCol="0" anchor="ctr"/>
            <a:lstStyle/>
            <a:p>
              <a:pPr algn="ctr"/>
              <a:r>
                <a:rPr lang="en-US" altLang="zh-CN" sz="2000" b="1" dirty="0">
                  <a:solidFill>
                    <a:srgbClr val="111827"/>
                  </a:solidFill>
                </a:rPr>
                <a:t>Clean merge</a:t>
              </a:r>
              <a:endParaRPr lang="en-US" altLang="zh-CN" sz="2000" dirty="0"/>
            </a:p>
          </p:txBody>
        </p:sp>
        <p:sp>
          <p:nvSpPr>
            <p:cNvPr id="49" name="Text 6">
              <a:extLst>
                <a:ext uri="{FF2B5EF4-FFF2-40B4-BE49-F238E27FC236}">
                  <a16:creationId xmlns:a16="http://schemas.microsoft.com/office/drawing/2014/main" id="{DE7FD7AF-D4D2-B63B-16B2-A6270D0E4972}"/>
                </a:ext>
              </a:extLst>
            </p:cNvPr>
            <p:cNvSpPr/>
            <p:nvPr/>
          </p:nvSpPr>
          <p:spPr>
            <a:xfrm>
              <a:off x="712147" y="2178090"/>
              <a:ext cx="2122493" cy="704088"/>
            </a:xfrm>
            <a:prstGeom prst="rect">
              <a:avLst/>
            </a:prstGeom>
            <a:noFill/>
            <a:ln/>
          </p:spPr>
          <p:txBody>
            <a:bodyPr wrap="square" lIns="0" tIns="0" rIns="0" bIns="0" rtlCol="0" anchor="ctr">
              <a:noAutofit/>
            </a:bodyPr>
            <a:lstStyle/>
            <a:p>
              <a:pPr algn="ctr"/>
              <a:r>
                <a:rPr lang="en-US" altLang="zh-CN" dirty="0">
                  <a:solidFill>
                    <a:srgbClr val="374151"/>
                  </a:solidFill>
                </a:rPr>
                <a:t>Remove missing / invalid records</a:t>
              </a:r>
              <a:endParaRPr lang="en-US" altLang="zh-CN" dirty="0"/>
            </a:p>
          </p:txBody>
        </p:sp>
      </p:grpSp>
      <p:grpSp>
        <p:nvGrpSpPr>
          <p:cNvPr id="50" name="组合 49">
            <a:extLst>
              <a:ext uri="{FF2B5EF4-FFF2-40B4-BE49-F238E27FC236}">
                <a16:creationId xmlns:a16="http://schemas.microsoft.com/office/drawing/2014/main" id="{27BA7DF8-D821-0C56-73F8-34ABA8A317C6}"/>
              </a:ext>
            </a:extLst>
          </p:cNvPr>
          <p:cNvGrpSpPr/>
          <p:nvPr/>
        </p:nvGrpSpPr>
        <p:grpSpPr>
          <a:xfrm>
            <a:off x="9357573" y="1619160"/>
            <a:ext cx="2351086" cy="1325880"/>
            <a:chOff x="586154" y="1600200"/>
            <a:chExt cx="2351086" cy="1325880"/>
          </a:xfrm>
        </p:grpSpPr>
        <p:sp>
          <p:nvSpPr>
            <p:cNvPr id="51" name="Shape 3">
              <a:extLst>
                <a:ext uri="{FF2B5EF4-FFF2-40B4-BE49-F238E27FC236}">
                  <a16:creationId xmlns:a16="http://schemas.microsoft.com/office/drawing/2014/main" id="{2EDFC9C3-A424-4E12-30EA-198C9A207207}"/>
                </a:ext>
              </a:extLst>
            </p:cNvPr>
            <p:cNvSpPr/>
            <p:nvPr/>
          </p:nvSpPr>
          <p:spPr>
            <a:xfrm>
              <a:off x="586154" y="1600200"/>
              <a:ext cx="2351086" cy="1325880"/>
            </a:xfrm>
            <a:prstGeom prst="rect">
              <a:avLst/>
            </a:prstGeom>
            <a:solidFill>
              <a:srgbClr val="FFFFFF"/>
            </a:solidFill>
            <a:ln w="8890">
              <a:solidFill>
                <a:srgbClr val="E5E7EB"/>
              </a:solidFill>
              <a:prstDash val="solid"/>
            </a:ln>
          </p:spPr>
          <p:txBody>
            <a:bodyPr/>
            <a:lstStyle/>
            <a:p>
              <a:endParaRPr lang="zh-CN" altLang="en-US"/>
            </a:p>
          </p:txBody>
        </p:sp>
        <p:sp>
          <p:nvSpPr>
            <p:cNvPr id="52" name="Shape 4">
              <a:extLst>
                <a:ext uri="{FF2B5EF4-FFF2-40B4-BE49-F238E27FC236}">
                  <a16:creationId xmlns:a16="http://schemas.microsoft.com/office/drawing/2014/main" id="{C9639527-BF88-FFD8-D3EE-59019102E38F}"/>
                </a:ext>
              </a:extLst>
            </p:cNvPr>
            <p:cNvSpPr/>
            <p:nvPr/>
          </p:nvSpPr>
          <p:spPr>
            <a:xfrm>
              <a:off x="586154" y="1619160"/>
              <a:ext cx="2351086" cy="45719"/>
            </a:xfrm>
            <a:prstGeom prst="rect">
              <a:avLst/>
            </a:prstGeom>
            <a:solidFill>
              <a:srgbClr val="D97706"/>
            </a:solidFill>
            <a:ln w="12700">
              <a:solidFill>
                <a:srgbClr val="2563EB">
                  <a:alpha val="0"/>
                </a:srgbClr>
              </a:solidFill>
              <a:prstDash val="solid"/>
            </a:ln>
          </p:spPr>
          <p:txBody>
            <a:bodyPr/>
            <a:lstStyle/>
            <a:p>
              <a:endParaRPr lang="zh-CN" altLang="en-US"/>
            </a:p>
          </p:txBody>
        </p:sp>
        <p:sp>
          <p:nvSpPr>
            <p:cNvPr id="56" name="Text 5">
              <a:extLst>
                <a:ext uri="{FF2B5EF4-FFF2-40B4-BE49-F238E27FC236}">
                  <a16:creationId xmlns:a16="http://schemas.microsoft.com/office/drawing/2014/main" id="{9FBCA8DB-6803-4386-4AA3-E14F8FA6D06E}"/>
                </a:ext>
              </a:extLst>
            </p:cNvPr>
            <p:cNvSpPr/>
            <p:nvPr/>
          </p:nvSpPr>
          <p:spPr>
            <a:xfrm>
              <a:off x="799557" y="1800763"/>
              <a:ext cx="1947672" cy="331082"/>
            </a:xfrm>
            <a:prstGeom prst="rect">
              <a:avLst/>
            </a:prstGeom>
            <a:noFill/>
            <a:ln/>
          </p:spPr>
          <p:txBody>
            <a:bodyPr wrap="square" lIns="0" tIns="0" rIns="0" bIns="0" rtlCol="0" anchor="ctr"/>
            <a:lstStyle/>
            <a:p>
              <a:pPr algn="ctr"/>
              <a:r>
                <a:rPr lang="en-US" altLang="zh-CN" sz="2000" b="1" dirty="0">
                  <a:solidFill>
                    <a:srgbClr val="111827"/>
                  </a:solidFill>
                </a:rPr>
                <a:t>Split / tokenize</a:t>
              </a:r>
              <a:endParaRPr lang="en-US" altLang="zh-CN" sz="2000" dirty="0"/>
            </a:p>
          </p:txBody>
        </p:sp>
        <p:sp>
          <p:nvSpPr>
            <p:cNvPr id="59" name="Text 6">
              <a:extLst>
                <a:ext uri="{FF2B5EF4-FFF2-40B4-BE49-F238E27FC236}">
                  <a16:creationId xmlns:a16="http://schemas.microsoft.com/office/drawing/2014/main" id="{7F30EA17-858C-C7DA-384D-64F5321F44EA}"/>
                </a:ext>
              </a:extLst>
            </p:cNvPr>
            <p:cNvSpPr/>
            <p:nvPr/>
          </p:nvSpPr>
          <p:spPr>
            <a:xfrm>
              <a:off x="712147" y="2178090"/>
              <a:ext cx="2122493" cy="704088"/>
            </a:xfrm>
            <a:prstGeom prst="rect">
              <a:avLst/>
            </a:prstGeom>
            <a:noFill/>
            <a:ln/>
          </p:spPr>
          <p:txBody>
            <a:bodyPr wrap="square" lIns="0" tIns="0" rIns="0" bIns="0" rtlCol="0" anchor="ctr">
              <a:noAutofit/>
            </a:bodyPr>
            <a:lstStyle/>
            <a:p>
              <a:pPr algn="ctr"/>
              <a:r>
                <a:rPr lang="en-US" altLang="zh-CN" dirty="0">
                  <a:solidFill>
                    <a:srgbClr val="374151"/>
                  </a:solidFill>
                </a:rPr>
                <a:t>Train-</a:t>
              </a:r>
              <a:r>
                <a:rPr lang="en-US" altLang="zh-CN" dirty="0" err="1">
                  <a:solidFill>
                    <a:srgbClr val="374151"/>
                  </a:solidFill>
                </a:rPr>
                <a:t>val</a:t>
              </a:r>
              <a:r>
                <a:rPr lang="en-US" altLang="zh-CN" dirty="0">
                  <a:solidFill>
                    <a:srgbClr val="374151"/>
                  </a:solidFill>
                </a:rPr>
                <a:t>-test + </a:t>
              </a:r>
              <a:r>
                <a:rPr lang="en-US" altLang="zh-CN" dirty="0" err="1">
                  <a:solidFill>
                    <a:srgbClr val="374151"/>
                  </a:solidFill>
                </a:rPr>
                <a:t>ChemBERTa</a:t>
              </a:r>
              <a:r>
                <a:rPr lang="en-US" altLang="zh-CN" dirty="0">
                  <a:solidFill>
                    <a:srgbClr val="374151"/>
                  </a:solidFill>
                </a:rPr>
                <a:t> tokenizer</a:t>
              </a:r>
              <a:endParaRPr lang="en-US" altLang="zh-CN" dirty="0"/>
            </a:p>
          </p:txBody>
        </p:sp>
      </p:grpSp>
      <p:sp>
        <p:nvSpPr>
          <p:cNvPr id="79" name="Shape 7">
            <a:extLst>
              <a:ext uri="{FF2B5EF4-FFF2-40B4-BE49-F238E27FC236}">
                <a16:creationId xmlns:a16="http://schemas.microsoft.com/office/drawing/2014/main" id="{289A9E46-CCD4-56DE-CF6E-5E47B8A9C727}"/>
              </a:ext>
            </a:extLst>
          </p:cNvPr>
          <p:cNvSpPr/>
          <p:nvPr/>
        </p:nvSpPr>
        <p:spPr>
          <a:xfrm>
            <a:off x="5861816" y="2282100"/>
            <a:ext cx="468367" cy="0"/>
          </a:xfrm>
          <a:prstGeom prst="line">
            <a:avLst/>
          </a:prstGeom>
          <a:ln w="38100">
            <a:solidFill>
              <a:schemeClr val="bg1">
                <a:lumMod val="65000"/>
              </a:schemeClr>
            </a:solidFill>
            <a:tailEnd type="triangle"/>
          </a:ln>
        </p:spPr>
        <p:style>
          <a:lnRef idx="1">
            <a:schemeClr val="accent6"/>
          </a:lnRef>
          <a:fillRef idx="0">
            <a:schemeClr val="accent6"/>
          </a:fillRef>
          <a:effectRef idx="0">
            <a:schemeClr val="accent6"/>
          </a:effectRef>
          <a:fontRef idx="minor">
            <a:schemeClr val="tx1"/>
          </a:fontRef>
        </p:style>
        <p:txBody>
          <a:bodyPr/>
          <a:lstStyle/>
          <a:p>
            <a:endParaRPr lang="zh-CN" altLang="en-US"/>
          </a:p>
        </p:txBody>
      </p:sp>
      <p:sp>
        <p:nvSpPr>
          <p:cNvPr id="81" name="Shape 7">
            <a:extLst>
              <a:ext uri="{FF2B5EF4-FFF2-40B4-BE49-F238E27FC236}">
                <a16:creationId xmlns:a16="http://schemas.microsoft.com/office/drawing/2014/main" id="{15468D97-3436-F9DF-CFAD-6ED2AAAA6F6C}"/>
              </a:ext>
            </a:extLst>
          </p:cNvPr>
          <p:cNvSpPr/>
          <p:nvPr/>
        </p:nvSpPr>
        <p:spPr>
          <a:xfrm>
            <a:off x="8790386" y="2295144"/>
            <a:ext cx="468367" cy="0"/>
          </a:xfrm>
          <a:prstGeom prst="line">
            <a:avLst/>
          </a:prstGeom>
          <a:ln w="38100">
            <a:solidFill>
              <a:schemeClr val="bg1">
                <a:lumMod val="65000"/>
              </a:schemeClr>
            </a:solidFill>
            <a:tailEnd type="triangle"/>
          </a:ln>
        </p:spPr>
        <p:style>
          <a:lnRef idx="1">
            <a:schemeClr val="accent6"/>
          </a:lnRef>
          <a:fillRef idx="0">
            <a:schemeClr val="accent6"/>
          </a:fillRef>
          <a:effectRef idx="0">
            <a:schemeClr val="accent6"/>
          </a:effectRef>
          <a:fontRef idx="minor">
            <a:schemeClr val="tx1"/>
          </a:fontRef>
        </p:style>
        <p:txBody>
          <a:bodyPr/>
          <a:lstStyle/>
          <a:p>
            <a:endParaRPr lang="zh-CN" altLang="en-US"/>
          </a:p>
        </p:txBody>
      </p:sp>
      <p:sp>
        <p:nvSpPr>
          <p:cNvPr id="82" name="灯片编号占位符 21">
            <a:extLst>
              <a:ext uri="{FF2B5EF4-FFF2-40B4-BE49-F238E27FC236}">
                <a16:creationId xmlns:a16="http://schemas.microsoft.com/office/drawing/2014/main" id="{04EA0893-3746-3542-7643-1E5AF8CD06C5}"/>
              </a:ext>
            </a:extLst>
          </p:cNvPr>
          <p:cNvSpPr>
            <a:spLocks noGrp="1"/>
          </p:cNvSpPr>
          <p:nvPr>
            <p:ph type="sldNum" sz="quarter" idx="12"/>
          </p:nvPr>
        </p:nvSpPr>
        <p:spPr>
          <a:xfrm>
            <a:off x="9355756" y="6356350"/>
            <a:ext cx="2743200" cy="365125"/>
          </a:xfrm>
        </p:spPr>
        <p:txBody>
          <a:bodyPr/>
          <a:lstStyle/>
          <a:p>
            <a:r>
              <a:rPr sz="1200">
                <a:latin typeface="Arial"/>
              </a:rPr>
              <a:t>7</a:t>
            </a:r>
          </a:p>
        </p:txBody>
      </p:sp>
      <p:sp>
        <p:nvSpPr>
          <p:cNvPr id="2" name="矩形 1">
            <a:extLst>
              <a:ext uri="{FF2B5EF4-FFF2-40B4-BE49-F238E27FC236}">
                <a16:creationId xmlns:a16="http://schemas.microsoft.com/office/drawing/2014/main" id="{1B5DE101-7AEA-279E-7244-43FE651C93B0}"/>
              </a:ext>
            </a:extLst>
          </p:cNvPr>
          <p:cNvSpPr/>
          <p:nvPr/>
        </p:nvSpPr>
        <p:spPr>
          <a:xfrm>
            <a:off x="392004" y="3281514"/>
            <a:ext cx="6120000" cy="227750"/>
          </a:xfrm>
          <a:prstGeom prst="rect">
            <a:avLst/>
          </a:prstGeom>
          <a:solidFill>
            <a:srgbClr val="F8CAAE"/>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D7317E31-6623-45B6-247E-5993A1409A3E}"/>
              </a:ext>
            </a:extLst>
          </p:cNvPr>
          <p:cNvSpPr/>
          <p:nvPr/>
        </p:nvSpPr>
        <p:spPr>
          <a:xfrm>
            <a:off x="5585594" y="3281514"/>
            <a:ext cx="918000" cy="227750"/>
          </a:xfrm>
          <a:prstGeom prst="rect">
            <a:avLst/>
          </a:prstGeom>
          <a:solidFill>
            <a:srgbClr val="DDE6F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0A2A0A2-D76E-EFA9-CF57-D31F57CA46A3}"/>
              </a:ext>
            </a:extLst>
          </p:cNvPr>
          <p:cNvSpPr/>
          <p:nvPr/>
        </p:nvSpPr>
        <p:spPr>
          <a:xfrm>
            <a:off x="4667594" y="3281514"/>
            <a:ext cx="918000" cy="227750"/>
          </a:xfrm>
          <a:prstGeom prst="rect">
            <a:avLst/>
          </a:prstGeom>
          <a:solidFill>
            <a:srgbClr val="F6D8D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86125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1C01-B0C5-CC8B-28BA-1E82A72BC98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CB493D4-22A7-3096-F357-0E93B6AC961A}"/>
              </a:ext>
            </a:extLst>
          </p:cNvPr>
          <p:cNvSpPr>
            <a:spLocks noGrp="1"/>
          </p:cNvSpPr>
          <p:nvPr>
            <p:ph type="sldNum" sz="quarter" idx="12"/>
          </p:nvPr>
        </p:nvSpPr>
        <p:spPr/>
        <p:txBody>
          <a:bodyPr/>
          <a:lstStyle/>
          <a:p>
            <a:r>
              <a:rPr sz="1200">
                <a:latin typeface="Arial"/>
              </a:rPr>
              <a:t>8</a:t>
            </a:r>
          </a:p>
        </p:txBody>
      </p:sp>
      <p:sp>
        <p:nvSpPr>
          <p:cNvPr id="5" name="文本框 4">
            <a:extLst>
              <a:ext uri="{FF2B5EF4-FFF2-40B4-BE49-F238E27FC236}">
                <a16:creationId xmlns:a16="http://schemas.microsoft.com/office/drawing/2014/main" id="{DA9DBDE8-7A5B-1970-463E-C4E2740A1C8B}"/>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Outline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84EED417-A9C3-0D6C-D507-9A9A79FC7ACF}"/>
              </a:ext>
            </a:extLst>
          </p:cNvPr>
          <p:cNvSpPr txBox="1"/>
          <p:nvPr/>
        </p:nvSpPr>
        <p:spPr>
          <a:xfrm>
            <a:off x="1666714" y="1268760"/>
            <a:ext cx="8856984" cy="3970318"/>
          </a:xfrm>
          <a:prstGeom prst="rect">
            <a:avLst/>
          </a:prstGeom>
          <a:noFill/>
        </p:spPr>
        <p:txBody>
          <a:bodyPr wrap="square">
            <a:spAutoFit/>
          </a:bodyPr>
          <a:lstStyle/>
          <a:p>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a:t>
            </a:r>
            <a:r>
              <a:rPr lang="en-US" altLang="zh-CN" sz="2800" b="1" dirty="0">
                <a:ea typeface="Segoe UI Black" panose="020B0A02040204020203" pitchFamily="34" charset="0"/>
              </a:rPr>
              <a:t>Background and data processing</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r>
              <a:rPr lang="en-US" altLang="zh-CN" sz="2800" b="1" dirty="0">
                <a:solidFill>
                  <a:schemeClr val="accent1"/>
                </a:solidFill>
                <a:ea typeface="微软雅黑" panose="020B0503020204020204" pitchFamily="34" charset="-122"/>
                <a:cs typeface="Arial" panose="020B0604020202020204" pitchFamily="34" charset="0"/>
              </a:rPr>
              <a:t>   M</a:t>
            </a:r>
            <a:r>
              <a:rPr lang="en-US" altLang="zh-CN" sz="2800" b="1" dirty="0">
                <a:solidFill>
                  <a:schemeClr val="accent1"/>
                </a:solidFill>
              </a:rPr>
              <a:t>odel and training strategy</a:t>
            </a:r>
            <a:endParaRPr lang="en-US" altLang="zh-CN" sz="2800" b="1" dirty="0">
              <a:solidFill>
                <a:schemeClr val="accent1"/>
              </a:solidFill>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Results and mechanistic analysis</a:t>
            </a: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Special cases, attention, limitations</a:t>
            </a:r>
            <a:endParaRPr lang="en-US" altLang="zh-CN" sz="2800" dirty="0"/>
          </a:p>
          <a:p>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p:txBody>
      </p:sp>
    </p:spTree>
    <p:extLst>
      <p:ext uri="{BB962C8B-B14F-4D97-AF65-F5344CB8AC3E}">
        <p14:creationId xmlns:p14="http://schemas.microsoft.com/office/powerpoint/2010/main" val="1042149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9A626-F011-7111-90AB-736D91FC9F5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6EBBCFE-73C4-CDC7-A0BD-6B431A6E8C0B}"/>
              </a:ext>
            </a:extLst>
          </p:cNvPr>
          <p:cNvSpPr>
            <a:spLocks noGrp="1"/>
          </p:cNvSpPr>
          <p:nvPr>
            <p:ph type="sldNum" sz="quarter" idx="12"/>
          </p:nvPr>
        </p:nvSpPr>
        <p:spPr/>
        <p:txBody>
          <a:bodyPr/>
          <a:lstStyle/>
          <a:p>
            <a:r>
              <a:rPr sz="1200">
                <a:latin typeface="Arial"/>
              </a:rPr>
              <a:t>13</a:t>
            </a:r>
          </a:p>
        </p:txBody>
      </p:sp>
      <p:sp>
        <p:nvSpPr>
          <p:cNvPr id="5" name="文本框 4">
            <a:extLst>
              <a:ext uri="{FF2B5EF4-FFF2-40B4-BE49-F238E27FC236}">
                <a16:creationId xmlns:a16="http://schemas.microsoft.com/office/drawing/2014/main" id="{1EEFD76B-FF6C-119C-2F63-355DDC91427C}"/>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Outline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439E9F68-2225-76D9-4CAF-924A7268FC59}"/>
              </a:ext>
            </a:extLst>
          </p:cNvPr>
          <p:cNvSpPr txBox="1"/>
          <p:nvPr/>
        </p:nvSpPr>
        <p:spPr>
          <a:xfrm>
            <a:off x="1666714" y="1268760"/>
            <a:ext cx="8856984" cy="3970318"/>
          </a:xfrm>
          <a:prstGeom prst="rect">
            <a:avLst/>
          </a:prstGeom>
          <a:noFill/>
        </p:spPr>
        <p:txBody>
          <a:bodyPr wrap="square">
            <a:spAutoFit/>
          </a:bodyPr>
          <a:lstStyle/>
          <a:p>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a:t>
            </a:r>
            <a:r>
              <a:rPr lang="en-US" altLang="zh-CN" sz="2800" b="1" dirty="0">
                <a:ea typeface="Segoe UI Black" panose="020B0A02040204020203" pitchFamily="34" charset="0"/>
              </a:rPr>
              <a:t>Background and data processing</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M</a:t>
            </a:r>
            <a:r>
              <a:rPr lang="en-US" altLang="zh-CN" sz="2800" b="1" dirty="0">
                <a:solidFill>
                  <a:srgbClr val="111827"/>
                </a:solidFill>
              </a:rPr>
              <a:t>odel and training strategy</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solidFill>
                  <a:schemeClr val="accent1"/>
                </a:solidFill>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chemeClr val="accent1"/>
                </a:solidFill>
              </a:rPr>
              <a:t>Results and mechanistic analysis</a:t>
            </a:r>
            <a:endParaRPr lang="en-US" altLang="zh-CN" sz="2800" b="1" dirty="0">
              <a:solidFill>
                <a:schemeClr val="accent1"/>
              </a:solidFill>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Special cases, attention, limitations</a:t>
            </a:r>
            <a:endParaRPr lang="en-US" altLang="zh-CN" sz="2800" dirty="0"/>
          </a:p>
          <a:p>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p:txBody>
      </p:sp>
    </p:spTree>
    <p:extLst>
      <p:ext uri="{BB962C8B-B14F-4D97-AF65-F5344CB8AC3E}">
        <p14:creationId xmlns:p14="http://schemas.microsoft.com/office/powerpoint/2010/main" val="2052836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C298653-65A2-ABDA-D59E-8041C40F09F7}"/>
              </a:ext>
            </a:extLst>
          </p:cNvPr>
          <p:cNvSpPr>
            <a:spLocks noGrp="1"/>
          </p:cNvSpPr>
          <p:nvPr>
            <p:ph type="sldNum" sz="quarter" idx="12"/>
          </p:nvPr>
        </p:nvSpPr>
        <p:spPr/>
        <p:txBody>
          <a:bodyPr/>
          <a:lstStyle/>
          <a:p>
            <a:r>
              <a:rPr sz="1200">
                <a:latin typeface="Arial"/>
              </a:rPr>
              <a:t>14</a:t>
            </a:r>
          </a:p>
        </p:txBody>
      </p:sp>
      <p:sp>
        <p:nvSpPr>
          <p:cNvPr id="3" name="文本框 2">
            <a:extLst>
              <a:ext uri="{FF2B5EF4-FFF2-40B4-BE49-F238E27FC236}">
                <a16:creationId xmlns:a16="http://schemas.microsoft.com/office/drawing/2014/main" id="{5F5835C6-8C2E-DE48-4F78-C1B30B54CFC7}"/>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Four Main Experiment Results</a:t>
            </a:r>
          </a:p>
        </p:txBody>
      </p:sp>
      <p:grpSp>
        <p:nvGrpSpPr>
          <p:cNvPr id="27" name="组合 26">
            <a:extLst>
              <a:ext uri="{FF2B5EF4-FFF2-40B4-BE49-F238E27FC236}">
                <a16:creationId xmlns:a16="http://schemas.microsoft.com/office/drawing/2014/main" id="{FDE89569-1009-EF58-4BCA-DCB8B9733C01}"/>
              </a:ext>
            </a:extLst>
          </p:cNvPr>
          <p:cNvGrpSpPr/>
          <p:nvPr/>
        </p:nvGrpSpPr>
        <p:grpSpPr>
          <a:xfrm>
            <a:off x="881260" y="4836208"/>
            <a:ext cx="10429479" cy="1663519"/>
            <a:chOff x="1280160" y="5108446"/>
            <a:chExt cx="9692640" cy="1613028"/>
          </a:xfrm>
        </p:grpSpPr>
        <p:sp>
          <p:nvSpPr>
            <p:cNvPr id="23" name="Shape 4">
              <a:extLst>
                <a:ext uri="{FF2B5EF4-FFF2-40B4-BE49-F238E27FC236}">
                  <a16:creationId xmlns:a16="http://schemas.microsoft.com/office/drawing/2014/main" id="{100BD50B-6356-E655-849D-0465B179EE8E}"/>
                </a:ext>
              </a:extLst>
            </p:cNvPr>
            <p:cNvSpPr/>
            <p:nvPr/>
          </p:nvSpPr>
          <p:spPr>
            <a:xfrm>
              <a:off x="1280160" y="5108447"/>
              <a:ext cx="9692640" cy="1613027"/>
            </a:xfrm>
            <a:prstGeom prst="roundRect">
              <a:avLst>
                <a:gd name="adj" fmla="val 6154"/>
              </a:avLst>
            </a:prstGeom>
            <a:solidFill>
              <a:srgbClr val="FFFFFF"/>
            </a:solidFill>
            <a:ln w="10160">
              <a:solidFill>
                <a:srgbClr val="D1D5DB"/>
              </a:solidFill>
              <a:prstDash val="solid"/>
            </a:ln>
          </p:spPr>
          <p:txBody>
            <a:bodyPr/>
            <a:lstStyle/>
            <a:p>
              <a:endParaRPr lang="en-US"/>
            </a:p>
          </p:txBody>
        </p:sp>
        <p:sp>
          <p:nvSpPr>
            <p:cNvPr id="24" name="Shape 5">
              <a:extLst>
                <a:ext uri="{FF2B5EF4-FFF2-40B4-BE49-F238E27FC236}">
                  <a16:creationId xmlns:a16="http://schemas.microsoft.com/office/drawing/2014/main" id="{0F366AD7-859B-952E-95F1-850AB71AFF08}"/>
                </a:ext>
              </a:extLst>
            </p:cNvPr>
            <p:cNvSpPr/>
            <p:nvPr/>
          </p:nvSpPr>
          <p:spPr>
            <a:xfrm>
              <a:off x="1280160" y="5108446"/>
              <a:ext cx="48768" cy="1585596"/>
            </a:xfrm>
            <a:prstGeom prst="rect">
              <a:avLst/>
            </a:prstGeom>
            <a:solidFill>
              <a:srgbClr val="047857"/>
            </a:solidFill>
            <a:ln w="12700">
              <a:solidFill>
                <a:srgbClr val="047857">
                  <a:alpha val="0"/>
                </a:srgbClr>
              </a:solidFill>
              <a:prstDash val="solid"/>
            </a:ln>
          </p:spPr>
          <p:txBody>
            <a:bodyPr/>
            <a:lstStyle/>
            <a:p>
              <a:endParaRPr lang="en-US"/>
            </a:p>
          </p:txBody>
        </p:sp>
        <p:sp>
          <p:nvSpPr>
            <p:cNvPr id="25" name="Text 6">
              <a:extLst>
                <a:ext uri="{FF2B5EF4-FFF2-40B4-BE49-F238E27FC236}">
                  <a16:creationId xmlns:a16="http://schemas.microsoft.com/office/drawing/2014/main" id="{54009F2C-4560-3AD8-1FFC-BEAD3E07F3AE}"/>
                </a:ext>
              </a:extLst>
            </p:cNvPr>
            <p:cNvSpPr/>
            <p:nvPr/>
          </p:nvSpPr>
          <p:spPr>
            <a:xfrm>
              <a:off x="1539240" y="5221224"/>
              <a:ext cx="9372600" cy="438912"/>
            </a:xfrm>
            <a:prstGeom prst="rect">
              <a:avLst/>
            </a:prstGeom>
            <a:noFill/>
            <a:ln/>
          </p:spPr>
          <p:txBody>
            <a:bodyPr wrap="square" lIns="0" tIns="0" rIns="0" bIns="0" rtlCol="0" anchor="ctr"/>
            <a:lstStyle/>
            <a:p>
              <a:pPr marL="0" indent="0">
                <a:buNone/>
              </a:pPr>
              <a:r>
                <a:rPr lang="en-US" sz="2000" b="1" dirty="0">
                  <a:solidFill>
                    <a:srgbClr val="111827"/>
                  </a:solidFill>
                </a:rPr>
                <a:t>Main result</a:t>
              </a:r>
              <a:endParaRPr lang="en-US" sz="2000" dirty="0"/>
            </a:p>
          </p:txBody>
        </p:sp>
        <p:sp>
          <p:nvSpPr>
            <p:cNvPr id="26" name="Text 7">
              <a:extLst>
                <a:ext uri="{FF2B5EF4-FFF2-40B4-BE49-F238E27FC236}">
                  <a16:creationId xmlns:a16="http://schemas.microsoft.com/office/drawing/2014/main" id="{230C807B-5161-5D42-B1DA-0A3F60D56760}"/>
                </a:ext>
              </a:extLst>
            </p:cNvPr>
            <p:cNvSpPr/>
            <p:nvPr/>
          </p:nvSpPr>
          <p:spPr>
            <a:xfrm>
              <a:off x="1530096" y="5745480"/>
              <a:ext cx="9381744" cy="780899"/>
            </a:xfrm>
            <a:prstGeom prst="rect">
              <a:avLst/>
            </a:prstGeom>
            <a:noFill/>
            <a:ln/>
          </p:spPr>
          <p:txBody>
            <a:bodyPr wrap="square" lIns="254" tIns="254" rIns="254" bIns="254" rtlCol="0" anchor="t">
              <a:noAutofit/>
            </a:bodyPr>
            <a:lstStyle/>
            <a:p>
              <a:pPr marL="0" indent="0" algn="l">
                <a:buNone/>
              </a:pPr>
              <a:r>
                <a:rPr lang="en-US" dirty="0">
                  <a:solidFill>
                    <a:srgbClr val="374151"/>
                  </a:solidFill>
                </a:rPr>
                <a:t>Aug + Two-stage achieves the lowest RMSE and MAE and the highest R² among the controlled CV experiments. The final method is not just the best average result. It improves both accuracy and robustness across folds</a:t>
              </a:r>
              <a:endParaRPr lang="en-US" dirty="0"/>
            </a:p>
          </p:txBody>
        </p:sp>
      </p:grpSp>
      <p:sp>
        <p:nvSpPr>
          <p:cNvPr id="5" name="文本框 4">
            <a:extLst>
              <a:ext uri="{FF2B5EF4-FFF2-40B4-BE49-F238E27FC236}">
                <a16:creationId xmlns:a16="http://schemas.microsoft.com/office/drawing/2014/main" id="{804972FC-A16A-E9B6-73F0-B022202BE2A9}"/>
              </a:ext>
            </a:extLst>
          </p:cNvPr>
          <p:cNvSpPr txBox="1"/>
          <p:nvPr/>
        </p:nvSpPr>
        <p:spPr>
          <a:xfrm>
            <a:off x="252529" y="1077040"/>
            <a:ext cx="8468683" cy="400110"/>
          </a:xfrm>
          <a:prstGeom prst="rect">
            <a:avLst/>
          </a:prstGeom>
          <a:noFill/>
        </p:spPr>
        <p:txBody>
          <a:bodyPr wrap="square">
            <a:spAutoFit/>
          </a:bodyPr>
          <a:lstStyle/>
          <a:p>
            <a:pPr>
              <a:defRPr sz="1150">
                <a:solidFill>
                  <a:srgbClr val="64748B"/>
                </a:solidFill>
              </a:defRPr>
            </a:pPr>
            <a:r>
              <a:rPr lang="en-US" altLang="zh-CN" sz="2000" dirty="0"/>
              <a:t>Four controlled methods evaluated over 15 runs each (3 seeds × 5 folds).</a:t>
            </a:r>
          </a:p>
        </p:txBody>
      </p:sp>
      <p:graphicFrame>
        <p:nvGraphicFramePr>
          <p:cNvPr id="6" name="Table 5">
            <a:extLst>
              <a:ext uri="{FF2B5EF4-FFF2-40B4-BE49-F238E27FC236}">
                <a16:creationId xmlns:a16="http://schemas.microsoft.com/office/drawing/2014/main" id="{C09C21C2-73E2-2AC4-637E-22EB86312918}"/>
              </a:ext>
            </a:extLst>
          </p:cNvPr>
          <p:cNvGraphicFramePr>
            <a:graphicFrameLocks noGrp="1"/>
          </p:cNvGraphicFramePr>
          <p:nvPr>
            <p:extLst>
              <p:ext uri="{D42A27DB-BD31-4B8C-83A1-F6EECF244321}">
                <p14:modId xmlns:p14="http://schemas.microsoft.com/office/powerpoint/2010/main" val="4056438784"/>
              </p:ext>
            </p:extLst>
          </p:nvPr>
        </p:nvGraphicFramePr>
        <p:xfrm>
          <a:off x="5773479" y="1633591"/>
          <a:ext cx="6325481" cy="2721814"/>
        </p:xfrm>
        <a:graphic>
          <a:graphicData uri="http://schemas.openxmlformats.org/drawingml/2006/table">
            <a:tbl>
              <a:tblPr firstRow="1" bandRow="1">
                <a:effectLst/>
                <a:tableStyleId>{5C22544A-7EE6-4342-B048-85BDC9FD1C3A}</a:tableStyleId>
              </a:tblPr>
              <a:tblGrid>
                <a:gridCol w="1788301">
                  <a:extLst>
                    <a:ext uri="{9D8B030D-6E8A-4147-A177-3AD203B41FA5}">
                      <a16:colId xmlns:a16="http://schemas.microsoft.com/office/drawing/2014/main" val="20000"/>
                    </a:ext>
                  </a:extLst>
                </a:gridCol>
                <a:gridCol w="1510301">
                  <a:extLst>
                    <a:ext uri="{9D8B030D-6E8A-4147-A177-3AD203B41FA5}">
                      <a16:colId xmlns:a16="http://schemas.microsoft.com/office/drawing/2014/main" val="20001"/>
                    </a:ext>
                  </a:extLst>
                </a:gridCol>
                <a:gridCol w="1520575">
                  <a:extLst>
                    <a:ext uri="{9D8B030D-6E8A-4147-A177-3AD203B41FA5}">
                      <a16:colId xmlns:a16="http://schemas.microsoft.com/office/drawing/2014/main" val="20002"/>
                    </a:ext>
                  </a:extLst>
                </a:gridCol>
                <a:gridCol w="1506304">
                  <a:extLst>
                    <a:ext uri="{9D8B030D-6E8A-4147-A177-3AD203B41FA5}">
                      <a16:colId xmlns:a16="http://schemas.microsoft.com/office/drawing/2014/main" val="20003"/>
                    </a:ext>
                  </a:extLst>
                </a:gridCol>
              </a:tblGrid>
              <a:tr h="412802">
                <a:tc>
                  <a:txBody>
                    <a:bodyPr/>
                    <a:lstStyle/>
                    <a:p>
                      <a:pPr algn="l">
                        <a:defRPr sz="1100" b="1">
                          <a:solidFill>
                            <a:srgbClr val="FFFFFF"/>
                          </a:solidFill>
                        </a:defRPr>
                      </a:pPr>
                      <a:r>
                        <a:rPr sz="1600" dirty="0"/>
                        <a:t>Method</a:t>
                      </a:r>
                    </a:p>
                  </a:txBody>
                  <a:tcPr marL="36576" marR="36576" marT="18288" marB="18288" anchor="ctr">
                    <a:solidFill>
                      <a:srgbClr val="043763"/>
                    </a:solidFill>
                  </a:tcPr>
                </a:tc>
                <a:tc>
                  <a:txBody>
                    <a:bodyPr/>
                    <a:lstStyle/>
                    <a:p>
                      <a:pPr algn="ctr">
                        <a:defRPr sz="1100" b="1">
                          <a:solidFill>
                            <a:srgbClr val="FFFFFF"/>
                          </a:solidFill>
                        </a:defRPr>
                      </a:pPr>
                      <a:r>
                        <a:rPr sz="1600" dirty="0"/>
                        <a:t>RMSE ↓</a:t>
                      </a:r>
                    </a:p>
                  </a:txBody>
                  <a:tcPr marL="36576" marR="36576" marT="18288" marB="18288" anchor="ctr">
                    <a:solidFill>
                      <a:srgbClr val="043763"/>
                    </a:solidFill>
                  </a:tcPr>
                </a:tc>
                <a:tc>
                  <a:txBody>
                    <a:bodyPr/>
                    <a:lstStyle/>
                    <a:p>
                      <a:pPr algn="ctr">
                        <a:defRPr sz="1100" b="1">
                          <a:solidFill>
                            <a:srgbClr val="FFFFFF"/>
                          </a:solidFill>
                        </a:defRPr>
                      </a:pPr>
                      <a:r>
                        <a:rPr sz="1600"/>
                        <a:t>MAE ↓</a:t>
                      </a:r>
                    </a:p>
                  </a:txBody>
                  <a:tcPr marL="36576" marR="36576" marT="18288" marB="18288" anchor="ctr">
                    <a:solidFill>
                      <a:srgbClr val="043763"/>
                    </a:solidFill>
                  </a:tcPr>
                </a:tc>
                <a:tc>
                  <a:txBody>
                    <a:bodyPr/>
                    <a:lstStyle/>
                    <a:p>
                      <a:pPr algn="ctr">
                        <a:defRPr sz="1100" b="1">
                          <a:solidFill>
                            <a:srgbClr val="FFFFFF"/>
                          </a:solidFill>
                        </a:defRPr>
                      </a:pPr>
                      <a:r>
                        <a:rPr sz="1600" dirty="0"/>
                        <a:t>R² ↑</a:t>
                      </a:r>
                    </a:p>
                  </a:txBody>
                  <a:tcPr marL="36576" marR="36576" marT="18288" marB="18288" anchor="ctr">
                    <a:solidFill>
                      <a:srgbClr val="043763"/>
                    </a:solidFill>
                  </a:tcPr>
                </a:tc>
                <a:extLst>
                  <a:ext uri="{0D108BD9-81ED-4DB2-BD59-A6C34878D82A}">
                    <a16:rowId xmlns:a16="http://schemas.microsoft.com/office/drawing/2014/main" val="10000"/>
                  </a:ext>
                </a:extLst>
              </a:tr>
              <a:tr h="577253">
                <a:tc>
                  <a:txBody>
                    <a:bodyPr/>
                    <a:lstStyle/>
                    <a:p>
                      <a:pPr algn="l">
                        <a:defRPr sz="1050" b="0">
                          <a:solidFill>
                            <a:srgbClr val="1E293B"/>
                          </a:solidFill>
                        </a:defRPr>
                      </a:pPr>
                      <a:r>
                        <a:rPr sz="1600" dirty="0"/>
                        <a:t>No Aug + Two-stage</a:t>
                      </a:r>
                    </a:p>
                  </a:txBody>
                  <a:tcPr marL="36576" marR="36576" marT="18288" marB="18288" anchor="ctr">
                    <a:solidFill>
                      <a:srgbClr val="FFFFFF"/>
                    </a:solidFill>
                  </a:tcPr>
                </a:tc>
                <a:tc>
                  <a:txBody>
                    <a:bodyPr/>
                    <a:lstStyle/>
                    <a:p>
                      <a:pPr algn="ctr">
                        <a:defRPr sz="1050" b="0">
                          <a:solidFill>
                            <a:srgbClr val="1E293B"/>
                          </a:solidFill>
                        </a:defRPr>
                      </a:pPr>
                      <a:r>
                        <a:rPr sz="1600" dirty="0"/>
                        <a:t>0.1507 ± 0.0169</a:t>
                      </a:r>
                    </a:p>
                  </a:txBody>
                  <a:tcPr marL="36576" marR="36576" marT="18288" marB="18288" anchor="ctr">
                    <a:solidFill>
                      <a:srgbClr val="FFFFFF"/>
                    </a:solidFill>
                  </a:tcPr>
                </a:tc>
                <a:tc>
                  <a:txBody>
                    <a:bodyPr/>
                    <a:lstStyle/>
                    <a:p>
                      <a:pPr algn="ctr">
                        <a:defRPr sz="1050" b="0">
                          <a:solidFill>
                            <a:srgbClr val="1E293B"/>
                          </a:solidFill>
                        </a:defRPr>
                      </a:pPr>
                      <a:r>
                        <a:rPr sz="1600"/>
                        <a:t>0.1182 ± 0.0137</a:t>
                      </a:r>
                    </a:p>
                  </a:txBody>
                  <a:tcPr marL="36576" marR="36576" marT="18288" marB="18288" anchor="ctr">
                    <a:solidFill>
                      <a:srgbClr val="FFFFFF"/>
                    </a:solidFill>
                  </a:tcPr>
                </a:tc>
                <a:tc>
                  <a:txBody>
                    <a:bodyPr/>
                    <a:lstStyle/>
                    <a:p>
                      <a:pPr algn="ctr">
                        <a:defRPr sz="1050" b="0">
                          <a:solidFill>
                            <a:srgbClr val="1E293B"/>
                          </a:solidFill>
                        </a:defRPr>
                      </a:pPr>
                      <a:r>
                        <a:rPr sz="1600" dirty="0"/>
                        <a:t>0.4020 ± 0.1972</a:t>
                      </a:r>
                    </a:p>
                  </a:txBody>
                  <a:tcPr marL="36576" marR="36576" marT="18288" marB="18288" anchor="ctr">
                    <a:solidFill>
                      <a:srgbClr val="FFFFFF"/>
                    </a:solidFill>
                  </a:tcPr>
                </a:tc>
                <a:extLst>
                  <a:ext uri="{0D108BD9-81ED-4DB2-BD59-A6C34878D82A}">
                    <a16:rowId xmlns:a16="http://schemas.microsoft.com/office/drawing/2014/main" val="10001"/>
                  </a:ext>
                </a:extLst>
              </a:tr>
              <a:tr h="577253">
                <a:tc>
                  <a:txBody>
                    <a:bodyPr/>
                    <a:lstStyle/>
                    <a:p>
                      <a:pPr algn="l">
                        <a:defRPr sz="1050" b="1">
                          <a:solidFill>
                            <a:srgbClr val="1E293B"/>
                          </a:solidFill>
                        </a:defRPr>
                      </a:pPr>
                      <a:r>
                        <a:rPr sz="1600" dirty="0">
                          <a:highlight>
                            <a:srgbClr val="FFFF00"/>
                          </a:highlight>
                        </a:rPr>
                        <a:t>Aug + Two-stage</a:t>
                      </a:r>
                    </a:p>
                  </a:txBody>
                  <a:tcPr marL="36576" marR="36576" marT="18288" marB="18288" anchor="ctr">
                    <a:solidFill>
                      <a:srgbClr val="EFF6FF"/>
                    </a:solidFill>
                  </a:tcPr>
                </a:tc>
                <a:tc>
                  <a:txBody>
                    <a:bodyPr/>
                    <a:lstStyle/>
                    <a:p>
                      <a:pPr algn="ctr">
                        <a:defRPr sz="1050" b="1">
                          <a:solidFill>
                            <a:srgbClr val="1E293B"/>
                          </a:solidFill>
                        </a:defRPr>
                      </a:pPr>
                      <a:r>
                        <a:rPr sz="1600" dirty="0">
                          <a:highlight>
                            <a:srgbClr val="FFFF00"/>
                          </a:highlight>
                        </a:rPr>
                        <a:t>0.1312 ± 0.0160</a:t>
                      </a:r>
                    </a:p>
                  </a:txBody>
                  <a:tcPr marL="36576" marR="36576" marT="18288" marB="18288" anchor="ctr">
                    <a:solidFill>
                      <a:srgbClr val="EFF6FF"/>
                    </a:solidFill>
                  </a:tcPr>
                </a:tc>
                <a:tc>
                  <a:txBody>
                    <a:bodyPr/>
                    <a:lstStyle/>
                    <a:p>
                      <a:pPr algn="ctr">
                        <a:defRPr sz="1050" b="1">
                          <a:solidFill>
                            <a:srgbClr val="1E293B"/>
                          </a:solidFill>
                        </a:defRPr>
                      </a:pPr>
                      <a:r>
                        <a:rPr sz="1600" dirty="0">
                          <a:highlight>
                            <a:srgbClr val="FFFF00"/>
                          </a:highlight>
                        </a:rPr>
                        <a:t>0.1042 ± 0.0132</a:t>
                      </a:r>
                    </a:p>
                  </a:txBody>
                  <a:tcPr marL="36576" marR="36576" marT="18288" marB="18288" anchor="ctr">
                    <a:solidFill>
                      <a:srgbClr val="EFF6FF"/>
                    </a:solidFill>
                  </a:tcPr>
                </a:tc>
                <a:tc>
                  <a:txBody>
                    <a:bodyPr/>
                    <a:lstStyle/>
                    <a:p>
                      <a:pPr algn="ctr">
                        <a:defRPr sz="1050" b="1">
                          <a:solidFill>
                            <a:srgbClr val="1E293B"/>
                          </a:solidFill>
                        </a:defRPr>
                      </a:pPr>
                      <a:r>
                        <a:rPr sz="1600" dirty="0">
                          <a:highlight>
                            <a:srgbClr val="FFFF00"/>
                          </a:highlight>
                        </a:rPr>
                        <a:t>0.5345 ± 0.1869</a:t>
                      </a:r>
                    </a:p>
                  </a:txBody>
                  <a:tcPr marL="36576" marR="36576" marT="18288" marB="18288" anchor="ctr">
                    <a:solidFill>
                      <a:srgbClr val="EFF6FF"/>
                    </a:solidFill>
                  </a:tcPr>
                </a:tc>
                <a:extLst>
                  <a:ext uri="{0D108BD9-81ED-4DB2-BD59-A6C34878D82A}">
                    <a16:rowId xmlns:a16="http://schemas.microsoft.com/office/drawing/2014/main" val="10002"/>
                  </a:ext>
                </a:extLst>
              </a:tr>
              <a:tr h="577253">
                <a:tc>
                  <a:txBody>
                    <a:bodyPr/>
                    <a:lstStyle/>
                    <a:p>
                      <a:pPr algn="l">
                        <a:defRPr sz="1050" b="0">
                          <a:solidFill>
                            <a:srgbClr val="1E293B"/>
                          </a:solidFill>
                        </a:defRPr>
                      </a:pPr>
                      <a:r>
                        <a:rPr sz="1600" dirty="0"/>
                        <a:t>Aug + Stage1-only</a:t>
                      </a:r>
                    </a:p>
                  </a:txBody>
                  <a:tcPr marL="36576" marR="36576" marT="18288" marB="18288" anchor="ctr">
                    <a:solidFill>
                      <a:srgbClr val="FFFFFF"/>
                    </a:solidFill>
                  </a:tcPr>
                </a:tc>
                <a:tc>
                  <a:txBody>
                    <a:bodyPr/>
                    <a:lstStyle/>
                    <a:p>
                      <a:pPr algn="ctr">
                        <a:defRPr sz="1050" b="0">
                          <a:solidFill>
                            <a:srgbClr val="1E293B"/>
                          </a:solidFill>
                        </a:defRPr>
                      </a:pPr>
                      <a:r>
                        <a:rPr sz="1600"/>
                        <a:t>0.1783 ± 0.0115</a:t>
                      </a:r>
                    </a:p>
                  </a:txBody>
                  <a:tcPr marL="36576" marR="36576" marT="18288" marB="18288" anchor="ctr">
                    <a:solidFill>
                      <a:srgbClr val="FFFFFF"/>
                    </a:solidFill>
                  </a:tcPr>
                </a:tc>
                <a:tc>
                  <a:txBody>
                    <a:bodyPr/>
                    <a:lstStyle/>
                    <a:p>
                      <a:pPr algn="ctr">
                        <a:defRPr sz="1050" b="0">
                          <a:solidFill>
                            <a:srgbClr val="1E293B"/>
                          </a:solidFill>
                        </a:defRPr>
                      </a:pPr>
                      <a:r>
                        <a:rPr sz="1600" dirty="0"/>
                        <a:t>0.1441 ± 0.0106</a:t>
                      </a:r>
                    </a:p>
                  </a:txBody>
                  <a:tcPr marL="36576" marR="36576" marT="18288" marB="18288" anchor="ctr">
                    <a:solidFill>
                      <a:srgbClr val="FFFFFF"/>
                    </a:solidFill>
                  </a:tcPr>
                </a:tc>
                <a:tc>
                  <a:txBody>
                    <a:bodyPr/>
                    <a:lstStyle/>
                    <a:p>
                      <a:pPr algn="ctr">
                        <a:defRPr sz="1050" b="0">
                          <a:solidFill>
                            <a:srgbClr val="1E293B"/>
                          </a:solidFill>
                        </a:defRPr>
                      </a:pPr>
                      <a:r>
                        <a:rPr sz="1600" dirty="0"/>
                        <a:t>0.1802 ± 0.1717</a:t>
                      </a:r>
                    </a:p>
                  </a:txBody>
                  <a:tcPr marL="36576" marR="36576" marT="18288" marB="18288" anchor="ctr">
                    <a:solidFill>
                      <a:srgbClr val="FFFFFF"/>
                    </a:solidFill>
                  </a:tcPr>
                </a:tc>
                <a:extLst>
                  <a:ext uri="{0D108BD9-81ED-4DB2-BD59-A6C34878D82A}">
                    <a16:rowId xmlns:a16="http://schemas.microsoft.com/office/drawing/2014/main" val="10003"/>
                  </a:ext>
                </a:extLst>
              </a:tr>
              <a:tr h="577253">
                <a:tc>
                  <a:txBody>
                    <a:bodyPr/>
                    <a:lstStyle/>
                    <a:p>
                      <a:pPr algn="l">
                        <a:defRPr sz="1050" b="0">
                          <a:solidFill>
                            <a:srgbClr val="1E293B"/>
                          </a:solidFill>
                        </a:defRPr>
                      </a:pPr>
                      <a:r>
                        <a:rPr sz="1600" dirty="0"/>
                        <a:t>Aug + Stage2-only</a:t>
                      </a:r>
                    </a:p>
                  </a:txBody>
                  <a:tcPr marL="36576" marR="36576" marT="18288" marB="18288" anchor="ctr">
                    <a:solidFill>
                      <a:srgbClr val="F8FAFC"/>
                    </a:solidFill>
                  </a:tcPr>
                </a:tc>
                <a:tc>
                  <a:txBody>
                    <a:bodyPr/>
                    <a:lstStyle/>
                    <a:p>
                      <a:pPr algn="ctr">
                        <a:defRPr sz="1050" b="0">
                          <a:solidFill>
                            <a:srgbClr val="1E293B"/>
                          </a:solidFill>
                        </a:defRPr>
                      </a:pPr>
                      <a:r>
                        <a:rPr sz="1600" dirty="0"/>
                        <a:t>0.1414 ± 0.0212</a:t>
                      </a:r>
                    </a:p>
                  </a:txBody>
                  <a:tcPr marL="36576" marR="36576" marT="18288" marB="18288" anchor="ctr">
                    <a:solidFill>
                      <a:srgbClr val="F8FAFC"/>
                    </a:solidFill>
                  </a:tcPr>
                </a:tc>
                <a:tc>
                  <a:txBody>
                    <a:bodyPr/>
                    <a:lstStyle/>
                    <a:p>
                      <a:pPr algn="ctr">
                        <a:defRPr sz="1050" b="0">
                          <a:solidFill>
                            <a:srgbClr val="1E293B"/>
                          </a:solidFill>
                        </a:defRPr>
                      </a:pPr>
                      <a:r>
                        <a:rPr sz="1600" dirty="0"/>
                        <a:t>0.1111 ± 0.0150</a:t>
                      </a:r>
                    </a:p>
                  </a:txBody>
                  <a:tcPr marL="36576" marR="36576" marT="18288" marB="18288" anchor="ctr">
                    <a:solidFill>
                      <a:srgbClr val="F8FAFC"/>
                    </a:solidFill>
                  </a:tcPr>
                </a:tc>
                <a:tc>
                  <a:txBody>
                    <a:bodyPr/>
                    <a:lstStyle/>
                    <a:p>
                      <a:pPr algn="ctr">
                        <a:defRPr sz="1050" b="0">
                          <a:solidFill>
                            <a:srgbClr val="1E293B"/>
                          </a:solidFill>
                        </a:defRPr>
                      </a:pPr>
                      <a:r>
                        <a:rPr sz="1600" dirty="0"/>
                        <a:t>0.4479 ± 0.2487</a:t>
                      </a:r>
                    </a:p>
                  </a:txBody>
                  <a:tcPr marL="36576" marR="36576" marT="18288" marB="18288" anchor="ctr">
                    <a:solidFill>
                      <a:srgbClr val="F8FAFC"/>
                    </a:solidFill>
                  </a:tcPr>
                </a:tc>
                <a:extLst>
                  <a:ext uri="{0D108BD9-81ED-4DB2-BD59-A6C34878D82A}">
                    <a16:rowId xmlns:a16="http://schemas.microsoft.com/office/drawing/2014/main" val="10004"/>
                  </a:ext>
                </a:extLst>
              </a:tr>
            </a:tbl>
          </a:graphicData>
        </a:graphic>
      </p:graphicFrame>
      <p:pic>
        <p:nvPicPr>
          <p:cNvPr id="9" name="Picture 11" descr="slide17_rmse_ranking.png">
            <a:extLst>
              <a:ext uri="{FF2B5EF4-FFF2-40B4-BE49-F238E27FC236}">
                <a16:creationId xmlns:a16="http://schemas.microsoft.com/office/drawing/2014/main" id="{2A52254A-92BD-24EE-F17C-96F5F6B604BB}"/>
              </a:ext>
            </a:extLst>
          </p:cNvPr>
          <p:cNvPicPr>
            <a:picLocks noChangeAspect="1"/>
          </p:cNvPicPr>
          <p:nvPr/>
        </p:nvPicPr>
        <p:blipFill>
          <a:blip r:embed="rId3"/>
          <a:stretch>
            <a:fillRect/>
          </a:stretch>
        </p:blipFill>
        <p:spPr>
          <a:xfrm>
            <a:off x="164959" y="1683770"/>
            <a:ext cx="5373408" cy="256639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51953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B17A3-75EC-7F20-D057-171912CDFB7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6092108-5179-3AF9-2096-87D3D20DC601}"/>
              </a:ext>
            </a:extLst>
          </p:cNvPr>
          <p:cNvSpPr>
            <a:spLocks noGrp="1"/>
          </p:cNvSpPr>
          <p:nvPr>
            <p:ph type="sldNum" sz="quarter" idx="12"/>
          </p:nvPr>
        </p:nvSpPr>
        <p:spPr/>
        <p:txBody>
          <a:bodyPr/>
          <a:lstStyle/>
          <a:p>
            <a:r>
              <a:rPr sz="1200">
                <a:latin typeface="Arial"/>
              </a:rPr>
              <a:t>15</a:t>
            </a:r>
          </a:p>
        </p:txBody>
      </p:sp>
      <p:sp>
        <p:nvSpPr>
          <p:cNvPr id="3" name="文本框 2">
            <a:extLst>
              <a:ext uri="{FF2B5EF4-FFF2-40B4-BE49-F238E27FC236}">
                <a16:creationId xmlns:a16="http://schemas.microsoft.com/office/drawing/2014/main" id="{E6BD1E26-0EDE-186F-9960-3FC807A862C7}"/>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What Each Component Contributes</a:t>
            </a:r>
          </a:p>
        </p:txBody>
      </p:sp>
      <p:sp>
        <p:nvSpPr>
          <p:cNvPr id="21" name="Text 3">
            <a:extLst>
              <a:ext uri="{FF2B5EF4-FFF2-40B4-BE49-F238E27FC236}">
                <a16:creationId xmlns:a16="http://schemas.microsoft.com/office/drawing/2014/main" id="{68A44AEB-4492-8B6E-6FAB-96489F4F87B4}"/>
              </a:ext>
            </a:extLst>
          </p:cNvPr>
          <p:cNvSpPr/>
          <p:nvPr/>
        </p:nvSpPr>
        <p:spPr>
          <a:xfrm>
            <a:off x="403780" y="985650"/>
            <a:ext cx="10323576" cy="574868"/>
          </a:xfrm>
          <a:prstGeom prst="rect">
            <a:avLst/>
          </a:prstGeom>
          <a:noFill/>
          <a:ln/>
        </p:spPr>
        <p:txBody>
          <a:bodyPr wrap="square" lIns="0" tIns="0" rIns="0" bIns="0" rtlCol="0" anchor="ctr"/>
          <a:lstStyle/>
          <a:p>
            <a:r>
              <a:rPr lang="en-US" altLang="zh-CN" dirty="0">
                <a:solidFill>
                  <a:srgbClr val="6B7280"/>
                </a:solidFill>
              </a:rPr>
              <a:t>Component-level ablations explain why the final method works.</a:t>
            </a:r>
            <a:endParaRPr lang="en-US" altLang="zh-CN" dirty="0"/>
          </a:p>
        </p:txBody>
      </p:sp>
      <p:grpSp>
        <p:nvGrpSpPr>
          <p:cNvPr id="27" name="组合 26">
            <a:extLst>
              <a:ext uri="{FF2B5EF4-FFF2-40B4-BE49-F238E27FC236}">
                <a16:creationId xmlns:a16="http://schemas.microsoft.com/office/drawing/2014/main" id="{53F20DDC-3D11-0776-FD2A-1269E245B1EF}"/>
              </a:ext>
            </a:extLst>
          </p:cNvPr>
          <p:cNvGrpSpPr/>
          <p:nvPr/>
        </p:nvGrpSpPr>
        <p:grpSpPr>
          <a:xfrm>
            <a:off x="403780" y="4812030"/>
            <a:ext cx="11175412" cy="1331462"/>
            <a:chOff x="1280160" y="5108446"/>
            <a:chExt cx="9692640" cy="1613028"/>
          </a:xfrm>
        </p:grpSpPr>
        <p:sp>
          <p:nvSpPr>
            <p:cNvPr id="23" name="Shape 4">
              <a:extLst>
                <a:ext uri="{FF2B5EF4-FFF2-40B4-BE49-F238E27FC236}">
                  <a16:creationId xmlns:a16="http://schemas.microsoft.com/office/drawing/2014/main" id="{D8B6BD44-8FCF-5088-32DC-EA1FE7956B8F}"/>
                </a:ext>
              </a:extLst>
            </p:cNvPr>
            <p:cNvSpPr/>
            <p:nvPr/>
          </p:nvSpPr>
          <p:spPr>
            <a:xfrm>
              <a:off x="1280160" y="5108447"/>
              <a:ext cx="9692640" cy="1613027"/>
            </a:xfrm>
            <a:prstGeom prst="roundRect">
              <a:avLst>
                <a:gd name="adj" fmla="val 6154"/>
              </a:avLst>
            </a:prstGeom>
            <a:solidFill>
              <a:srgbClr val="FFFFFF"/>
            </a:solidFill>
            <a:ln w="10160">
              <a:solidFill>
                <a:srgbClr val="D1D5DB"/>
              </a:solidFill>
              <a:prstDash val="solid"/>
            </a:ln>
          </p:spPr>
          <p:txBody>
            <a:bodyPr/>
            <a:lstStyle/>
            <a:p>
              <a:endParaRPr lang="en-US"/>
            </a:p>
          </p:txBody>
        </p:sp>
        <p:sp>
          <p:nvSpPr>
            <p:cNvPr id="24" name="Shape 5">
              <a:extLst>
                <a:ext uri="{FF2B5EF4-FFF2-40B4-BE49-F238E27FC236}">
                  <a16:creationId xmlns:a16="http://schemas.microsoft.com/office/drawing/2014/main" id="{4A6AF98F-F5C2-59A4-74E0-BD117A4E4CC3}"/>
                </a:ext>
              </a:extLst>
            </p:cNvPr>
            <p:cNvSpPr/>
            <p:nvPr/>
          </p:nvSpPr>
          <p:spPr>
            <a:xfrm>
              <a:off x="1280160" y="5108446"/>
              <a:ext cx="48768" cy="1585596"/>
            </a:xfrm>
            <a:prstGeom prst="rect">
              <a:avLst/>
            </a:prstGeom>
            <a:solidFill>
              <a:srgbClr val="047857"/>
            </a:solidFill>
            <a:ln w="12700">
              <a:solidFill>
                <a:srgbClr val="047857">
                  <a:alpha val="0"/>
                </a:srgbClr>
              </a:solidFill>
              <a:prstDash val="solid"/>
            </a:ln>
          </p:spPr>
          <p:txBody>
            <a:bodyPr/>
            <a:lstStyle/>
            <a:p>
              <a:endParaRPr lang="en-US"/>
            </a:p>
          </p:txBody>
        </p:sp>
        <p:sp>
          <p:nvSpPr>
            <p:cNvPr id="25" name="Text 6">
              <a:extLst>
                <a:ext uri="{FF2B5EF4-FFF2-40B4-BE49-F238E27FC236}">
                  <a16:creationId xmlns:a16="http://schemas.microsoft.com/office/drawing/2014/main" id="{217A57C2-E0E5-CEE9-A52B-49572AC08D76}"/>
                </a:ext>
              </a:extLst>
            </p:cNvPr>
            <p:cNvSpPr/>
            <p:nvPr/>
          </p:nvSpPr>
          <p:spPr>
            <a:xfrm>
              <a:off x="1530096" y="5210601"/>
              <a:ext cx="9372600" cy="438912"/>
            </a:xfrm>
            <a:prstGeom prst="rect">
              <a:avLst/>
            </a:prstGeom>
            <a:noFill/>
            <a:ln/>
          </p:spPr>
          <p:txBody>
            <a:bodyPr wrap="square" lIns="0" tIns="0" rIns="0" bIns="0" rtlCol="0" anchor="ctr"/>
            <a:lstStyle/>
            <a:p>
              <a:r>
                <a:rPr lang="en-US" altLang="zh-CN" sz="2000" b="1" dirty="0">
                  <a:solidFill>
                    <a:srgbClr val="111827"/>
                  </a:solidFill>
                </a:rPr>
                <a:t>Core insight</a:t>
              </a:r>
              <a:endParaRPr lang="en-US" altLang="zh-CN" sz="2000" dirty="0"/>
            </a:p>
          </p:txBody>
        </p:sp>
        <p:sp>
          <p:nvSpPr>
            <p:cNvPr id="26" name="Text 7">
              <a:extLst>
                <a:ext uri="{FF2B5EF4-FFF2-40B4-BE49-F238E27FC236}">
                  <a16:creationId xmlns:a16="http://schemas.microsoft.com/office/drawing/2014/main" id="{8C0E7C0F-0E39-CB0C-C5A8-1F221ADB14CC}"/>
                </a:ext>
              </a:extLst>
            </p:cNvPr>
            <p:cNvSpPr/>
            <p:nvPr/>
          </p:nvSpPr>
          <p:spPr>
            <a:xfrm>
              <a:off x="1530096" y="5755312"/>
              <a:ext cx="9381744" cy="780899"/>
            </a:xfrm>
            <a:prstGeom prst="rect">
              <a:avLst/>
            </a:prstGeom>
            <a:noFill/>
            <a:ln/>
          </p:spPr>
          <p:txBody>
            <a:bodyPr wrap="square" lIns="254" tIns="254" rIns="254" bIns="254" rtlCol="0" anchor="t">
              <a:noAutofit/>
            </a:bodyPr>
            <a:lstStyle/>
            <a:p>
              <a:r>
                <a:rPr lang="en-US" altLang="zh-CN" dirty="0">
                  <a:solidFill>
                    <a:srgbClr val="374151"/>
                  </a:solidFill>
                </a:rPr>
                <a:t>The largest gain comes from encoder adaptation, meaning frozen pretrained embeddings are not enough. Augmentation consistently helps by improving robustness. </a:t>
              </a:r>
              <a:r>
                <a:rPr lang="en-US" altLang="zh-CN" dirty="0"/>
                <a:t>Stage-1 warm-up gives a smaller stabilization effect.</a:t>
              </a:r>
            </a:p>
          </p:txBody>
        </p:sp>
      </p:grpSp>
      <p:pic>
        <p:nvPicPr>
          <p:cNvPr id="7" name="Picture 5" descr="core_effects(1).png">
            <a:extLst>
              <a:ext uri="{FF2B5EF4-FFF2-40B4-BE49-F238E27FC236}">
                <a16:creationId xmlns:a16="http://schemas.microsoft.com/office/drawing/2014/main" id="{199778E5-1DA4-D576-B7A0-02E3813F3689}"/>
              </a:ext>
            </a:extLst>
          </p:cNvPr>
          <p:cNvPicPr>
            <a:picLocks noChangeAspect="1"/>
          </p:cNvPicPr>
          <p:nvPr/>
        </p:nvPicPr>
        <p:blipFill>
          <a:blip r:embed="rId3"/>
          <a:stretch>
            <a:fillRect/>
          </a:stretch>
        </p:blipFill>
        <p:spPr>
          <a:xfrm>
            <a:off x="234834" y="1543522"/>
            <a:ext cx="7852713" cy="2977676"/>
          </a:xfrm>
          <a:prstGeom prst="rect">
            <a:avLst/>
          </a:prstGeom>
        </p:spPr>
      </p:pic>
      <p:sp>
        <p:nvSpPr>
          <p:cNvPr id="22" name="Rounded Rectangle 9">
            <a:extLst>
              <a:ext uri="{FF2B5EF4-FFF2-40B4-BE49-F238E27FC236}">
                <a16:creationId xmlns:a16="http://schemas.microsoft.com/office/drawing/2014/main" id="{527E74D5-4BCD-B27A-5EBF-E35299E2514F}"/>
              </a:ext>
            </a:extLst>
          </p:cNvPr>
          <p:cNvSpPr/>
          <p:nvPr/>
        </p:nvSpPr>
        <p:spPr>
          <a:xfrm>
            <a:off x="8550462" y="2667503"/>
            <a:ext cx="2816352" cy="658368"/>
          </a:xfrm>
          <a:prstGeom prst="roundRect">
            <a:avLst/>
          </a:prstGeom>
          <a:solidFill>
            <a:srgbClr val="FFF1F2"/>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10">
            <a:extLst>
              <a:ext uri="{FF2B5EF4-FFF2-40B4-BE49-F238E27FC236}">
                <a16:creationId xmlns:a16="http://schemas.microsoft.com/office/drawing/2014/main" id="{BA959178-D2FE-BE1A-9D83-F92F032FC05D}"/>
              </a:ext>
            </a:extLst>
          </p:cNvPr>
          <p:cNvSpPr txBox="1"/>
          <p:nvPr/>
        </p:nvSpPr>
        <p:spPr>
          <a:xfrm>
            <a:off x="8705910" y="2758943"/>
            <a:ext cx="1600200" cy="529376"/>
          </a:xfrm>
          <a:prstGeom prst="rect">
            <a:avLst/>
          </a:prstGeom>
          <a:noFill/>
        </p:spPr>
        <p:txBody>
          <a:bodyPr wrap="square" lIns="27432" tIns="18288" rIns="27432" bIns="18288" anchor="t">
            <a:spAutoFit/>
          </a:bodyPr>
          <a:lstStyle/>
          <a:p>
            <a:pPr algn="l">
              <a:defRPr sz="980" b="1">
                <a:solidFill>
                  <a:srgbClr val="DC2626"/>
                </a:solidFill>
              </a:defRPr>
            </a:pPr>
            <a:r>
              <a:rPr sz="1600" dirty="0"/>
              <a:t>SMILES augmentation</a:t>
            </a:r>
          </a:p>
        </p:txBody>
      </p:sp>
      <p:sp>
        <p:nvSpPr>
          <p:cNvPr id="31" name="Rounded Rectangle 13">
            <a:extLst>
              <a:ext uri="{FF2B5EF4-FFF2-40B4-BE49-F238E27FC236}">
                <a16:creationId xmlns:a16="http://schemas.microsoft.com/office/drawing/2014/main" id="{3677F0A2-4233-699D-0ED3-5B432DB19D6A}"/>
              </a:ext>
            </a:extLst>
          </p:cNvPr>
          <p:cNvSpPr/>
          <p:nvPr/>
        </p:nvSpPr>
        <p:spPr>
          <a:xfrm>
            <a:off x="8550462" y="1679951"/>
            <a:ext cx="2816352" cy="658368"/>
          </a:xfrm>
          <a:prstGeom prst="roundRect">
            <a:avLst/>
          </a:prstGeom>
          <a:solidFill>
            <a:srgbClr val="EFF6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14">
            <a:extLst>
              <a:ext uri="{FF2B5EF4-FFF2-40B4-BE49-F238E27FC236}">
                <a16:creationId xmlns:a16="http://schemas.microsoft.com/office/drawing/2014/main" id="{FC8CB3CF-380A-5569-9244-A79F8788608A}"/>
              </a:ext>
            </a:extLst>
          </p:cNvPr>
          <p:cNvSpPr txBox="1"/>
          <p:nvPr/>
        </p:nvSpPr>
        <p:spPr>
          <a:xfrm>
            <a:off x="8705910" y="1771391"/>
            <a:ext cx="1600200" cy="529376"/>
          </a:xfrm>
          <a:prstGeom prst="rect">
            <a:avLst/>
          </a:prstGeom>
          <a:noFill/>
        </p:spPr>
        <p:txBody>
          <a:bodyPr wrap="square" lIns="27432" tIns="18288" rIns="27432" bIns="18288" anchor="t">
            <a:spAutoFit/>
          </a:bodyPr>
          <a:lstStyle/>
          <a:p>
            <a:pPr algn="l">
              <a:defRPr sz="980" b="1">
                <a:solidFill>
                  <a:srgbClr val="2563EB"/>
                </a:solidFill>
              </a:defRPr>
            </a:pPr>
            <a:r>
              <a:rPr sz="1600" dirty="0"/>
              <a:t>Encoder adaptation</a:t>
            </a:r>
          </a:p>
        </p:txBody>
      </p:sp>
      <p:sp>
        <p:nvSpPr>
          <p:cNvPr id="33" name="TextBox 15">
            <a:extLst>
              <a:ext uri="{FF2B5EF4-FFF2-40B4-BE49-F238E27FC236}">
                <a16:creationId xmlns:a16="http://schemas.microsoft.com/office/drawing/2014/main" id="{9CECC284-6C20-966D-A9E7-3B3DFD161949}"/>
              </a:ext>
            </a:extLst>
          </p:cNvPr>
          <p:cNvSpPr txBox="1"/>
          <p:nvPr/>
        </p:nvSpPr>
        <p:spPr>
          <a:xfrm>
            <a:off x="10197572" y="1771391"/>
            <a:ext cx="965257" cy="344710"/>
          </a:xfrm>
          <a:prstGeom prst="rect">
            <a:avLst/>
          </a:prstGeom>
          <a:noFill/>
        </p:spPr>
        <p:txBody>
          <a:bodyPr wrap="square" lIns="27432" tIns="18288" rIns="27432" bIns="18288" anchor="t">
            <a:spAutoFit/>
          </a:bodyPr>
          <a:lstStyle/>
          <a:p>
            <a:pPr algn="r">
              <a:defRPr sz="1240" b="1">
                <a:solidFill>
                  <a:srgbClr val="1E293B"/>
                </a:solidFill>
              </a:defRPr>
            </a:pPr>
            <a:r>
              <a:rPr sz="2000" dirty="0"/>
              <a:t>26.39%</a:t>
            </a:r>
          </a:p>
        </p:txBody>
      </p:sp>
      <p:sp>
        <p:nvSpPr>
          <p:cNvPr id="34" name="TextBox 16">
            <a:extLst>
              <a:ext uri="{FF2B5EF4-FFF2-40B4-BE49-F238E27FC236}">
                <a16:creationId xmlns:a16="http://schemas.microsoft.com/office/drawing/2014/main" id="{2EA5976B-4C29-AB7E-0B5D-D316A4BEF86E}"/>
              </a:ext>
            </a:extLst>
          </p:cNvPr>
          <p:cNvSpPr txBox="1"/>
          <p:nvPr/>
        </p:nvSpPr>
        <p:spPr>
          <a:xfrm>
            <a:off x="10449597" y="2098249"/>
            <a:ext cx="713232" cy="221599"/>
          </a:xfrm>
          <a:prstGeom prst="rect">
            <a:avLst/>
          </a:prstGeom>
          <a:noFill/>
        </p:spPr>
        <p:txBody>
          <a:bodyPr wrap="square" lIns="27432" tIns="18288" rIns="27432" bIns="18288" anchor="t">
            <a:spAutoFit/>
          </a:bodyPr>
          <a:lstStyle/>
          <a:p>
            <a:pPr algn="r">
              <a:defRPr sz="880" b="1">
                <a:solidFill>
                  <a:srgbClr val="64748B"/>
                </a:solidFill>
              </a:defRPr>
            </a:pPr>
            <a:r>
              <a:rPr sz="1200" dirty="0"/>
              <a:t>15/15</a:t>
            </a:r>
          </a:p>
        </p:txBody>
      </p:sp>
      <p:sp>
        <p:nvSpPr>
          <p:cNvPr id="35" name="Rounded Rectangle 17">
            <a:extLst>
              <a:ext uri="{FF2B5EF4-FFF2-40B4-BE49-F238E27FC236}">
                <a16:creationId xmlns:a16="http://schemas.microsoft.com/office/drawing/2014/main" id="{DFA16A78-D1E4-4998-372D-D3934A17E686}"/>
              </a:ext>
            </a:extLst>
          </p:cNvPr>
          <p:cNvSpPr/>
          <p:nvPr/>
        </p:nvSpPr>
        <p:spPr>
          <a:xfrm>
            <a:off x="8550462" y="3616703"/>
            <a:ext cx="2816352" cy="658368"/>
          </a:xfrm>
          <a:prstGeom prst="roundRect">
            <a:avLst/>
          </a:prstGeom>
          <a:solidFill>
            <a:srgbClr val="ECFDF5"/>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18">
            <a:extLst>
              <a:ext uri="{FF2B5EF4-FFF2-40B4-BE49-F238E27FC236}">
                <a16:creationId xmlns:a16="http://schemas.microsoft.com/office/drawing/2014/main" id="{B867F3A3-D988-A32E-50EF-0E1BF57748F7}"/>
              </a:ext>
            </a:extLst>
          </p:cNvPr>
          <p:cNvSpPr txBox="1"/>
          <p:nvPr/>
        </p:nvSpPr>
        <p:spPr>
          <a:xfrm>
            <a:off x="8705910" y="3708142"/>
            <a:ext cx="1600200" cy="529376"/>
          </a:xfrm>
          <a:prstGeom prst="rect">
            <a:avLst/>
          </a:prstGeom>
          <a:noFill/>
        </p:spPr>
        <p:txBody>
          <a:bodyPr wrap="square" lIns="27432" tIns="18288" rIns="27432" bIns="18288" anchor="t">
            <a:spAutoFit/>
          </a:bodyPr>
          <a:lstStyle/>
          <a:p>
            <a:pPr algn="l">
              <a:defRPr sz="980" b="1">
                <a:solidFill>
                  <a:srgbClr val="10B981"/>
                </a:solidFill>
              </a:defRPr>
            </a:pPr>
            <a:r>
              <a:rPr sz="1600" dirty="0"/>
              <a:t>Stage-1 warm-up</a:t>
            </a:r>
          </a:p>
        </p:txBody>
      </p:sp>
      <p:sp>
        <p:nvSpPr>
          <p:cNvPr id="39" name="TextBox 15">
            <a:extLst>
              <a:ext uri="{FF2B5EF4-FFF2-40B4-BE49-F238E27FC236}">
                <a16:creationId xmlns:a16="http://schemas.microsoft.com/office/drawing/2014/main" id="{D9224760-350E-A8AB-D33B-8A5405284320}"/>
              </a:ext>
            </a:extLst>
          </p:cNvPr>
          <p:cNvSpPr txBox="1"/>
          <p:nvPr/>
        </p:nvSpPr>
        <p:spPr>
          <a:xfrm>
            <a:off x="10250188" y="2733543"/>
            <a:ext cx="965257" cy="344710"/>
          </a:xfrm>
          <a:prstGeom prst="rect">
            <a:avLst/>
          </a:prstGeom>
          <a:noFill/>
        </p:spPr>
        <p:txBody>
          <a:bodyPr wrap="square" lIns="27432" tIns="18288" rIns="27432" bIns="18288" anchor="t">
            <a:spAutoFit/>
          </a:bodyPr>
          <a:lstStyle/>
          <a:p>
            <a:pPr algn="r">
              <a:defRPr sz="1240" b="1">
                <a:solidFill>
                  <a:srgbClr val="1E293B"/>
                </a:solidFill>
              </a:defRPr>
            </a:pPr>
            <a:r>
              <a:rPr lang="en-US" sz="2000" dirty="0"/>
              <a:t>12.92</a:t>
            </a:r>
            <a:r>
              <a:rPr sz="2000" dirty="0"/>
              <a:t>%</a:t>
            </a:r>
          </a:p>
        </p:txBody>
      </p:sp>
      <p:sp>
        <p:nvSpPr>
          <p:cNvPr id="40" name="TextBox 16">
            <a:extLst>
              <a:ext uri="{FF2B5EF4-FFF2-40B4-BE49-F238E27FC236}">
                <a16:creationId xmlns:a16="http://schemas.microsoft.com/office/drawing/2014/main" id="{7BD60F1D-153D-85AA-B667-3E408856F3DC}"/>
              </a:ext>
            </a:extLst>
          </p:cNvPr>
          <p:cNvSpPr txBox="1"/>
          <p:nvPr/>
        </p:nvSpPr>
        <p:spPr>
          <a:xfrm>
            <a:off x="10502213" y="3060401"/>
            <a:ext cx="713232" cy="221599"/>
          </a:xfrm>
          <a:prstGeom prst="rect">
            <a:avLst/>
          </a:prstGeom>
          <a:noFill/>
        </p:spPr>
        <p:txBody>
          <a:bodyPr wrap="square" lIns="27432" tIns="18288" rIns="27432" bIns="18288" anchor="t">
            <a:spAutoFit/>
          </a:bodyPr>
          <a:lstStyle/>
          <a:p>
            <a:pPr algn="r">
              <a:defRPr sz="880" b="1">
                <a:solidFill>
                  <a:srgbClr val="64748B"/>
                </a:solidFill>
              </a:defRPr>
            </a:pPr>
            <a:r>
              <a:rPr sz="1200" dirty="0"/>
              <a:t>15/15</a:t>
            </a:r>
          </a:p>
        </p:txBody>
      </p:sp>
      <p:sp>
        <p:nvSpPr>
          <p:cNvPr id="41" name="TextBox 15">
            <a:extLst>
              <a:ext uri="{FF2B5EF4-FFF2-40B4-BE49-F238E27FC236}">
                <a16:creationId xmlns:a16="http://schemas.microsoft.com/office/drawing/2014/main" id="{10188795-5F1D-7B10-BC07-2936ACBBA3AB}"/>
              </a:ext>
            </a:extLst>
          </p:cNvPr>
          <p:cNvSpPr txBox="1"/>
          <p:nvPr/>
        </p:nvSpPr>
        <p:spPr>
          <a:xfrm>
            <a:off x="10303199" y="3648923"/>
            <a:ext cx="965257" cy="344710"/>
          </a:xfrm>
          <a:prstGeom prst="rect">
            <a:avLst/>
          </a:prstGeom>
          <a:noFill/>
        </p:spPr>
        <p:txBody>
          <a:bodyPr wrap="square" lIns="27432" tIns="18288" rIns="27432" bIns="18288" anchor="t">
            <a:spAutoFit/>
          </a:bodyPr>
          <a:lstStyle/>
          <a:p>
            <a:pPr algn="r">
              <a:defRPr sz="1240" b="1">
                <a:solidFill>
                  <a:srgbClr val="1E293B"/>
                </a:solidFill>
              </a:defRPr>
            </a:pPr>
            <a:r>
              <a:rPr lang="en-US" sz="2000" dirty="0"/>
              <a:t>7.17</a:t>
            </a:r>
            <a:r>
              <a:rPr sz="2000" dirty="0"/>
              <a:t>%</a:t>
            </a:r>
          </a:p>
        </p:txBody>
      </p:sp>
      <p:sp>
        <p:nvSpPr>
          <p:cNvPr id="42" name="TextBox 16">
            <a:extLst>
              <a:ext uri="{FF2B5EF4-FFF2-40B4-BE49-F238E27FC236}">
                <a16:creationId xmlns:a16="http://schemas.microsoft.com/office/drawing/2014/main" id="{3084EE30-736C-C4C9-7C9D-32AFD49DDC9C}"/>
              </a:ext>
            </a:extLst>
          </p:cNvPr>
          <p:cNvSpPr txBox="1"/>
          <p:nvPr/>
        </p:nvSpPr>
        <p:spPr>
          <a:xfrm>
            <a:off x="10555224" y="3975781"/>
            <a:ext cx="713232" cy="221599"/>
          </a:xfrm>
          <a:prstGeom prst="rect">
            <a:avLst/>
          </a:prstGeom>
          <a:noFill/>
        </p:spPr>
        <p:txBody>
          <a:bodyPr wrap="square" lIns="27432" tIns="18288" rIns="27432" bIns="18288" anchor="t">
            <a:spAutoFit/>
          </a:bodyPr>
          <a:lstStyle/>
          <a:p>
            <a:pPr algn="r">
              <a:defRPr sz="880" b="1">
                <a:solidFill>
                  <a:srgbClr val="64748B"/>
                </a:solidFill>
              </a:defRPr>
            </a:pPr>
            <a:r>
              <a:rPr sz="1200" dirty="0"/>
              <a:t>1</a:t>
            </a:r>
            <a:r>
              <a:rPr lang="en-US" sz="1200" dirty="0"/>
              <a:t>2</a:t>
            </a:r>
            <a:r>
              <a:rPr sz="1200" dirty="0"/>
              <a:t>/15</a:t>
            </a:r>
          </a:p>
        </p:txBody>
      </p:sp>
    </p:spTree>
    <p:extLst>
      <p:ext uri="{BB962C8B-B14F-4D97-AF65-F5344CB8AC3E}">
        <p14:creationId xmlns:p14="http://schemas.microsoft.com/office/powerpoint/2010/main" val="2716960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A2E69-67D4-D999-166D-71979FDAD64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B408453-8800-4754-B471-DFC01021FCB4}"/>
              </a:ext>
            </a:extLst>
          </p:cNvPr>
          <p:cNvSpPr>
            <a:spLocks noGrp="1"/>
          </p:cNvSpPr>
          <p:nvPr>
            <p:ph type="sldNum" sz="quarter" idx="12"/>
          </p:nvPr>
        </p:nvSpPr>
        <p:spPr/>
        <p:txBody>
          <a:bodyPr/>
          <a:lstStyle/>
          <a:p>
            <a:r>
              <a:rPr sz="1200">
                <a:latin typeface="Arial"/>
              </a:rPr>
              <a:t>16</a:t>
            </a:r>
          </a:p>
        </p:txBody>
      </p:sp>
      <p:sp>
        <p:nvSpPr>
          <p:cNvPr id="3" name="文本框 2">
            <a:extLst>
              <a:ext uri="{FF2B5EF4-FFF2-40B4-BE49-F238E27FC236}">
                <a16:creationId xmlns:a16="http://schemas.microsoft.com/office/drawing/2014/main" id="{3F219F93-A5E7-7172-D7E8-F0B1C6F69C7C}"/>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Error Tail Analysis</a:t>
            </a:r>
          </a:p>
        </p:txBody>
      </p:sp>
      <p:sp>
        <p:nvSpPr>
          <p:cNvPr id="21" name="Text 3">
            <a:extLst>
              <a:ext uri="{FF2B5EF4-FFF2-40B4-BE49-F238E27FC236}">
                <a16:creationId xmlns:a16="http://schemas.microsoft.com/office/drawing/2014/main" id="{9375C309-91D7-DBCC-A928-3D6463B1FA37}"/>
              </a:ext>
            </a:extLst>
          </p:cNvPr>
          <p:cNvSpPr/>
          <p:nvPr/>
        </p:nvSpPr>
        <p:spPr>
          <a:xfrm>
            <a:off x="403780" y="985650"/>
            <a:ext cx="10323576" cy="574868"/>
          </a:xfrm>
          <a:prstGeom prst="rect">
            <a:avLst/>
          </a:prstGeom>
          <a:noFill/>
          <a:ln/>
        </p:spPr>
        <p:txBody>
          <a:bodyPr wrap="square" lIns="0" tIns="0" rIns="0" bIns="0" rtlCol="0" anchor="ctr"/>
          <a:lstStyle/>
          <a:p>
            <a:r>
              <a:rPr lang="en-US" altLang="zh-CN" dirty="0">
                <a:solidFill>
                  <a:srgbClr val="6B7280"/>
                </a:solidFill>
              </a:rPr>
              <a:t>Reliability depends on reducing high-error cases, not only improving the average.</a:t>
            </a:r>
            <a:endParaRPr lang="en-US" altLang="zh-CN" dirty="0"/>
          </a:p>
        </p:txBody>
      </p:sp>
      <p:pic>
        <p:nvPicPr>
          <p:cNvPr id="4" name="Picture 5" descr="slide19_error_tail_metrics.png">
            <a:extLst>
              <a:ext uri="{FF2B5EF4-FFF2-40B4-BE49-F238E27FC236}">
                <a16:creationId xmlns:a16="http://schemas.microsoft.com/office/drawing/2014/main" id="{59428C6E-C268-3EEA-D92C-507DD506FE0B}"/>
              </a:ext>
            </a:extLst>
          </p:cNvPr>
          <p:cNvPicPr>
            <a:picLocks noChangeAspect="1"/>
          </p:cNvPicPr>
          <p:nvPr/>
        </p:nvPicPr>
        <p:blipFill>
          <a:blip r:embed="rId2"/>
          <a:stretch>
            <a:fillRect/>
          </a:stretch>
        </p:blipFill>
        <p:spPr>
          <a:xfrm>
            <a:off x="332232" y="1421891"/>
            <a:ext cx="11109960" cy="2514600"/>
          </a:xfrm>
          <a:prstGeom prst="rect">
            <a:avLst/>
          </a:prstGeom>
        </p:spPr>
      </p:pic>
      <p:sp>
        <p:nvSpPr>
          <p:cNvPr id="5" name="Rounded Rectangle 6">
            <a:extLst>
              <a:ext uri="{FF2B5EF4-FFF2-40B4-BE49-F238E27FC236}">
                <a16:creationId xmlns:a16="http://schemas.microsoft.com/office/drawing/2014/main" id="{92D644E7-000B-851A-178A-F1E9286FD3FE}"/>
              </a:ext>
            </a:extLst>
          </p:cNvPr>
          <p:cNvSpPr/>
          <p:nvPr/>
        </p:nvSpPr>
        <p:spPr>
          <a:xfrm>
            <a:off x="332232" y="5872349"/>
            <a:ext cx="10978896" cy="849125"/>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7">
            <a:extLst>
              <a:ext uri="{FF2B5EF4-FFF2-40B4-BE49-F238E27FC236}">
                <a16:creationId xmlns:a16="http://schemas.microsoft.com/office/drawing/2014/main" id="{7AB97213-1A6A-B325-AB41-DCE40AC7046C}"/>
              </a:ext>
            </a:extLst>
          </p:cNvPr>
          <p:cNvSpPr txBox="1"/>
          <p:nvPr/>
        </p:nvSpPr>
        <p:spPr>
          <a:xfrm>
            <a:off x="475328" y="6124556"/>
            <a:ext cx="2037668" cy="344710"/>
          </a:xfrm>
          <a:prstGeom prst="rect">
            <a:avLst/>
          </a:prstGeom>
          <a:noFill/>
        </p:spPr>
        <p:txBody>
          <a:bodyPr wrap="square" lIns="27432" tIns="18288" rIns="27432" bIns="18288" anchor="t">
            <a:spAutoFit/>
          </a:bodyPr>
          <a:lstStyle/>
          <a:p>
            <a:pPr algn="l">
              <a:defRPr sz="1130" b="1">
                <a:solidFill>
                  <a:srgbClr val="2563EB"/>
                </a:solidFill>
              </a:defRPr>
            </a:pPr>
            <a:r>
              <a:rPr sz="2000" dirty="0"/>
              <a:t>Interpretation</a:t>
            </a:r>
          </a:p>
        </p:txBody>
      </p:sp>
      <p:sp>
        <p:nvSpPr>
          <p:cNvPr id="8" name="TextBox 8">
            <a:extLst>
              <a:ext uri="{FF2B5EF4-FFF2-40B4-BE49-F238E27FC236}">
                <a16:creationId xmlns:a16="http://schemas.microsoft.com/office/drawing/2014/main" id="{9884EBC1-AA90-EACA-A7FC-6AD56D03F124}"/>
              </a:ext>
            </a:extLst>
          </p:cNvPr>
          <p:cNvSpPr txBox="1"/>
          <p:nvPr/>
        </p:nvSpPr>
        <p:spPr>
          <a:xfrm>
            <a:off x="2512996" y="5933990"/>
            <a:ext cx="8366760" cy="775597"/>
          </a:xfrm>
          <a:prstGeom prst="rect">
            <a:avLst/>
          </a:prstGeom>
          <a:noFill/>
        </p:spPr>
        <p:txBody>
          <a:bodyPr wrap="square" lIns="27432" tIns="18288" rIns="27432" bIns="18288" anchor="t">
            <a:spAutoFit/>
          </a:bodyPr>
          <a:lstStyle/>
          <a:p>
            <a:r>
              <a:rPr lang="en-US" altLang="zh-CN" sz="1600" dirty="0">
                <a:solidFill>
                  <a:srgbClr val="374151"/>
                </a:solidFill>
              </a:rPr>
              <a:t>The final method reduces high-error tail cases, which matters for screening reliability and not only average accuracy.</a:t>
            </a:r>
            <a:r>
              <a:rPr lang="en-US" altLang="zh-CN" sz="1600" dirty="0"/>
              <a:t> For molecular screening, average RMSE is not enough. We also care about high-error predictions, because a few large mistakes may mislead candidate selection.</a:t>
            </a:r>
          </a:p>
        </p:txBody>
      </p:sp>
      <p:graphicFrame>
        <p:nvGraphicFramePr>
          <p:cNvPr id="9" name="Table 9">
            <a:extLst>
              <a:ext uri="{FF2B5EF4-FFF2-40B4-BE49-F238E27FC236}">
                <a16:creationId xmlns:a16="http://schemas.microsoft.com/office/drawing/2014/main" id="{FA379742-617D-3B1F-FFEE-B863C3EB13D9}"/>
              </a:ext>
            </a:extLst>
          </p:cNvPr>
          <p:cNvGraphicFramePr>
            <a:graphicFrameLocks noGrp="1"/>
          </p:cNvGraphicFramePr>
          <p:nvPr>
            <p:extLst>
              <p:ext uri="{D42A27DB-BD31-4B8C-83A1-F6EECF244321}">
                <p14:modId xmlns:p14="http://schemas.microsoft.com/office/powerpoint/2010/main" val="4033993129"/>
              </p:ext>
            </p:extLst>
          </p:nvPr>
        </p:nvGraphicFramePr>
        <p:xfrm>
          <a:off x="749808" y="4049268"/>
          <a:ext cx="10424160" cy="140208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tblGrid>
              <a:tr h="228600">
                <a:tc>
                  <a:txBody>
                    <a:bodyPr/>
                    <a:lstStyle/>
                    <a:p>
                      <a:pPr algn="l">
                        <a:defRPr sz="990" b="1">
                          <a:solidFill>
                            <a:srgbClr val="FFFFFF"/>
                          </a:solidFill>
                        </a:defRPr>
                      </a:pPr>
                      <a:r>
                        <a:rPr sz="1600" dirty="0"/>
                        <a:t>Method</a:t>
                      </a:r>
                    </a:p>
                  </a:txBody>
                  <a:tcPr marL="36576" marR="36576" marT="18288" marB="18288">
                    <a:solidFill>
                      <a:srgbClr val="043763"/>
                    </a:solidFill>
                  </a:tcPr>
                </a:tc>
                <a:tc>
                  <a:txBody>
                    <a:bodyPr/>
                    <a:lstStyle/>
                    <a:p>
                      <a:pPr algn="ctr">
                        <a:defRPr sz="990" b="1">
                          <a:solidFill>
                            <a:srgbClr val="FFFFFF"/>
                          </a:solidFill>
                        </a:defRPr>
                      </a:pPr>
                      <a:r>
                        <a:rPr sz="1600"/>
                        <a:t>Q90 abs error</a:t>
                      </a:r>
                    </a:p>
                  </a:txBody>
                  <a:tcPr marL="36576" marR="36576" marT="18288" marB="18288">
                    <a:solidFill>
                      <a:srgbClr val="043763"/>
                    </a:solidFill>
                  </a:tcPr>
                </a:tc>
                <a:tc>
                  <a:txBody>
                    <a:bodyPr/>
                    <a:lstStyle/>
                    <a:p>
                      <a:pPr algn="ctr">
                        <a:defRPr sz="990" b="1">
                          <a:solidFill>
                            <a:srgbClr val="FFFFFF"/>
                          </a:solidFill>
                        </a:defRPr>
                      </a:pPr>
                      <a:r>
                        <a:rPr sz="1600"/>
                        <a:t>Max abs error</a:t>
                      </a:r>
                    </a:p>
                  </a:txBody>
                  <a:tcPr marL="36576" marR="36576" marT="18288" marB="18288">
                    <a:solidFill>
                      <a:srgbClr val="043763"/>
                    </a:solidFill>
                  </a:tcPr>
                </a:tc>
                <a:tc>
                  <a:txBody>
                    <a:bodyPr/>
                    <a:lstStyle/>
                    <a:p>
                      <a:pPr algn="ctr">
                        <a:defRPr sz="990" b="1">
                          <a:solidFill>
                            <a:srgbClr val="FFFFFF"/>
                          </a:solidFill>
                        </a:defRPr>
                      </a:pPr>
                      <a:r>
                        <a:rPr sz="1600"/>
                        <a:t>% abs error &gt; 0.20 eV</a:t>
                      </a:r>
                    </a:p>
                  </a:txBody>
                  <a:tcPr marL="36576" marR="36576" marT="18288" marB="18288">
                    <a:solidFill>
                      <a:srgbClr val="043763"/>
                    </a:solidFill>
                  </a:tcPr>
                </a:tc>
                <a:extLst>
                  <a:ext uri="{0D108BD9-81ED-4DB2-BD59-A6C34878D82A}">
                    <a16:rowId xmlns:a16="http://schemas.microsoft.com/office/drawing/2014/main" val="10000"/>
                  </a:ext>
                </a:extLst>
              </a:tr>
              <a:tr h="228600">
                <a:tc>
                  <a:txBody>
                    <a:bodyPr/>
                    <a:lstStyle/>
                    <a:p>
                      <a:pPr algn="l">
                        <a:defRPr sz="940" b="0">
                          <a:solidFill>
                            <a:srgbClr val="1E293B"/>
                          </a:solidFill>
                        </a:defRPr>
                      </a:pPr>
                      <a:r>
                        <a:rPr sz="1600"/>
                        <a:t>No Aug + Two-stage</a:t>
                      </a:r>
                    </a:p>
                  </a:txBody>
                  <a:tcPr marL="36576" marR="36576" marT="18288" marB="18288">
                    <a:solidFill>
                      <a:srgbClr val="FFFFFF"/>
                    </a:solidFill>
                  </a:tcPr>
                </a:tc>
                <a:tc>
                  <a:txBody>
                    <a:bodyPr/>
                    <a:lstStyle/>
                    <a:p>
                      <a:pPr algn="ctr">
                        <a:defRPr sz="940" b="0">
                          <a:solidFill>
                            <a:srgbClr val="1E293B"/>
                          </a:solidFill>
                        </a:defRPr>
                      </a:pPr>
                      <a:r>
                        <a:rPr sz="1600"/>
                        <a:t>0.2476</a:t>
                      </a:r>
                    </a:p>
                  </a:txBody>
                  <a:tcPr marL="36576" marR="36576" marT="18288" marB="18288">
                    <a:solidFill>
                      <a:srgbClr val="FFFFFF"/>
                    </a:solidFill>
                  </a:tcPr>
                </a:tc>
                <a:tc>
                  <a:txBody>
                    <a:bodyPr/>
                    <a:lstStyle/>
                    <a:p>
                      <a:pPr algn="ctr">
                        <a:defRPr sz="940" b="0">
                          <a:solidFill>
                            <a:srgbClr val="1E293B"/>
                          </a:solidFill>
                        </a:defRPr>
                      </a:pPr>
                      <a:r>
                        <a:rPr sz="1600"/>
                        <a:t>0.4751</a:t>
                      </a:r>
                    </a:p>
                  </a:txBody>
                  <a:tcPr marL="36576" marR="36576" marT="18288" marB="18288">
                    <a:solidFill>
                      <a:srgbClr val="FFFFFF"/>
                    </a:solidFill>
                  </a:tcPr>
                </a:tc>
                <a:tc>
                  <a:txBody>
                    <a:bodyPr/>
                    <a:lstStyle/>
                    <a:p>
                      <a:pPr algn="ctr">
                        <a:defRPr sz="940" b="0">
                          <a:solidFill>
                            <a:srgbClr val="1E293B"/>
                          </a:solidFill>
                        </a:defRPr>
                      </a:pPr>
                      <a:r>
                        <a:rPr sz="1600"/>
                        <a:t>18.96%</a:t>
                      </a:r>
                    </a:p>
                  </a:txBody>
                  <a:tcPr marL="36576" marR="36576" marT="18288" marB="18288">
                    <a:solidFill>
                      <a:srgbClr val="FFFFFF"/>
                    </a:solidFill>
                  </a:tcPr>
                </a:tc>
                <a:extLst>
                  <a:ext uri="{0D108BD9-81ED-4DB2-BD59-A6C34878D82A}">
                    <a16:rowId xmlns:a16="http://schemas.microsoft.com/office/drawing/2014/main" val="10001"/>
                  </a:ext>
                </a:extLst>
              </a:tr>
              <a:tr h="228600">
                <a:tc>
                  <a:txBody>
                    <a:bodyPr/>
                    <a:lstStyle/>
                    <a:p>
                      <a:pPr algn="l">
                        <a:defRPr sz="940" b="1">
                          <a:solidFill>
                            <a:srgbClr val="1E293B"/>
                          </a:solidFill>
                        </a:defRPr>
                      </a:pPr>
                      <a:r>
                        <a:rPr sz="1600" dirty="0">
                          <a:highlight>
                            <a:srgbClr val="FFFF00"/>
                          </a:highlight>
                        </a:rPr>
                        <a:t>Aug + Two-stage</a:t>
                      </a:r>
                    </a:p>
                  </a:txBody>
                  <a:tcPr marL="36576" marR="36576" marT="18288" marB="18288">
                    <a:solidFill>
                      <a:srgbClr val="EFF6FF"/>
                    </a:solidFill>
                  </a:tcPr>
                </a:tc>
                <a:tc>
                  <a:txBody>
                    <a:bodyPr/>
                    <a:lstStyle/>
                    <a:p>
                      <a:pPr algn="ctr">
                        <a:defRPr sz="940" b="1">
                          <a:solidFill>
                            <a:srgbClr val="1E293B"/>
                          </a:solidFill>
                        </a:defRPr>
                      </a:pPr>
                      <a:r>
                        <a:rPr sz="1600" dirty="0">
                          <a:highlight>
                            <a:srgbClr val="FFFF00"/>
                          </a:highlight>
                        </a:rPr>
                        <a:t>0.2210</a:t>
                      </a:r>
                    </a:p>
                  </a:txBody>
                  <a:tcPr marL="36576" marR="36576" marT="18288" marB="18288">
                    <a:solidFill>
                      <a:srgbClr val="EFF6FF"/>
                    </a:solidFill>
                  </a:tcPr>
                </a:tc>
                <a:tc>
                  <a:txBody>
                    <a:bodyPr/>
                    <a:lstStyle/>
                    <a:p>
                      <a:pPr algn="ctr">
                        <a:defRPr sz="940" b="1">
                          <a:solidFill>
                            <a:srgbClr val="1E293B"/>
                          </a:solidFill>
                        </a:defRPr>
                      </a:pPr>
                      <a:r>
                        <a:rPr sz="1600" dirty="0">
                          <a:highlight>
                            <a:srgbClr val="FFFF00"/>
                          </a:highlight>
                        </a:rPr>
                        <a:t>0.4153</a:t>
                      </a:r>
                    </a:p>
                  </a:txBody>
                  <a:tcPr marL="36576" marR="36576" marT="18288" marB="18288">
                    <a:solidFill>
                      <a:srgbClr val="EFF6FF"/>
                    </a:solidFill>
                  </a:tcPr>
                </a:tc>
                <a:tc>
                  <a:txBody>
                    <a:bodyPr/>
                    <a:lstStyle/>
                    <a:p>
                      <a:pPr algn="ctr">
                        <a:defRPr sz="940" b="1">
                          <a:solidFill>
                            <a:srgbClr val="1E293B"/>
                          </a:solidFill>
                        </a:defRPr>
                      </a:pPr>
                      <a:r>
                        <a:rPr sz="1600" dirty="0">
                          <a:highlight>
                            <a:srgbClr val="FFFF00"/>
                          </a:highlight>
                        </a:rPr>
                        <a:t>14.79%</a:t>
                      </a:r>
                    </a:p>
                  </a:txBody>
                  <a:tcPr marL="36576" marR="36576" marT="18288" marB="18288">
                    <a:solidFill>
                      <a:srgbClr val="EFF6FF"/>
                    </a:solidFill>
                  </a:tcPr>
                </a:tc>
                <a:extLst>
                  <a:ext uri="{0D108BD9-81ED-4DB2-BD59-A6C34878D82A}">
                    <a16:rowId xmlns:a16="http://schemas.microsoft.com/office/drawing/2014/main" val="10002"/>
                  </a:ext>
                </a:extLst>
              </a:tr>
              <a:tr h="228600">
                <a:tc>
                  <a:txBody>
                    <a:bodyPr/>
                    <a:lstStyle/>
                    <a:p>
                      <a:pPr algn="l">
                        <a:defRPr sz="940" b="0">
                          <a:solidFill>
                            <a:srgbClr val="1E293B"/>
                          </a:solidFill>
                        </a:defRPr>
                      </a:pPr>
                      <a:r>
                        <a:rPr sz="1600"/>
                        <a:t>Aug + Stage1-only</a:t>
                      </a:r>
                    </a:p>
                  </a:txBody>
                  <a:tcPr marL="36576" marR="36576" marT="18288" marB="18288">
                    <a:solidFill>
                      <a:srgbClr val="FFFFFF"/>
                    </a:solidFill>
                  </a:tcPr>
                </a:tc>
                <a:tc>
                  <a:txBody>
                    <a:bodyPr/>
                    <a:lstStyle/>
                    <a:p>
                      <a:pPr algn="ctr">
                        <a:defRPr sz="940" b="0">
                          <a:solidFill>
                            <a:srgbClr val="1E293B"/>
                          </a:solidFill>
                        </a:defRPr>
                      </a:pPr>
                      <a:r>
                        <a:rPr sz="1600"/>
                        <a:t>0.3127</a:t>
                      </a:r>
                    </a:p>
                  </a:txBody>
                  <a:tcPr marL="36576" marR="36576" marT="18288" marB="18288">
                    <a:solidFill>
                      <a:srgbClr val="FFFFFF"/>
                    </a:solidFill>
                  </a:tcPr>
                </a:tc>
                <a:tc>
                  <a:txBody>
                    <a:bodyPr/>
                    <a:lstStyle/>
                    <a:p>
                      <a:pPr algn="ctr">
                        <a:defRPr sz="940" b="0">
                          <a:solidFill>
                            <a:srgbClr val="1E293B"/>
                          </a:solidFill>
                        </a:defRPr>
                      </a:pPr>
                      <a:r>
                        <a:rPr sz="1600"/>
                        <a:t>0.4325</a:t>
                      </a:r>
                    </a:p>
                  </a:txBody>
                  <a:tcPr marL="36576" marR="36576" marT="18288" marB="18288">
                    <a:solidFill>
                      <a:srgbClr val="FFFFFF"/>
                    </a:solidFill>
                  </a:tcPr>
                </a:tc>
                <a:tc>
                  <a:txBody>
                    <a:bodyPr/>
                    <a:lstStyle/>
                    <a:p>
                      <a:pPr algn="ctr">
                        <a:defRPr sz="940" b="0">
                          <a:solidFill>
                            <a:srgbClr val="1E293B"/>
                          </a:solidFill>
                        </a:defRPr>
                      </a:pPr>
                      <a:r>
                        <a:rPr sz="1600"/>
                        <a:t>28.33%</a:t>
                      </a:r>
                    </a:p>
                  </a:txBody>
                  <a:tcPr marL="36576" marR="36576" marT="18288" marB="18288">
                    <a:solidFill>
                      <a:srgbClr val="FFFFFF"/>
                    </a:solidFill>
                  </a:tcPr>
                </a:tc>
                <a:extLst>
                  <a:ext uri="{0D108BD9-81ED-4DB2-BD59-A6C34878D82A}">
                    <a16:rowId xmlns:a16="http://schemas.microsoft.com/office/drawing/2014/main" val="10003"/>
                  </a:ext>
                </a:extLst>
              </a:tr>
              <a:tr h="228600">
                <a:tc>
                  <a:txBody>
                    <a:bodyPr/>
                    <a:lstStyle/>
                    <a:p>
                      <a:pPr algn="l">
                        <a:defRPr sz="940" b="0">
                          <a:solidFill>
                            <a:srgbClr val="1E293B"/>
                          </a:solidFill>
                        </a:defRPr>
                      </a:pPr>
                      <a:r>
                        <a:rPr sz="1600"/>
                        <a:t>Aug + Stage2-only</a:t>
                      </a:r>
                    </a:p>
                  </a:txBody>
                  <a:tcPr marL="36576" marR="36576" marT="18288" marB="18288">
                    <a:solidFill>
                      <a:srgbClr val="F8FAFC"/>
                    </a:solidFill>
                  </a:tcPr>
                </a:tc>
                <a:tc>
                  <a:txBody>
                    <a:bodyPr/>
                    <a:lstStyle/>
                    <a:p>
                      <a:pPr algn="ctr">
                        <a:defRPr sz="940" b="0">
                          <a:solidFill>
                            <a:srgbClr val="1E293B"/>
                          </a:solidFill>
                        </a:defRPr>
                      </a:pPr>
                      <a:r>
                        <a:rPr sz="1600"/>
                        <a:t>0.2383</a:t>
                      </a:r>
                    </a:p>
                  </a:txBody>
                  <a:tcPr marL="36576" marR="36576" marT="18288" marB="18288">
                    <a:solidFill>
                      <a:srgbClr val="F8FAFC"/>
                    </a:solidFill>
                  </a:tcPr>
                </a:tc>
                <a:tc>
                  <a:txBody>
                    <a:bodyPr/>
                    <a:lstStyle/>
                    <a:p>
                      <a:pPr algn="ctr">
                        <a:defRPr sz="940" b="0">
                          <a:solidFill>
                            <a:srgbClr val="1E293B"/>
                          </a:solidFill>
                        </a:defRPr>
                      </a:pPr>
                      <a:r>
                        <a:rPr sz="1600"/>
                        <a:t>0.5048</a:t>
                      </a:r>
                    </a:p>
                  </a:txBody>
                  <a:tcPr marL="36576" marR="36576" marT="18288" marB="18288">
                    <a:solidFill>
                      <a:srgbClr val="F8FAFC"/>
                    </a:solidFill>
                  </a:tcPr>
                </a:tc>
                <a:tc>
                  <a:txBody>
                    <a:bodyPr/>
                    <a:lstStyle/>
                    <a:p>
                      <a:pPr algn="ctr">
                        <a:defRPr sz="940" b="0">
                          <a:solidFill>
                            <a:srgbClr val="1E293B"/>
                          </a:solidFill>
                        </a:defRPr>
                      </a:pPr>
                      <a:r>
                        <a:rPr sz="1600" dirty="0"/>
                        <a:t>17.71%</a:t>
                      </a:r>
                    </a:p>
                  </a:txBody>
                  <a:tcPr marL="36576" marR="36576" marT="18288" marB="18288">
                    <a:solidFill>
                      <a:srgbClr val="F8FAF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89099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61C26-52C0-28F2-9A83-D54AB954AA6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40D4BEE-DE33-B072-EFF5-6BEE416DA990}"/>
              </a:ext>
            </a:extLst>
          </p:cNvPr>
          <p:cNvSpPr>
            <a:spLocks noGrp="1"/>
          </p:cNvSpPr>
          <p:nvPr>
            <p:ph type="sldNum" sz="quarter" idx="12"/>
          </p:nvPr>
        </p:nvSpPr>
        <p:spPr/>
        <p:txBody>
          <a:bodyPr/>
          <a:lstStyle/>
          <a:p>
            <a:r>
              <a:rPr sz="1200">
                <a:latin typeface="Arial"/>
              </a:rPr>
              <a:t>17</a:t>
            </a:r>
          </a:p>
        </p:txBody>
      </p:sp>
      <p:sp>
        <p:nvSpPr>
          <p:cNvPr id="3" name="文本框 2">
            <a:extLst>
              <a:ext uri="{FF2B5EF4-FFF2-40B4-BE49-F238E27FC236}">
                <a16:creationId xmlns:a16="http://schemas.microsoft.com/office/drawing/2014/main" id="{EFFDB450-68FA-C2F0-9681-7757D85239D2}"/>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SMILES Robustness Probe</a:t>
            </a:r>
          </a:p>
        </p:txBody>
      </p:sp>
      <p:sp>
        <p:nvSpPr>
          <p:cNvPr id="21" name="Text 3">
            <a:extLst>
              <a:ext uri="{FF2B5EF4-FFF2-40B4-BE49-F238E27FC236}">
                <a16:creationId xmlns:a16="http://schemas.microsoft.com/office/drawing/2014/main" id="{B40F8F18-6A60-6B6D-458E-9E2C3B4312BB}"/>
              </a:ext>
            </a:extLst>
          </p:cNvPr>
          <p:cNvSpPr/>
          <p:nvPr/>
        </p:nvSpPr>
        <p:spPr>
          <a:xfrm>
            <a:off x="403780" y="985650"/>
            <a:ext cx="10323576" cy="574868"/>
          </a:xfrm>
          <a:prstGeom prst="rect">
            <a:avLst/>
          </a:prstGeom>
          <a:noFill/>
          <a:ln/>
        </p:spPr>
        <p:txBody>
          <a:bodyPr wrap="square" lIns="0" tIns="0" rIns="0" bIns="0" rtlCol="0" anchor="ctr"/>
          <a:lstStyle/>
          <a:p>
            <a:r>
              <a:rPr lang="en-US" altLang="zh-CN" dirty="0">
                <a:solidFill>
                  <a:srgbClr val="6B7280"/>
                </a:solidFill>
              </a:rPr>
              <a:t>Direct test of whether augmentation reduces sensitivity to equivalent SMILES strings.</a:t>
            </a:r>
          </a:p>
        </p:txBody>
      </p:sp>
      <p:grpSp>
        <p:nvGrpSpPr>
          <p:cNvPr id="27" name="组合 26">
            <a:extLst>
              <a:ext uri="{FF2B5EF4-FFF2-40B4-BE49-F238E27FC236}">
                <a16:creationId xmlns:a16="http://schemas.microsoft.com/office/drawing/2014/main" id="{94F32A84-5CB5-B8FD-65BE-01C602A46639}"/>
              </a:ext>
            </a:extLst>
          </p:cNvPr>
          <p:cNvGrpSpPr/>
          <p:nvPr/>
        </p:nvGrpSpPr>
        <p:grpSpPr>
          <a:xfrm>
            <a:off x="567055" y="5218321"/>
            <a:ext cx="10970255" cy="1418454"/>
            <a:chOff x="1280160" y="5108446"/>
            <a:chExt cx="9942574" cy="1418454"/>
          </a:xfrm>
        </p:grpSpPr>
        <p:sp>
          <p:nvSpPr>
            <p:cNvPr id="23" name="Shape 4">
              <a:extLst>
                <a:ext uri="{FF2B5EF4-FFF2-40B4-BE49-F238E27FC236}">
                  <a16:creationId xmlns:a16="http://schemas.microsoft.com/office/drawing/2014/main" id="{B2513AC0-4051-195B-D48E-A4E36DA9A196}"/>
                </a:ext>
              </a:extLst>
            </p:cNvPr>
            <p:cNvSpPr/>
            <p:nvPr/>
          </p:nvSpPr>
          <p:spPr>
            <a:xfrm>
              <a:off x="1280160" y="5108448"/>
              <a:ext cx="9942574" cy="1418452"/>
            </a:xfrm>
            <a:prstGeom prst="roundRect">
              <a:avLst>
                <a:gd name="adj" fmla="val 6154"/>
              </a:avLst>
            </a:prstGeom>
            <a:solidFill>
              <a:srgbClr val="FFFFFF"/>
            </a:solidFill>
            <a:ln w="10160">
              <a:solidFill>
                <a:srgbClr val="D1D5DB"/>
              </a:solidFill>
              <a:prstDash val="solid"/>
            </a:ln>
          </p:spPr>
          <p:txBody>
            <a:bodyPr/>
            <a:lstStyle/>
            <a:p>
              <a:endParaRPr lang="en-US"/>
            </a:p>
          </p:txBody>
        </p:sp>
        <p:sp>
          <p:nvSpPr>
            <p:cNvPr id="24" name="Shape 5">
              <a:extLst>
                <a:ext uri="{FF2B5EF4-FFF2-40B4-BE49-F238E27FC236}">
                  <a16:creationId xmlns:a16="http://schemas.microsoft.com/office/drawing/2014/main" id="{EDD66829-9DB8-06BD-FFC0-BF687EB3AB3C}"/>
                </a:ext>
              </a:extLst>
            </p:cNvPr>
            <p:cNvSpPr/>
            <p:nvPr/>
          </p:nvSpPr>
          <p:spPr>
            <a:xfrm>
              <a:off x="1280160" y="5108446"/>
              <a:ext cx="41436" cy="1418452"/>
            </a:xfrm>
            <a:prstGeom prst="rect">
              <a:avLst/>
            </a:prstGeom>
            <a:solidFill>
              <a:schemeClr val="tx2">
                <a:lumMod val="75000"/>
                <a:lumOff val="25000"/>
              </a:schemeClr>
            </a:solidFill>
            <a:ln w="12700">
              <a:solidFill>
                <a:srgbClr val="047857">
                  <a:alpha val="0"/>
                </a:srgbClr>
              </a:solidFill>
              <a:prstDash val="solid"/>
            </a:ln>
          </p:spPr>
          <p:txBody>
            <a:bodyPr/>
            <a:lstStyle/>
            <a:p>
              <a:endParaRPr lang="en-US"/>
            </a:p>
          </p:txBody>
        </p:sp>
        <p:sp>
          <p:nvSpPr>
            <p:cNvPr id="25" name="Text 6">
              <a:extLst>
                <a:ext uri="{FF2B5EF4-FFF2-40B4-BE49-F238E27FC236}">
                  <a16:creationId xmlns:a16="http://schemas.microsoft.com/office/drawing/2014/main" id="{9D9D87B4-7470-4309-7169-38A609489A52}"/>
                </a:ext>
              </a:extLst>
            </p:cNvPr>
            <p:cNvSpPr/>
            <p:nvPr/>
          </p:nvSpPr>
          <p:spPr>
            <a:xfrm>
              <a:off x="1515473" y="5181903"/>
              <a:ext cx="9372600" cy="438912"/>
            </a:xfrm>
            <a:prstGeom prst="rect">
              <a:avLst/>
            </a:prstGeom>
            <a:noFill/>
            <a:ln/>
          </p:spPr>
          <p:txBody>
            <a:bodyPr wrap="square" lIns="0" tIns="0" rIns="0" bIns="0" rtlCol="0" anchor="ctr"/>
            <a:lstStyle/>
            <a:p>
              <a:r>
                <a:rPr lang="en-US" altLang="zh-CN" sz="2000" b="1" dirty="0">
                  <a:solidFill>
                    <a:srgbClr val="111827"/>
                  </a:solidFill>
                </a:rPr>
                <a:t>Mechanistic interpretation</a:t>
              </a:r>
              <a:endParaRPr lang="en-US" altLang="zh-CN" sz="2000" dirty="0"/>
            </a:p>
          </p:txBody>
        </p:sp>
        <p:sp>
          <p:nvSpPr>
            <p:cNvPr id="26" name="Text 7">
              <a:extLst>
                <a:ext uri="{FF2B5EF4-FFF2-40B4-BE49-F238E27FC236}">
                  <a16:creationId xmlns:a16="http://schemas.microsoft.com/office/drawing/2014/main" id="{8CB83F9C-BFD0-6237-5BAD-0B85762FAE82}"/>
                </a:ext>
              </a:extLst>
            </p:cNvPr>
            <p:cNvSpPr/>
            <p:nvPr/>
          </p:nvSpPr>
          <p:spPr>
            <a:xfrm>
              <a:off x="1530095" y="5664387"/>
              <a:ext cx="9692639" cy="780899"/>
            </a:xfrm>
            <a:prstGeom prst="rect">
              <a:avLst/>
            </a:prstGeom>
            <a:noFill/>
            <a:ln/>
          </p:spPr>
          <p:txBody>
            <a:bodyPr wrap="square" lIns="254" tIns="254" rIns="254" bIns="254" rtlCol="0" anchor="t">
              <a:noAutofit/>
            </a:bodyPr>
            <a:lstStyle/>
            <a:p>
              <a:r>
                <a:rPr lang="en-US" altLang="zh-CN" sz="1700" dirty="0">
                  <a:solidFill>
                    <a:srgbClr val="374151"/>
                  </a:solidFill>
                </a:rPr>
                <a:t>The augmented model is less sensitive to equivalent SMILES representations, directly supporting the proposed augmentation mechanism.</a:t>
              </a:r>
              <a:r>
                <a:rPr lang="en-US" altLang="zh-CN" sz="1700" dirty="0"/>
                <a:t> This robustness probe is post-hoc evidence using matched checkpoints, not a new full CV training experiment</a:t>
              </a:r>
            </a:p>
          </p:txBody>
        </p:sp>
      </p:grpSp>
      <p:sp>
        <p:nvSpPr>
          <p:cNvPr id="28" name="Rounded Rectangle 5">
            <a:extLst>
              <a:ext uri="{FF2B5EF4-FFF2-40B4-BE49-F238E27FC236}">
                <a16:creationId xmlns:a16="http://schemas.microsoft.com/office/drawing/2014/main" id="{8326EBAF-CEEB-2EAE-E4A9-A52725EFBAA9}"/>
              </a:ext>
            </a:extLst>
          </p:cNvPr>
          <p:cNvSpPr/>
          <p:nvPr/>
        </p:nvSpPr>
        <p:spPr>
          <a:xfrm>
            <a:off x="403780" y="1639679"/>
            <a:ext cx="3703320" cy="3187435"/>
          </a:xfrm>
          <a:prstGeom prst="roundRect">
            <a:avLst>
              <a:gd name="adj" fmla="val 8338"/>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6">
            <a:extLst>
              <a:ext uri="{FF2B5EF4-FFF2-40B4-BE49-F238E27FC236}">
                <a16:creationId xmlns:a16="http://schemas.microsoft.com/office/drawing/2014/main" id="{26AD2596-5CC2-7465-CF66-441543C26B1E}"/>
              </a:ext>
            </a:extLst>
          </p:cNvPr>
          <p:cNvSpPr txBox="1"/>
          <p:nvPr/>
        </p:nvSpPr>
        <p:spPr>
          <a:xfrm>
            <a:off x="655240" y="1729894"/>
            <a:ext cx="3200400" cy="344710"/>
          </a:xfrm>
          <a:prstGeom prst="rect">
            <a:avLst/>
          </a:prstGeom>
          <a:noFill/>
        </p:spPr>
        <p:txBody>
          <a:bodyPr wrap="square" lIns="27432" tIns="18288" rIns="27432" bIns="18288" anchor="t">
            <a:spAutoFit/>
          </a:bodyPr>
          <a:lstStyle/>
          <a:p>
            <a:pPr algn="l">
              <a:defRPr sz="1430" b="1">
                <a:solidFill>
                  <a:srgbClr val="1E293B"/>
                </a:solidFill>
              </a:defRPr>
            </a:pPr>
            <a:r>
              <a:rPr sz="2000" dirty="0"/>
              <a:t>Probe setup</a:t>
            </a:r>
          </a:p>
        </p:txBody>
      </p:sp>
      <p:sp>
        <p:nvSpPr>
          <p:cNvPr id="30" name="Rounded Rectangle 7">
            <a:extLst>
              <a:ext uri="{FF2B5EF4-FFF2-40B4-BE49-F238E27FC236}">
                <a16:creationId xmlns:a16="http://schemas.microsoft.com/office/drawing/2014/main" id="{4C7DFADD-3F99-3D90-9F1E-5F219D0DAEDE}"/>
              </a:ext>
            </a:extLst>
          </p:cNvPr>
          <p:cNvSpPr/>
          <p:nvPr/>
        </p:nvSpPr>
        <p:spPr>
          <a:xfrm>
            <a:off x="796972" y="2234039"/>
            <a:ext cx="2926080" cy="438912"/>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8">
            <a:extLst>
              <a:ext uri="{FF2B5EF4-FFF2-40B4-BE49-F238E27FC236}">
                <a16:creationId xmlns:a16="http://schemas.microsoft.com/office/drawing/2014/main" id="{22D7D783-D6F1-E7B9-5A0C-B98BDA5BB811}"/>
              </a:ext>
            </a:extLst>
          </p:cNvPr>
          <p:cNvSpPr txBox="1"/>
          <p:nvPr/>
        </p:nvSpPr>
        <p:spPr>
          <a:xfrm>
            <a:off x="897556" y="2325479"/>
            <a:ext cx="2724912" cy="283154"/>
          </a:xfrm>
          <a:prstGeom prst="rect">
            <a:avLst/>
          </a:prstGeom>
          <a:noFill/>
        </p:spPr>
        <p:txBody>
          <a:bodyPr wrap="square" lIns="27432" tIns="18288" rIns="27432" bIns="18288" anchor="t">
            <a:spAutoFit/>
          </a:bodyPr>
          <a:lstStyle/>
          <a:p>
            <a:pPr algn="ctr">
              <a:defRPr sz="1019" b="0">
                <a:solidFill>
                  <a:srgbClr val="1E293B"/>
                </a:solidFill>
              </a:defRPr>
            </a:pPr>
            <a:r>
              <a:rPr sz="1600" dirty="0"/>
              <a:t>Same molecule</a:t>
            </a:r>
          </a:p>
        </p:txBody>
      </p:sp>
      <p:sp>
        <p:nvSpPr>
          <p:cNvPr id="32" name="Rounded Rectangle 9">
            <a:extLst>
              <a:ext uri="{FF2B5EF4-FFF2-40B4-BE49-F238E27FC236}">
                <a16:creationId xmlns:a16="http://schemas.microsoft.com/office/drawing/2014/main" id="{A1314E3E-EC6C-F4F2-A1AB-AFFB3C8EDEBC}"/>
              </a:ext>
            </a:extLst>
          </p:cNvPr>
          <p:cNvSpPr/>
          <p:nvPr/>
        </p:nvSpPr>
        <p:spPr>
          <a:xfrm>
            <a:off x="796972" y="2903615"/>
            <a:ext cx="2926080" cy="438912"/>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10">
            <a:extLst>
              <a:ext uri="{FF2B5EF4-FFF2-40B4-BE49-F238E27FC236}">
                <a16:creationId xmlns:a16="http://schemas.microsoft.com/office/drawing/2014/main" id="{5753D6CA-F3C6-CAD3-D0EE-EC96BA8DB851}"/>
              </a:ext>
            </a:extLst>
          </p:cNvPr>
          <p:cNvSpPr txBox="1"/>
          <p:nvPr/>
        </p:nvSpPr>
        <p:spPr>
          <a:xfrm>
            <a:off x="826690" y="2995054"/>
            <a:ext cx="2958084" cy="283154"/>
          </a:xfrm>
          <a:prstGeom prst="rect">
            <a:avLst/>
          </a:prstGeom>
          <a:noFill/>
        </p:spPr>
        <p:txBody>
          <a:bodyPr wrap="square" lIns="27432" tIns="18288" rIns="27432" bIns="18288" anchor="t">
            <a:spAutoFit/>
          </a:bodyPr>
          <a:lstStyle/>
          <a:p>
            <a:pPr algn="ctr">
              <a:defRPr sz="1019" b="0">
                <a:solidFill>
                  <a:srgbClr val="1E293B"/>
                </a:solidFill>
              </a:defRPr>
            </a:pPr>
            <a:r>
              <a:rPr sz="1600" dirty="0"/>
              <a:t>Equivalent randomized SMILES</a:t>
            </a:r>
          </a:p>
        </p:txBody>
      </p:sp>
      <p:sp>
        <p:nvSpPr>
          <p:cNvPr id="34" name="Rounded Rectangle 11">
            <a:extLst>
              <a:ext uri="{FF2B5EF4-FFF2-40B4-BE49-F238E27FC236}">
                <a16:creationId xmlns:a16="http://schemas.microsoft.com/office/drawing/2014/main" id="{A816719B-6047-0A86-CBE8-0AF4F95BC472}"/>
              </a:ext>
            </a:extLst>
          </p:cNvPr>
          <p:cNvSpPr/>
          <p:nvPr/>
        </p:nvSpPr>
        <p:spPr>
          <a:xfrm>
            <a:off x="796972" y="3553527"/>
            <a:ext cx="2926080" cy="438912"/>
          </a:xfrm>
          <a:prstGeom prst="roundRect">
            <a:avLst/>
          </a:prstGeom>
          <a:solidFill>
            <a:srgbClr val="EFF6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12">
            <a:extLst>
              <a:ext uri="{FF2B5EF4-FFF2-40B4-BE49-F238E27FC236}">
                <a16:creationId xmlns:a16="http://schemas.microsoft.com/office/drawing/2014/main" id="{E00F69A0-C227-371A-95C3-8B4B4C6B3B0C}"/>
              </a:ext>
            </a:extLst>
          </p:cNvPr>
          <p:cNvSpPr txBox="1"/>
          <p:nvPr/>
        </p:nvSpPr>
        <p:spPr>
          <a:xfrm>
            <a:off x="897556" y="3644967"/>
            <a:ext cx="2724912" cy="283154"/>
          </a:xfrm>
          <a:prstGeom prst="rect">
            <a:avLst/>
          </a:prstGeom>
          <a:noFill/>
        </p:spPr>
        <p:txBody>
          <a:bodyPr wrap="square" lIns="27432" tIns="18288" rIns="27432" bIns="18288" anchor="t">
            <a:spAutoFit/>
          </a:bodyPr>
          <a:lstStyle/>
          <a:p>
            <a:pPr algn="ctr">
              <a:defRPr sz="1019" b="1">
                <a:solidFill>
                  <a:srgbClr val="2563EB"/>
                </a:solidFill>
              </a:defRPr>
            </a:pPr>
            <a:r>
              <a:rPr sz="1600" dirty="0"/>
              <a:t>Same </a:t>
            </a:r>
            <a:r>
              <a:rPr sz="1600" dirty="0" err="1"/>
              <a:t>Energy_min</a:t>
            </a:r>
            <a:r>
              <a:rPr sz="1600" dirty="0"/>
              <a:t> label</a:t>
            </a:r>
          </a:p>
        </p:txBody>
      </p:sp>
      <p:sp>
        <p:nvSpPr>
          <p:cNvPr id="36" name="Rounded Rectangle 13">
            <a:extLst>
              <a:ext uri="{FF2B5EF4-FFF2-40B4-BE49-F238E27FC236}">
                <a16:creationId xmlns:a16="http://schemas.microsoft.com/office/drawing/2014/main" id="{4C0643F2-12C2-F29D-A888-405CC77AD794}"/>
              </a:ext>
            </a:extLst>
          </p:cNvPr>
          <p:cNvSpPr/>
          <p:nvPr/>
        </p:nvSpPr>
        <p:spPr>
          <a:xfrm>
            <a:off x="796972" y="4242766"/>
            <a:ext cx="2926080" cy="438912"/>
          </a:xfrm>
          <a:prstGeom prst="roundRect">
            <a:avLst/>
          </a:prstGeom>
          <a:solidFill>
            <a:srgbClr val="ECFDF5"/>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14">
            <a:extLst>
              <a:ext uri="{FF2B5EF4-FFF2-40B4-BE49-F238E27FC236}">
                <a16:creationId xmlns:a16="http://schemas.microsoft.com/office/drawing/2014/main" id="{F70C82BE-EEBF-C2FE-A31B-B38C3A93AD4D}"/>
              </a:ext>
            </a:extLst>
          </p:cNvPr>
          <p:cNvSpPr txBox="1"/>
          <p:nvPr/>
        </p:nvSpPr>
        <p:spPr>
          <a:xfrm>
            <a:off x="897556" y="4334206"/>
            <a:ext cx="2724912" cy="283154"/>
          </a:xfrm>
          <a:prstGeom prst="rect">
            <a:avLst/>
          </a:prstGeom>
          <a:noFill/>
        </p:spPr>
        <p:txBody>
          <a:bodyPr wrap="square" lIns="27432" tIns="18288" rIns="27432" bIns="18288" anchor="t">
            <a:spAutoFit/>
          </a:bodyPr>
          <a:lstStyle/>
          <a:p>
            <a:pPr algn="ctr">
              <a:defRPr sz="1019" b="1">
                <a:solidFill>
                  <a:srgbClr val="10B981"/>
                </a:solidFill>
              </a:defRPr>
            </a:pPr>
            <a:r>
              <a:rPr sz="1600" dirty="0"/>
              <a:t>Measure prediction stability</a:t>
            </a:r>
          </a:p>
        </p:txBody>
      </p:sp>
      <p:sp>
        <p:nvSpPr>
          <p:cNvPr id="38" name="Down Arrow 15">
            <a:extLst>
              <a:ext uri="{FF2B5EF4-FFF2-40B4-BE49-F238E27FC236}">
                <a16:creationId xmlns:a16="http://schemas.microsoft.com/office/drawing/2014/main" id="{3D3F156F-FE64-C3E2-E1FA-E2A54A681D31}"/>
              </a:ext>
            </a:extLst>
          </p:cNvPr>
          <p:cNvSpPr/>
          <p:nvPr/>
        </p:nvSpPr>
        <p:spPr>
          <a:xfrm>
            <a:off x="1985692" y="2691239"/>
            <a:ext cx="320040" cy="210312"/>
          </a:xfrm>
          <a:prstGeom prst="downArrow">
            <a:avLst/>
          </a:prstGeom>
          <a:solidFill>
            <a:srgbClr val="94A3B8"/>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Down Arrow 16">
            <a:extLst>
              <a:ext uri="{FF2B5EF4-FFF2-40B4-BE49-F238E27FC236}">
                <a16:creationId xmlns:a16="http://schemas.microsoft.com/office/drawing/2014/main" id="{40B73CF1-3B47-CD33-92B2-F2BB7D230E58}"/>
              </a:ext>
            </a:extLst>
          </p:cNvPr>
          <p:cNvSpPr/>
          <p:nvPr/>
        </p:nvSpPr>
        <p:spPr>
          <a:xfrm>
            <a:off x="1985692" y="3341151"/>
            <a:ext cx="320040" cy="210312"/>
          </a:xfrm>
          <a:prstGeom prst="downArrow">
            <a:avLst/>
          </a:prstGeom>
          <a:solidFill>
            <a:srgbClr val="94A3B8"/>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Down Arrow 17">
            <a:extLst>
              <a:ext uri="{FF2B5EF4-FFF2-40B4-BE49-F238E27FC236}">
                <a16:creationId xmlns:a16="http://schemas.microsoft.com/office/drawing/2014/main" id="{34EB056B-E328-DFC8-7BEF-72C4024DD4E4}"/>
              </a:ext>
            </a:extLst>
          </p:cNvPr>
          <p:cNvSpPr/>
          <p:nvPr/>
        </p:nvSpPr>
        <p:spPr>
          <a:xfrm>
            <a:off x="1985692" y="4000895"/>
            <a:ext cx="320040" cy="210312"/>
          </a:xfrm>
          <a:prstGeom prst="downArrow">
            <a:avLst/>
          </a:prstGeom>
          <a:solidFill>
            <a:srgbClr val="94A3B8"/>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1" name="Table 18">
            <a:extLst>
              <a:ext uri="{FF2B5EF4-FFF2-40B4-BE49-F238E27FC236}">
                <a16:creationId xmlns:a16="http://schemas.microsoft.com/office/drawing/2014/main" id="{B2CC6F96-9961-2F87-3C9C-BDB4784F13EA}"/>
              </a:ext>
            </a:extLst>
          </p:cNvPr>
          <p:cNvGraphicFramePr>
            <a:graphicFrameLocks noGrp="1"/>
          </p:cNvGraphicFramePr>
          <p:nvPr>
            <p:extLst>
              <p:ext uri="{D42A27DB-BD31-4B8C-83A1-F6EECF244321}">
                <p14:modId xmlns:p14="http://schemas.microsoft.com/office/powerpoint/2010/main" val="3652809304"/>
              </p:ext>
            </p:extLst>
          </p:nvPr>
        </p:nvGraphicFramePr>
        <p:xfrm>
          <a:off x="4363132" y="1639679"/>
          <a:ext cx="6949439" cy="1438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57200">
                <a:tc>
                  <a:txBody>
                    <a:bodyPr/>
                    <a:lstStyle/>
                    <a:p>
                      <a:pPr algn="l">
                        <a:defRPr sz="930" b="1">
                          <a:solidFill>
                            <a:srgbClr val="FFFFFF"/>
                          </a:solidFill>
                        </a:defRPr>
                      </a:pPr>
                      <a:r>
                        <a:rPr sz="1600" dirty="0"/>
                        <a:t>Model</a:t>
                      </a:r>
                    </a:p>
                  </a:txBody>
                  <a:tcPr marL="36576" marR="36576" marT="18288" marB="18288">
                    <a:solidFill>
                      <a:srgbClr val="043763"/>
                    </a:solidFill>
                  </a:tcPr>
                </a:tc>
                <a:tc>
                  <a:txBody>
                    <a:bodyPr/>
                    <a:lstStyle/>
                    <a:p>
                      <a:pPr algn="ctr">
                        <a:defRPr sz="930" b="1">
                          <a:solidFill>
                            <a:srgbClr val="FFFFFF"/>
                          </a:solidFill>
                        </a:defRPr>
                      </a:pPr>
                      <a:r>
                        <a:rPr sz="1600"/>
                        <a:t>Prediction std across variants</a:t>
                      </a:r>
                    </a:p>
                  </a:txBody>
                  <a:tcPr marL="36576" marR="36576" marT="18288" marB="18288">
                    <a:solidFill>
                      <a:srgbClr val="043763"/>
                    </a:solidFill>
                  </a:tcPr>
                </a:tc>
                <a:tc>
                  <a:txBody>
                    <a:bodyPr/>
                    <a:lstStyle/>
                    <a:p>
                      <a:pPr algn="ctr">
                        <a:defRPr sz="930" b="1">
                          <a:solidFill>
                            <a:srgbClr val="FFFFFF"/>
                          </a:solidFill>
                        </a:defRPr>
                      </a:pPr>
                      <a:r>
                        <a:rPr sz="1600"/>
                        <a:t>Randomized RMSE degradation</a:t>
                      </a:r>
                    </a:p>
                  </a:txBody>
                  <a:tcPr marL="36576" marR="36576" marT="18288" marB="18288">
                    <a:solidFill>
                      <a:srgbClr val="043763"/>
                    </a:solidFill>
                  </a:tcPr>
                </a:tc>
                <a:tc>
                  <a:txBody>
                    <a:bodyPr/>
                    <a:lstStyle/>
                    <a:p>
                      <a:pPr algn="ctr">
                        <a:defRPr sz="930" b="1">
                          <a:solidFill>
                            <a:srgbClr val="FFFFFF"/>
                          </a:solidFill>
                        </a:defRPr>
                      </a:pPr>
                      <a:r>
                        <a:rPr sz="1600"/>
                        <a:t>All-variant RMSE</a:t>
                      </a:r>
                    </a:p>
                  </a:txBody>
                  <a:tcPr marL="36576" marR="36576" marT="18288" marB="18288">
                    <a:solidFill>
                      <a:srgbClr val="043763"/>
                    </a:solidFill>
                  </a:tcPr>
                </a:tc>
                <a:extLst>
                  <a:ext uri="{0D108BD9-81ED-4DB2-BD59-A6C34878D82A}">
                    <a16:rowId xmlns:a16="http://schemas.microsoft.com/office/drawing/2014/main" val="10000"/>
                  </a:ext>
                </a:extLst>
              </a:tr>
              <a:tr h="457200">
                <a:tc>
                  <a:txBody>
                    <a:bodyPr/>
                    <a:lstStyle/>
                    <a:p>
                      <a:pPr algn="l">
                        <a:defRPr sz="880" b="0">
                          <a:solidFill>
                            <a:srgbClr val="1E293B"/>
                          </a:solidFill>
                        </a:defRPr>
                      </a:pPr>
                      <a:r>
                        <a:rPr sz="1600"/>
                        <a:t>No Aug + Two-stage</a:t>
                      </a:r>
                    </a:p>
                  </a:txBody>
                  <a:tcPr marL="36576" marR="36576" marT="18288" marB="18288">
                    <a:solidFill>
                      <a:srgbClr val="FFFFFF"/>
                    </a:solidFill>
                  </a:tcPr>
                </a:tc>
                <a:tc>
                  <a:txBody>
                    <a:bodyPr/>
                    <a:lstStyle/>
                    <a:p>
                      <a:pPr algn="ctr">
                        <a:defRPr sz="880" b="0">
                          <a:solidFill>
                            <a:srgbClr val="1E293B"/>
                          </a:solidFill>
                        </a:defRPr>
                      </a:pPr>
                      <a:r>
                        <a:rPr sz="1600"/>
                        <a:t>0.0805</a:t>
                      </a:r>
                    </a:p>
                  </a:txBody>
                  <a:tcPr marL="36576" marR="36576" marT="18288" marB="18288">
                    <a:solidFill>
                      <a:srgbClr val="FFFFFF"/>
                    </a:solidFill>
                  </a:tcPr>
                </a:tc>
                <a:tc>
                  <a:txBody>
                    <a:bodyPr/>
                    <a:lstStyle/>
                    <a:p>
                      <a:pPr algn="ctr">
                        <a:defRPr sz="880" b="0">
                          <a:solidFill>
                            <a:srgbClr val="1E293B"/>
                          </a:solidFill>
                        </a:defRPr>
                      </a:pPr>
                      <a:r>
                        <a:rPr sz="1600"/>
                        <a:t>0.0262</a:t>
                      </a:r>
                    </a:p>
                  </a:txBody>
                  <a:tcPr marL="36576" marR="36576" marT="18288" marB="18288">
                    <a:solidFill>
                      <a:srgbClr val="FFFFFF"/>
                    </a:solidFill>
                  </a:tcPr>
                </a:tc>
                <a:tc>
                  <a:txBody>
                    <a:bodyPr/>
                    <a:lstStyle/>
                    <a:p>
                      <a:pPr algn="ctr">
                        <a:defRPr sz="880" b="0">
                          <a:solidFill>
                            <a:srgbClr val="1E293B"/>
                          </a:solidFill>
                        </a:defRPr>
                      </a:pPr>
                      <a:r>
                        <a:rPr sz="1600"/>
                        <a:t>0.1662</a:t>
                      </a:r>
                    </a:p>
                  </a:txBody>
                  <a:tcPr marL="36576" marR="36576" marT="18288" marB="18288">
                    <a:solidFill>
                      <a:srgbClr val="FFFFFF"/>
                    </a:solidFill>
                  </a:tcPr>
                </a:tc>
                <a:extLst>
                  <a:ext uri="{0D108BD9-81ED-4DB2-BD59-A6C34878D82A}">
                    <a16:rowId xmlns:a16="http://schemas.microsoft.com/office/drawing/2014/main" val="10001"/>
                  </a:ext>
                </a:extLst>
              </a:tr>
              <a:tr h="457200">
                <a:tc>
                  <a:txBody>
                    <a:bodyPr/>
                    <a:lstStyle/>
                    <a:p>
                      <a:pPr algn="l">
                        <a:defRPr sz="880" b="1">
                          <a:solidFill>
                            <a:srgbClr val="1E293B"/>
                          </a:solidFill>
                        </a:defRPr>
                      </a:pPr>
                      <a:r>
                        <a:rPr sz="1600"/>
                        <a:t>Aug + Two-stage</a:t>
                      </a:r>
                    </a:p>
                  </a:txBody>
                  <a:tcPr marL="36576" marR="36576" marT="18288" marB="18288">
                    <a:solidFill>
                      <a:srgbClr val="EFF6FF"/>
                    </a:solidFill>
                  </a:tcPr>
                </a:tc>
                <a:tc>
                  <a:txBody>
                    <a:bodyPr/>
                    <a:lstStyle/>
                    <a:p>
                      <a:pPr algn="ctr">
                        <a:defRPr sz="880" b="1">
                          <a:solidFill>
                            <a:srgbClr val="1E293B"/>
                          </a:solidFill>
                        </a:defRPr>
                      </a:pPr>
                      <a:r>
                        <a:rPr sz="1600"/>
                        <a:t>0.0628</a:t>
                      </a:r>
                    </a:p>
                  </a:txBody>
                  <a:tcPr marL="36576" marR="36576" marT="18288" marB="18288">
                    <a:solidFill>
                      <a:srgbClr val="EFF6FF"/>
                    </a:solidFill>
                  </a:tcPr>
                </a:tc>
                <a:tc>
                  <a:txBody>
                    <a:bodyPr/>
                    <a:lstStyle/>
                    <a:p>
                      <a:pPr algn="ctr">
                        <a:defRPr sz="880" b="1">
                          <a:solidFill>
                            <a:srgbClr val="1E293B"/>
                          </a:solidFill>
                        </a:defRPr>
                      </a:pPr>
                      <a:r>
                        <a:rPr sz="1600"/>
                        <a:t>0.0231</a:t>
                      </a:r>
                    </a:p>
                  </a:txBody>
                  <a:tcPr marL="36576" marR="36576" marT="18288" marB="18288">
                    <a:solidFill>
                      <a:srgbClr val="EFF6FF"/>
                    </a:solidFill>
                  </a:tcPr>
                </a:tc>
                <a:tc>
                  <a:txBody>
                    <a:bodyPr/>
                    <a:lstStyle/>
                    <a:p>
                      <a:pPr algn="ctr">
                        <a:defRPr sz="880" b="1">
                          <a:solidFill>
                            <a:srgbClr val="1E293B"/>
                          </a:solidFill>
                        </a:defRPr>
                      </a:pPr>
                      <a:r>
                        <a:rPr sz="1600" dirty="0"/>
                        <a:t>0.1493</a:t>
                      </a:r>
                    </a:p>
                  </a:txBody>
                  <a:tcPr marL="36576" marR="36576" marT="18288" marB="18288">
                    <a:solidFill>
                      <a:srgbClr val="EFF6FF"/>
                    </a:solidFill>
                  </a:tcPr>
                </a:tc>
                <a:extLst>
                  <a:ext uri="{0D108BD9-81ED-4DB2-BD59-A6C34878D82A}">
                    <a16:rowId xmlns:a16="http://schemas.microsoft.com/office/drawing/2014/main" val="10002"/>
                  </a:ext>
                </a:extLst>
              </a:tr>
            </a:tbl>
          </a:graphicData>
        </a:graphic>
      </p:graphicFrame>
      <p:pic>
        <p:nvPicPr>
          <p:cNvPr id="44" name="Picture 21" descr="slide20_robustness_arrows.png">
            <a:extLst>
              <a:ext uri="{FF2B5EF4-FFF2-40B4-BE49-F238E27FC236}">
                <a16:creationId xmlns:a16="http://schemas.microsoft.com/office/drawing/2014/main" id="{A88CA0CF-BBC8-E37B-8A71-D5C6DB80BAED}"/>
              </a:ext>
            </a:extLst>
          </p:cNvPr>
          <p:cNvPicPr>
            <a:picLocks noChangeAspect="1"/>
          </p:cNvPicPr>
          <p:nvPr/>
        </p:nvPicPr>
        <p:blipFill>
          <a:blip r:embed="rId2"/>
          <a:stretch>
            <a:fillRect/>
          </a:stretch>
        </p:blipFill>
        <p:spPr>
          <a:xfrm>
            <a:off x="4207684" y="3288565"/>
            <a:ext cx="7329626" cy="1984925"/>
          </a:xfrm>
          <a:prstGeom prst="rect">
            <a:avLst/>
          </a:prstGeom>
        </p:spPr>
      </p:pic>
    </p:spTree>
    <p:extLst>
      <p:ext uri="{BB962C8B-B14F-4D97-AF65-F5344CB8AC3E}">
        <p14:creationId xmlns:p14="http://schemas.microsoft.com/office/powerpoint/2010/main" val="2057558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41687-AF2F-75CF-D39D-DB0575B9E7C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738DC08-AF2A-0A2A-9455-DBA2341E9D99}"/>
              </a:ext>
            </a:extLst>
          </p:cNvPr>
          <p:cNvSpPr>
            <a:spLocks noGrp="1"/>
          </p:cNvSpPr>
          <p:nvPr>
            <p:ph type="sldNum" sz="quarter" idx="12"/>
          </p:nvPr>
        </p:nvSpPr>
        <p:spPr/>
        <p:txBody>
          <a:bodyPr/>
          <a:lstStyle/>
          <a:p>
            <a:r>
              <a:rPr sz="1200">
                <a:latin typeface="Arial"/>
              </a:rPr>
              <a:t>18</a:t>
            </a:r>
          </a:p>
        </p:txBody>
      </p:sp>
      <p:sp>
        <p:nvSpPr>
          <p:cNvPr id="5" name="文本框 4">
            <a:extLst>
              <a:ext uri="{FF2B5EF4-FFF2-40B4-BE49-F238E27FC236}">
                <a16:creationId xmlns:a16="http://schemas.microsoft.com/office/drawing/2014/main" id="{02229D08-4CD1-54E7-6949-BDF707B8F98D}"/>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Outline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F151E514-0DDB-B8E7-5EA2-CF7D1A51BB90}"/>
              </a:ext>
            </a:extLst>
          </p:cNvPr>
          <p:cNvSpPr txBox="1"/>
          <p:nvPr/>
        </p:nvSpPr>
        <p:spPr>
          <a:xfrm>
            <a:off x="1666714" y="1268760"/>
            <a:ext cx="8856984" cy="3970318"/>
          </a:xfrm>
          <a:prstGeom prst="rect">
            <a:avLst/>
          </a:prstGeom>
          <a:noFill/>
        </p:spPr>
        <p:txBody>
          <a:bodyPr wrap="square">
            <a:spAutoFit/>
          </a:bodyPr>
          <a:lstStyle/>
          <a:p>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a:t>
            </a:r>
            <a:r>
              <a:rPr lang="en-US" altLang="zh-CN" sz="2800" b="1" dirty="0">
                <a:ea typeface="Segoe UI Black" panose="020B0A02040204020203" pitchFamily="34" charset="0"/>
              </a:rPr>
              <a:t>Background and data processing</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M</a:t>
            </a:r>
            <a:r>
              <a:rPr lang="en-US" altLang="zh-CN" sz="2800" b="1" dirty="0">
                <a:solidFill>
                  <a:srgbClr val="111827"/>
                </a:solidFill>
              </a:rPr>
              <a:t>odel and training strategy</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Results and mechanistic analysis</a:t>
            </a: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r>
              <a:rPr lang="en-US" altLang="zh-CN" sz="2800" b="1" dirty="0">
                <a:solidFill>
                  <a:schemeClr val="accent1"/>
                </a:solidFill>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chemeClr val="accent1"/>
                </a:solidFill>
              </a:rPr>
              <a:t>Special cases, attention, limitations</a:t>
            </a:r>
            <a:endParaRPr lang="en-US" altLang="zh-CN" sz="2800" dirty="0">
              <a:solidFill>
                <a:schemeClr val="accent1"/>
              </a:solidFill>
            </a:endParaRPr>
          </a:p>
          <a:p>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p:txBody>
      </p:sp>
    </p:spTree>
    <p:extLst>
      <p:ext uri="{BB962C8B-B14F-4D97-AF65-F5344CB8AC3E}">
        <p14:creationId xmlns:p14="http://schemas.microsoft.com/office/powerpoint/2010/main" val="2658950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DA896-3460-F325-9F26-6067D017379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56683BD-080B-2629-F007-E9FA3AA0E78F}"/>
              </a:ext>
            </a:extLst>
          </p:cNvPr>
          <p:cNvSpPr>
            <a:spLocks noGrp="1"/>
          </p:cNvSpPr>
          <p:nvPr>
            <p:ph type="sldNum" sz="quarter" idx="12"/>
          </p:nvPr>
        </p:nvSpPr>
        <p:spPr/>
        <p:txBody>
          <a:bodyPr/>
          <a:lstStyle/>
          <a:p>
            <a:r>
              <a:rPr sz="1200">
                <a:latin typeface="Arial"/>
              </a:rPr>
              <a:t>19</a:t>
            </a:r>
          </a:p>
        </p:txBody>
      </p:sp>
      <p:sp>
        <p:nvSpPr>
          <p:cNvPr id="3" name="文本框 2">
            <a:extLst>
              <a:ext uri="{FF2B5EF4-FFF2-40B4-BE49-F238E27FC236}">
                <a16:creationId xmlns:a16="http://schemas.microsoft.com/office/drawing/2014/main" id="{4A34DE84-563B-D0D4-B12E-6FC0B3494A74}"/>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Special Case Analysis</a:t>
            </a:r>
          </a:p>
        </p:txBody>
      </p:sp>
      <p:sp>
        <p:nvSpPr>
          <p:cNvPr id="21" name="Text 3">
            <a:extLst>
              <a:ext uri="{FF2B5EF4-FFF2-40B4-BE49-F238E27FC236}">
                <a16:creationId xmlns:a16="http://schemas.microsoft.com/office/drawing/2014/main" id="{35427DF5-504A-23C9-86DE-EDB2F9E56122}"/>
              </a:ext>
            </a:extLst>
          </p:cNvPr>
          <p:cNvSpPr/>
          <p:nvPr/>
        </p:nvSpPr>
        <p:spPr>
          <a:xfrm>
            <a:off x="403780" y="937571"/>
            <a:ext cx="10323576" cy="574868"/>
          </a:xfrm>
          <a:prstGeom prst="rect">
            <a:avLst/>
          </a:prstGeom>
          <a:noFill/>
          <a:ln/>
        </p:spPr>
        <p:txBody>
          <a:bodyPr wrap="square" lIns="0" tIns="0" rIns="0" bIns="0" rtlCol="0" anchor="ctr"/>
          <a:lstStyle/>
          <a:p>
            <a:r>
              <a:rPr lang="en-US" altLang="zh-CN" sz="2000" dirty="0">
                <a:solidFill>
                  <a:srgbClr val="6B7280"/>
                </a:solidFill>
              </a:rPr>
              <a:t>Failures concentrate in chemically unusual ionic or halogen-containing species.</a:t>
            </a:r>
            <a:endParaRPr lang="en-US" altLang="zh-CN" sz="2000" dirty="0"/>
          </a:p>
        </p:txBody>
      </p:sp>
      <p:graphicFrame>
        <p:nvGraphicFramePr>
          <p:cNvPr id="4" name="表格 3">
            <a:extLst>
              <a:ext uri="{FF2B5EF4-FFF2-40B4-BE49-F238E27FC236}">
                <a16:creationId xmlns:a16="http://schemas.microsoft.com/office/drawing/2014/main" id="{DD76520E-5BF1-50ED-3D49-8E73FE58A51F}"/>
              </a:ext>
            </a:extLst>
          </p:cNvPr>
          <p:cNvGraphicFramePr>
            <a:graphicFrameLocks noGrp="1"/>
          </p:cNvGraphicFramePr>
          <p:nvPr/>
        </p:nvGraphicFramePr>
        <p:xfrm>
          <a:off x="403780" y="1496984"/>
          <a:ext cx="4168220" cy="5146185"/>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084110">
                  <a:extLst>
                    <a:ext uri="{9D8B030D-6E8A-4147-A177-3AD203B41FA5}">
                      <a16:colId xmlns:a16="http://schemas.microsoft.com/office/drawing/2014/main" val="646726754"/>
                    </a:ext>
                  </a:extLst>
                </a:gridCol>
                <a:gridCol w="2084110">
                  <a:extLst>
                    <a:ext uri="{9D8B030D-6E8A-4147-A177-3AD203B41FA5}">
                      <a16:colId xmlns:a16="http://schemas.microsoft.com/office/drawing/2014/main" val="110774693"/>
                    </a:ext>
                  </a:extLst>
                </a:gridCol>
              </a:tblGrid>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SMILES</a:t>
                      </a:r>
                      <a:endParaRPr lang="en-US" altLang="zh-CN" sz="1800" dirty="0"/>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Mean abs error</a:t>
                      </a:r>
                    </a:p>
                  </a:txBody>
                  <a:tcPr>
                    <a:solidFill>
                      <a:srgbClr val="003870"/>
                    </a:solidFill>
                  </a:tcPr>
                </a:tc>
                <a:extLst>
                  <a:ext uri="{0D108BD9-81ED-4DB2-BD59-A6C34878D82A}">
                    <a16:rowId xmlns:a16="http://schemas.microsoft.com/office/drawing/2014/main" val="234137060"/>
                  </a:ext>
                </a:extLst>
              </a:tr>
              <a:tr h="467835">
                <a:tc>
                  <a:txBody>
                    <a:bodyPr/>
                    <a:lstStyle/>
                    <a:p>
                      <a:pPr marL="0" indent="0" algn="ctr">
                        <a:buNone/>
                      </a:pPr>
                      <a:r>
                        <a:rPr lang="en-US" altLang="zh-CN" sz="1800" dirty="0">
                          <a:solidFill>
                            <a:srgbClr val="374151"/>
                          </a:solidFill>
                        </a:rPr>
                        <a:t>[B-]OC.[Na+]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0.3580</a:t>
                      </a:r>
                    </a:p>
                  </a:txBody>
                  <a:tcPr anchor="ctr"/>
                </a:tc>
                <a:extLst>
                  <a:ext uri="{0D108BD9-81ED-4DB2-BD59-A6C34878D82A}">
                    <a16:rowId xmlns:a16="http://schemas.microsoft.com/office/drawing/2014/main" val="398106450"/>
                  </a:ext>
                </a:extLst>
              </a:tr>
              <a:tr h="467835">
                <a:tc>
                  <a:txBody>
                    <a:bodyPr/>
                    <a:lstStyle/>
                    <a:p>
                      <a:pPr marL="0" indent="0" algn="ctr">
                        <a:buNone/>
                      </a:pPr>
                      <a:r>
                        <a:rPr lang="en-US" altLang="zh-CN" sz="1800" b="1" dirty="0">
                          <a:solidFill>
                            <a:srgbClr val="374151"/>
                          </a:solidFill>
                        </a:rPr>
                        <a:t>[Li+].[O-]I</a:t>
                      </a:r>
                    </a:p>
                  </a:txBody>
                  <a:tcPr anchor="ctr"/>
                </a:tc>
                <a:tc>
                  <a:txBody>
                    <a:bodyPr/>
                    <a:lstStyle/>
                    <a:p>
                      <a:pPr marL="0" indent="0" algn="ctr">
                        <a:buNone/>
                      </a:pPr>
                      <a:r>
                        <a:rPr lang="en-US" altLang="zh-CN" sz="1800" dirty="0"/>
                        <a:t>0.2952</a:t>
                      </a:r>
                    </a:p>
                  </a:txBody>
                  <a:tcPr anchor="ctr"/>
                </a:tc>
                <a:extLst>
                  <a:ext uri="{0D108BD9-81ED-4DB2-BD59-A6C34878D82A}">
                    <a16:rowId xmlns:a16="http://schemas.microsoft.com/office/drawing/2014/main" val="957574858"/>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[BH3-]I.[Na+]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0.2919</a:t>
                      </a:r>
                    </a:p>
                  </a:txBody>
                  <a:tcPr anchor="ctr"/>
                </a:tc>
                <a:extLst>
                  <a:ext uri="{0D108BD9-81ED-4DB2-BD59-A6C34878D82A}">
                    <a16:rowId xmlns:a16="http://schemas.microsoft.com/office/drawing/2014/main" val="3781422370"/>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[B][C-]=N.[Na+]</a:t>
                      </a:r>
                    </a:p>
                  </a:txBody>
                  <a:tcPr anchor="ctr"/>
                </a:tc>
                <a:tc>
                  <a:txBody>
                    <a:bodyPr/>
                    <a:lstStyle/>
                    <a:p>
                      <a:pPr algn="ctr"/>
                      <a:r>
                        <a:rPr lang="en-HK" sz="1800" b="0" kern="1200" dirty="0">
                          <a:solidFill>
                            <a:schemeClr val="dk1"/>
                          </a:solidFill>
                          <a:effectLst/>
                          <a:latin typeface="+mn-lt"/>
                          <a:ea typeface="+mn-ea"/>
                          <a:cs typeface="+mn-cs"/>
                        </a:rPr>
                        <a:t>0.2655</a:t>
                      </a:r>
                    </a:p>
                  </a:txBody>
                  <a:tcPr anchor="ctr"/>
                </a:tc>
                <a:extLst>
                  <a:ext uri="{0D108BD9-81ED-4DB2-BD59-A6C34878D82A}">
                    <a16:rowId xmlns:a16="http://schemas.microsoft.com/office/drawing/2014/main" val="10145188"/>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CO[O-].[Na+]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0.2626</a:t>
                      </a:r>
                    </a:p>
                  </a:txBody>
                  <a:tcPr anchor="ctr"/>
                </a:tc>
                <a:extLst>
                  <a:ext uri="{0D108BD9-81ED-4DB2-BD59-A6C34878D82A}">
                    <a16:rowId xmlns:a16="http://schemas.microsoft.com/office/drawing/2014/main" val="484711421"/>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[B]=[N-].[K+]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0.2476</a:t>
                      </a:r>
                    </a:p>
                  </a:txBody>
                  <a:tcPr anchor="ctr"/>
                </a:tc>
                <a:extLst>
                  <a:ext uri="{0D108BD9-81ED-4DB2-BD59-A6C34878D82A}">
                    <a16:rowId xmlns:a16="http://schemas.microsoft.com/office/drawing/2014/main" val="959558593"/>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C[CH-]N.[Rb+]</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0.2304</a:t>
                      </a:r>
                    </a:p>
                  </a:txBody>
                  <a:tcPr anchor="ctr"/>
                </a:tc>
                <a:extLst>
                  <a:ext uri="{0D108BD9-81ED-4DB2-BD59-A6C34878D82A}">
                    <a16:rowId xmlns:a16="http://schemas.microsoft.com/office/drawing/2014/main" val="1414138026"/>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C[CH][CH2-].[Rb+]</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0.2182</a:t>
                      </a:r>
                    </a:p>
                  </a:txBody>
                  <a:tcPr anchor="ctr"/>
                </a:tc>
                <a:extLst>
                  <a:ext uri="{0D108BD9-81ED-4DB2-BD59-A6C34878D82A}">
                    <a16:rowId xmlns:a16="http://schemas.microsoft.com/office/drawing/2014/main" val="2083287663"/>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C([O-])I.[Na+]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0.2087</a:t>
                      </a:r>
                    </a:p>
                  </a:txBody>
                  <a:tcPr anchor="ctr"/>
                </a:tc>
                <a:extLst>
                  <a:ext uri="{0D108BD9-81ED-4DB2-BD59-A6C34878D82A}">
                    <a16:rowId xmlns:a16="http://schemas.microsoft.com/office/drawing/2014/main" val="4162427410"/>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[Li+].C[NH-]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0.2059</a:t>
                      </a:r>
                    </a:p>
                  </a:txBody>
                  <a:tcPr anchor="ctr"/>
                </a:tc>
                <a:extLst>
                  <a:ext uri="{0D108BD9-81ED-4DB2-BD59-A6C34878D82A}">
                    <a16:rowId xmlns:a16="http://schemas.microsoft.com/office/drawing/2014/main" val="2311790827"/>
                  </a:ext>
                </a:extLst>
              </a:tr>
            </a:tbl>
          </a:graphicData>
        </a:graphic>
      </p:graphicFrame>
      <p:graphicFrame>
        <p:nvGraphicFramePr>
          <p:cNvPr id="8" name="表格 7">
            <a:extLst>
              <a:ext uri="{FF2B5EF4-FFF2-40B4-BE49-F238E27FC236}">
                <a16:creationId xmlns:a16="http://schemas.microsoft.com/office/drawing/2014/main" id="{8420FB6D-1960-D892-BCA3-5B39225C4C00}"/>
              </a:ext>
            </a:extLst>
          </p:cNvPr>
          <p:cNvGraphicFramePr>
            <a:graphicFrameLocks noGrp="1"/>
          </p:cNvGraphicFramePr>
          <p:nvPr/>
        </p:nvGraphicFramePr>
        <p:xfrm>
          <a:off x="4879768" y="1496983"/>
          <a:ext cx="4168220" cy="5146185"/>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084110">
                  <a:extLst>
                    <a:ext uri="{9D8B030D-6E8A-4147-A177-3AD203B41FA5}">
                      <a16:colId xmlns:a16="http://schemas.microsoft.com/office/drawing/2014/main" val="646726754"/>
                    </a:ext>
                  </a:extLst>
                </a:gridCol>
                <a:gridCol w="2084110">
                  <a:extLst>
                    <a:ext uri="{9D8B030D-6E8A-4147-A177-3AD203B41FA5}">
                      <a16:colId xmlns:a16="http://schemas.microsoft.com/office/drawing/2014/main" val="110774693"/>
                    </a:ext>
                  </a:extLst>
                </a:gridCol>
              </a:tblGrid>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SMILES</a:t>
                      </a:r>
                      <a:endParaRPr lang="en-US" altLang="zh-CN" sz="1800" dirty="0"/>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Mean abs error</a:t>
                      </a:r>
                    </a:p>
                  </a:txBody>
                  <a:tcPr>
                    <a:solidFill>
                      <a:srgbClr val="003870"/>
                    </a:solidFill>
                  </a:tcPr>
                </a:tc>
                <a:extLst>
                  <a:ext uri="{0D108BD9-81ED-4DB2-BD59-A6C34878D82A}">
                    <a16:rowId xmlns:a16="http://schemas.microsoft.com/office/drawing/2014/main" val="234137060"/>
                  </a:ext>
                </a:extLst>
              </a:tr>
              <a:tr h="467835">
                <a:tc>
                  <a:txBody>
                    <a:bodyPr/>
                    <a:lstStyle/>
                    <a:p>
                      <a:pPr marL="0" indent="0" algn="ctr">
                        <a:buNone/>
                      </a:pPr>
                      <a:r>
                        <a:rPr lang="en-US" altLang="zh-CN" sz="1800" dirty="0">
                          <a:solidFill>
                            <a:srgbClr val="374151"/>
                          </a:solidFill>
                        </a:rPr>
                        <a:t>Cl[I-]Cl.[K+]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0.0217</a:t>
                      </a:r>
                    </a:p>
                  </a:txBody>
                  <a:tcPr anchor="ctr"/>
                </a:tc>
                <a:extLst>
                  <a:ext uri="{0D108BD9-81ED-4DB2-BD59-A6C34878D82A}">
                    <a16:rowId xmlns:a16="http://schemas.microsoft.com/office/drawing/2014/main" val="398106450"/>
                  </a:ext>
                </a:extLst>
              </a:tr>
              <a:tr h="467835">
                <a:tc>
                  <a:txBody>
                    <a:bodyPr/>
                    <a:lstStyle/>
                    <a:p>
                      <a:pPr marL="0" indent="0" algn="ctr">
                        <a:buNone/>
                      </a:pPr>
                      <a:r>
                        <a:rPr lang="en-US" altLang="zh-CN" sz="1800" b="1" dirty="0">
                          <a:solidFill>
                            <a:srgbClr val="374151"/>
                          </a:solidFill>
                        </a:rPr>
                        <a:t>[Li+].C1C[CH-]1</a:t>
                      </a:r>
                    </a:p>
                  </a:txBody>
                  <a:tcPr anchor="ctr"/>
                </a:tc>
                <a:tc>
                  <a:txBody>
                    <a:bodyPr/>
                    <a:lstStyle/>
                    <a:p>
                      <a:pPr marL="0" indent="0" algn="ctr">
                        <a:buNone/>
                      </a:pPr>
                      <a:r>
                        <a:rPr lang="en-US" altLang="zh-CN" sz="1800" dirty="0"/>
                        <a:t>0.0248</a:t>
                      </a:r>
                    </a:p>
                  </a:txBody>
                  <a:tcPr anchor="ctr"/>
                </a:tc>
                <a:extLst>
                  <a:ext uri="{0D108BD9-81ED-4DB2-BD59-A6C34878D82A}">
                    <a16:rowId xmlns:a16="http://schemas.microsoft.com/office/drawing/2014/main" val="957574858"/>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[CH2][O-].[K]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0.0259</a:t>
                      </a:r>
                    </a:p>
                  </a:txBody>
                  <a:tcPr anchor="ctr"/>
                </a:tc>
                <a:extLst>
                  <a:ext uri="{0D108BD9-81ED-4DB2-BD59-A6C34878D82A}">
                    <a16:rowId xmlns:a16="http://schemas.microsoft.com/office/drawing/2014/main" val="3781422370"/>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C=C=[N-].[Na+]</a:t>
                      </a:r>
                    </a:p>
                  </a:txBody>
                  <a:tcPr anchor="ctr"/>
                </a:tc>
                <a:tc>
                  <a:txBody>
                    <a:bodyPr/>
                    <a:lstStyle/>
                    <a:p>
                      <a:pPr algn="ctr"/>
                      <a:r>
                        <a:rPr lang="en-HK" sz="1800" b="0" kern="1200" dirty="0">
                          <a:solidFill>
                            <a:schemeClr val="dk1"/>
                          </a:solidFill>
                          <a:effectLst/>
                          <a:latin typeface="+mn-lt"/>
                          <a:ea typeface="+mn-ea"/>
                          <a:cs typeface="+mn-cs"/>
                        </a:rPr>
                        <a:t>0.0270</a:t>
                      </a:r>
                    </a:p>
                  </a:txBody>
                  <a:tcPr anchor="ctr"/>
                </a:tc>
                <a:extLst>
                  <a:ext uri="{0D108BD9-81ED-4DB2-BD59-A6C34878D82A}">
                    <a16:rowId xmlns:a16="http://schemas.microsoft.com/office/drawing/2014/main" val="10145188"/>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C(=N)=[N-].[Na+]</a:t>
                      </a:r>
                    </a:p>
                  </a:txBody>
                  <a:tcPr anchor="ctr"/>
                </a:tc>
                <a:tc>
                  <a:txBody>
                    <a:bodyPr/>
                    <a:lstStyle/>
                    <a:p>
                      <a:pPr algn="ctr"/>
                      <a:r>
                        <a:rPr lang="en-HK" sz="1800" b="0" kern="1200" dirty="0">
                          <a:solidFill>
                            <a:schemeClr val="dk1"/>
                          </a:solidFill>
                          <a:effectLst/>
                          <a:latin typeface="+mn-lt"/>
                          <a:ea typeface="+mn-ea"/>
                          <a:cs typeface="+mn-cs"/>
                        </a:rPr>
                        <a:t>0.0279</a:t>
                      </a:r>
                    </a:p>
                  </a:txBody>
                  <a:tcPr anchor="ctr"/>
                </a:tc>
                <a:extLst>
                  <a:ext uri="{0D108BD9-81ED-4DB2-BD59-A6C34878D82A}">
                    <a16:rowId xmlns:a16="http://schemas.microsoft.com/office/drawing/2014/main" val="484711421"/>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[Li+].C=[C-]Br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0.0302</a:t>
                      </a:r>
                    </a:p>
                  </a:txBody>
                  <a:tcPr anchor="ctr"/>
                </a:tc>
                <a:extLst>
                  <a:ext uri="{0D108BD9-81ED-4DB2-BD59-A6C34878D82A}">
                    <a16:rowId xmlns:a16="http://schemas.microsoft.com/office/drawing/2014/main" val="959558593"/>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[Li+].[B]C=[CH-]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 0.0307</a:t>
                      </a:r>
                    </a:p>
                  </a:txBody>
                  <a:tcPr anchor="ctr"/>
                </a:tc>
                <a:extLst>
                  <a:ext uri="{0D108BD9-81ED-4DB2-BD59-A6C34878D82A}">
                    <a16:rowId xmlns:a16="http://schemas.microsoft.com/office/drawing/2014/main" val="1414138026"/>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[Li+].N(O)[O-]</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0.0328</a:t>
                      </a:r>
                    </a:p>
                  </a:txBody>
                  <a:tcPr anchor="ctr"/>
                </a:tc>
                <a:extLst>
                  <a:ext uri="{0D108BD9-81ED-4DB2-BD59-A6C34878D82A}">
                    <a16:rowId xmlns:a16="http://schemas.microsoft.com/office/drawing/2014/main" val="2083287663"/>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[O-]Cl.[Na+]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0.0332</a:t>
                      </a:r>
                    </a:p>
                  </a:txBody>
                  <a:tcPr anchor="ctr"/>
                </a:tc>
                <a:extLst>
                  <a:ext uri="{0D108BD9-81ED-4DB2-BD59-A6C34878D82A}">
                    <a16:rowId xmlns:a16="http://schemas.microsoft.com/office/drawing/2014/main" val="4162427410"/>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[BH3-]O.[K+]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0.0357</a:t>
                      </a:r>
                    </a:p>
                  </a:txBody>
                  <a:tcPr anchor="ctr"/>
                </a:tc>
                <a:extLst>
                  <a:ext uri="{0D108BD9-81ED-4DB2-BD59-A6C34878D82A}">
                    <a16:rowId xmlns:a16="http://schemas.microsoft.com/office/drawing/2014/main" val="2311790827"/>
                  </a:ext>
                </a:extLst>
              </a:tr>
            </a:tbl>
          </a:graphicData>
        </a:graphic>
      </p:graphicFrame>
    </p:spTree>
    <p:extLst>
      <p:ext uri="{BB962C8B-B14F-4D97-AF65-F5344CB8AC3E}">
        <p14:creationId xmlns:p14="http://schemas.microsoft.com/office/powerpoint/2010/main" val="227346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E6C0-405E-14BE-D28C-116D2B56B58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6F3C37-114F-D04A-4209-3719FC0083EB}"/>
              </a:ext>
            </a:extLst>
          </p:cNvPr>
          <p:cNvSpPr>
            <a:spLocks noGrp="1"/>
          </p:cNvSpPr>
          <p:nvPr>
            <p:ph type="sldNum" sz="quarter" idx="12"/>
          </p:nvPr>
        </p:nvSpPr>
        <p:spPr/>
        <p:txBody>
          <a:bodyPr/>
          <a:lstStyle/>
          <a:p>
            <a:r>
              <a:rPr sz="1200">
                <a:latin typeface="Arial"/>
              </a:rPr>
              <a:t>20</a:t>
            </a:r>
          </a:p>
        </p:txBody>
      </p:sp>
      <p:sp>
        <p:nvSpPr>
          <p:cNvPr id="3" name="文本框 2">
            <a:extLst>
              <a:ext uri="{FF2B5EF4-FFF2-40B4-BE49-F238E27FC236}">
                <a16:creationId xmlns:a16="http://schemas.microsoft.com/office/drawing/2014/main" id="{6D715A37-DE06-42FD-5C1D-DDC4F4B10989}"/>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Special Case Analysis</a:t>
            </a:r>
          </a:p>
        </p:txBody>
      </p:sp>
      <p:sp>
        <p:nvSpPr>
          <p:cNvPr id="21" name="Text 3">
            <a:extLst>
              <a:ext uri="{FF2B5EF4-FFF2-40B4-BE49-F238E27FC236}">
                <a16:creationId xmlns:a16="http://schemas.microsoft.com/office/drawing/2014/main" id="{287C3108-DD9C-D1F1-AD20-1D92982B5600}"/>
              </a:ext>
            </a:extLst>
          </p:cNvPr>
          <p:cNvSpPr/>
          <p:nvPr/>
        </p:nvSpPr>
        <p:spPr>
          <a:xfrm>
            <a:off x="403780" y="985650"/>
            <a:ext cx="10323576" cy="574868"/>
          </a:xfrm>
          <a:prstGeom prst="rect">
            <a:avLst/>
          </a:prstGeom>
          <a:noFill/>
          <a:ln/>
        </p:spPr>
        <p:txBody>
          <a:bodyPr wrap="square" lIns="0" tIns="0" rIns="0" bIns="0" rtlCol="0" anchor="ctr"/>
          <a:lstStyle/>
          <a:p>
            <a:r>
              <a:rPr lang="en-US" altLang="zh-CN" sz="2000" dirty="0">
                <a:solidFill>
                  <a:srgbClr val="6B7280"/>
                </a:solidFill>
              </a:rPr>
              <a:t>Failures concentrate in chemically unusual ionic or halogen-containing species.</a:t>
            </a:r>
            <a:endParaRPr lang="en-US" altLang="zh-CN" sz="2000" dirty="0"/>
          </a:p>
        </p:txBody>
      </p:sp>
      <p:grpSp>
        <p:nvGrpSpPr>
          <p:cNvPr id="27" name="组合 26">
            <a:extLst>
              <a:ext uri="{FF2B5EF4-FFF2-40B4-BE49-F238E27FC236}">
                <a16:creationId xmlns:a16="http://schemas.microsoft.com/office/drawing/2014/main" id="{227C306A-EE2E-0B52-1A00-5B08326802CB}"/>
              </a:ext>
            </a:extLst>
          </p:cNvPr>
          <p:cNvGrpSpPr/>
          <p:nvPr/>
        </p:nvGrpSpPr>
        <p:grpSpPr>
          <a:xfrm>
            <a:off x="944880" y="4579726"/>
            <a:ext cx="10589779" cy="1613028"/>
            <a:chOff x="1280160" y="5108446"/>
            <a:chExt cx="9942574" cy="1613028"/>
          </a:xfrm>
        </p:grpSpPr>
        <p:sp>
          <p:nvSpPr>
            <p:cNvPr id="23" name="Shape 4">
              <a:extLst>
                <a:ext uri="{FF2B5EF4-FFF2-40B4-BE49-F238E27FC236}">
                  <a16:creationId xmlns:a16="http://schemas.microsoft.com/office/drawing/2014/main" id="{763BF3C2-692B-4288-04D4-58FF8BD6FF1D}"/>
                </a:ext>
              </a:extLst>
            </p:cNvPr>
            <p:cNvSpPr/>
            <p:nvPr/>
          </p:nvSpPr>
          <p:spPr>
            <a:xfrm>
              <a:off x="1280160" y="5108447"/>
              <a:ext cx="9692640" cy="1613027"/>
            </a:xfrm>
            <a:prstGeom prst="roundRect">
              <a:avLst>
                <a:gd name="adj" fmla="val 6154"/>
              </a:avLst>
            </a:prstGeom>
            <a:solidFill>
              <a:srgbClr val="FFFFFF"/>
            </a:solidFill>
            <a:ln w="10160">
              <a:solidFill>
                <a:srgbClr val="D1D5DB"/>
              </a:solidFill>
              <a:prstDash val="solid"/>
            </a:ln>
          </p:spPr>
          <p:txBody>
            <a:bodyPr/>
            <a:lstStyle/>
            <a:p>
              <a:endParaRPr lang="en-HK"/>
            </a:p>
          </p:txBody>
        </p:sp>
        <p:sp>
          <p:nvSpPr>
            <p:cNvPr id="24" name="Shape 5">
              <a:extLst>
                <a:ext uri="{FF2B5EF4-FFF2-40B4-BE49-F238E27FC236}">
                  <a16:creationId xmlns:a16="http://schemas.microsoft.com/office/drawing/2014/main" id="{6D832589-827A-37FE-B404-E0A5815A0F7E}"/>
                </a:ext>
              </a:extLst>
            </p:cNvPr>
            <p:cNvSpPr/>
            <p:nvPr/>
          </p:nvSpPr>
          <p:spPr>
            <a:xfrm>
              <a:off x="1280160" y="5108446"/>
              <a:ext cx="48768" cy="1585596"/>
            </a:xfrm>
            <a:prstGeom prst="rect">
              <a:avLst/>
            </a:prstGeom>
            <a:solidFill>
              <a:srgbClr val="FFC000"/>
            </a:solidFill>
            <a:ln w="12700">
              <a:solidFill>
                <a:srgbClr val="047857">
                  <a:alpha val="0"/>
                </a:srgbClr>
              </a:solidFill>
              <a:prstDash val="solid"/>
            </a:ln>
          </p:spPr>
          <p:txBody>
            <a:bodyPr/>
            <a:lstStyle/>
            <a:p>
              <a:endParaRPr lang="en-HK"/>
            </a:p>
          </p:txBody>
        </p:sp>
        <p:sp>
          <p:nvSpPr>
            <p:cNvPr id="25" name="Text 6">
              <a:extLst>
                <a:ext uri="{FF2B5EF4-FFF2-40B4-BE49-F238E27FC236}">
                  <a16:creationId xmlns:a16="http://schemas.microsoft.com/office/drawing/2014/main" id="{AA6DDBF0-AF4F-16F0-B48E-D53A74439453}"/>
                </a:ext>
              </a:extLst>
            </p:cNvPr>
            <p:cNvSpPr/>
            <p:nvPr/>
          </p:nvSpPr>
          <p:spPr>
            <a:xfrm>
              <a:off x="1539240" y="5221224"/>
              <a:ext cx="9372600" cy="438912"/>
            </a:xfrm>
            <a:prstGeom prst="rect">
              <a:avLst/>
            </a:prstGeom>
            <a:noFill/>
            <a:ln/>
          </p:spPr>
          <p:txBody>
            <a:bodyPr wrap="square" lIns="0" tIns="0" rIns="0" bIns="0" rtlCol="0" anchor="ctr"/>
            <a:lstStyle/>
            <a:p>
              <a:r>
                <a:rPr lang="en-US" altLang="zh-CN" sz="2800" b="1" dirty="0">
                  <a:solidFill>
                    <a:srgbClr val="111827"/>
                  </a:solidFill>
                </a:rPr>
                <a:t>Interpretation</a:t>
              </a:r>
              <a:endParaRPr lang="en-US" altLang="zh-CN" sz="2800" dirty="0"/>
            </a:p>
          </p:txBody>
        </p:sp>
        <p:sp>
          <p:nvSpPr>
            <p:cNvPr id="26" name="Text 7">
              <a:extLst>
                <a:ext uri="{FF2B5EF4-FFF2-40B4-BE49-F238E27FC236}">
                  <a16:creationId xmlns:a16="http://schemas.microsoft.com/office/drawing/2014/main" id="{5A48754B-0A73-7214-341D-3AEFDAE2335F}"/>
                </a:ext>
              </a:extLst>
            </p:cNvPr>
            <p:cNvSpPr/>
            <p:nvPr/>
          </p:nvSpPr>
          <p:spPr>
            <a:xfrm>
              <a:off x="1530095" y="5745480"/>
              <a:ext cx="9692639" cy="780899"/>
            </a:xfrm>
            <a:prstGeom prst="rect">
              <a:avLst/>
            </a:prstGeom>
            <a:noFill/>
            <a:ln/>
          </p:spPr>
          <p:txBody>
            <a:bodyPr wrap="square" lIns="254" tIns="254" rIns="254" bIns="254" rtlCol="0" anchor="t">
              <a:noAutofit/>
            </a:bodyPr>
            <a:lstStyle/>
            <a:p>
              <a:r>
                <a:rPr lang="en-US" altLang="zh-CN" sz="2400" dirty="0">
                  <a:solidFill>
                    <a:srgbClr val="374151"/>
                  </a:solidFill>
                </a:rPr>
                <a:t>Remaining errors are not random; they reveal a limitation of SMILES-only </a:t>
              </a:r>
              <a:r>
                <a:rPr lang="en-US" altLang="zh-CN" sz="2400" dirty="0" err="1">
                  <a:solidFill>
                    <a:srgbClr val="374151"/>
                  </a:solidFill>
                </a:rPr>
                <a:t>ChemBERTa</a:t>
              </a:r>
              <a:r>
                <a:rPr lang="en-US" altLang="zh-CN" sz="2400" dirty="0">
                  <a:solidFill>
                    <a:srgbClr val="374151"/>
                  </a:solidFill>
                </a:rPr>
                <a:t> for unusual charged metal-containing chemistry.</a:t>
              </a:r>
              <a:endParaRPr lang="en-US" altLang="zh-CN" sz="2400" dirty="0"/>
            </a:p>
          </p:txBody>
        </p:sp>
      </p:grpSp>
      <p:graphicFrame>
        <p:nvGraphicFramePr>
          <p:cNvPr id="4" name="表格 3">
            <a:extLst>
              <a:ext uri="{FF2B5EF4-FFF2-40B4-BE49-F238E27FC236}">
                <a16:creationId xmlns:a16="http://schemas.microsoft.com/office/drawing/2014/main" id="{121FCE23-9288-6979-375E-2B33A2E24B97}"/>
              </a:ext>
            </a:extLst>
          </p:cNvPr>
          <p:cNvGraphicFramePr>
            <a:graphicFrameLocks noGrp="1"/>
          </p:cNvGraphicFramePr>
          <p:nvPr/>
        </p:nvGraphicFramePr>
        <p:xfrm>
          <a:off x="944880" y="1724114"/>
          <a:ext cx="10200032" cy="266192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859607">
                  <a:extLst>
                    <a:ext uri="{9D8B030D-6E8A-4147-A177-3AD203B41FA5}">
                      <a16:colId xmlns:a16="http://schemas.microsoft.com/office/drawing/2014/main" val="1711821598"/>
                    </a:ext>
                  </a:extLst>
                </a:gridCol>
                <a:gridCol w="2852581">
                  <a:extLst>
                    <a:ext uri="{9D8B030D-6E8A-4147-A177-3AD203B41FA5}">
                      <a16:colId xmlns:a16="http://schemas.microsoft.com/office/drawing/2014/main" val="1021077212"/>
                    </a:ext>
                  </a:extLst>
                </a:gridCol>
                <a:gridCol w="2243922">
                  <a:extLst>
                    <a:ext uri="{9D8B030D-6E8A-4147-A177-3AD203B41FA5}">
                      <a16:colId xmlns:a16="http://schemas.microsoft.com/office/drawing/2014/main" val="646726754"/>
                    </a:ext>
                  </a:extLst>
                </a:gridCol>
                <a:gridCol w="2243922">
                  <a:extLst>
                    <a:ext uri="{9D8B030D-6E8A-4147-A177-3AD203B41FA5}">
                      <a16:colId xmlns:a16="http://schemas.microsoft.com/office/drawing/2014/main" val="11077469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Case type</a:t>
                      </a:r>
                      <a:endParaRPr lang="en-US" altLang="zh-CN" sz="18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800" dirty="0"/>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Formula</a:t>
                      </a:r>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SMILES</a:t>
                      </a:r>
                      <a:endParaRPr lang="en-US" altLang="zh-CN" sz="1800" dirty="0"/>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Mean abs error</a:t>
                      </a:r>
                    </a:p>
                  </a:txBody>
                  <a:tcPr>
                    <a:solidFill>
                      <a:srgbClr val="003870"/>
                    </a:solidFill>
                  </a:tcPr>
                </a:tc>
                <a:extLst>
                  <a:ext uri="{0D108BD9-81ED-4DB2-BD59-A6C34878D82A}">
                    <a16:rowId xmlns:a16="http://schemas.microsoft.com/office/drawing/2014/main" val="23413706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a:solidFill>
                            <a:srgbClr val="374151"/>
                          </a:solidFill>
                        </a:rPr>
                        <a:t>Largest-error failure</a:t>
                      </a:r>
                      <a:endParaRPr lang="en-US" altLang="zh-CN" sz="1800" dirty="0">
                        <a:solidFill>
                          <a:srgbClr val="374151"/>
                        </a:solidFill>
                      </a:endParaRPr>
                    </a:p>
                  </a:txBody>
                  <a:tcPr anchor="ctr"/>
                </a:tc>
                <a:tc>
                  <a:txBody>
                    <a:bodyPr/>
                    <a:lstStyle/>
                    <a:p>
                      <a:pPr marL="0" indent="0" algn="ctr">
                        <a:buNone/>
                      </a:pPr>
                      <a:r>
                        <a:rPr lang="en-US" altLang="zh-CN" sz="1800" dirty="0" err="1">
                          <a:solidFill>
                            <a:srgbClr val="374151"/>
                          </a:solidFill>
                        </a:rPr>
                        <a:t>CH₃BNaO</a:t>
                      </a:r>
                      <a:endParaRPr lang="en-US" altLang="zh-CN" sz="1800" dirty="0">
                        <a:solidFill>
                          <a:srgbClr val="374151"/>
                        </a:solidFill>
                      </a:endParaRPr>
                    </a:p>
                  </a:txBody>
                  <a:tcPr anchor="ctr"/>
                </a:tc>
                <a:tc>
                  <a:txBody>
                    <a:bodyPr/>
                    <a:lstStyle/>
                    <a:p>
                      <a:pPr marL="0" indent="0" algn="ctr">
                        <a:buNone/>
                      </a:pPr>
                      <a:r>
                        <a:rPr lang="en-US" altLang="zh-CN" sz="1800" dirty="0">
                          <a:solidFill>
                            <a:srgbClr val="374151"/>
                          </a:solidFill>
                        </a:rPr>
                        <a:t>[B-]OC.[Na+]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0.3580</a:t>
                      </a:r>
                    </a:p>
                  </a:txBody>
                  <a:tcPr anchor="ctr"/>
                </a:tc>
                <a:extLst>
                  <a:ext uri="{0D108BD9-81ED-4DB2-BD59-A6C34878D82A}">
                    <a16:rowId xmlns:a16="http://schemas.microsoft.com/office/drawing/2014/main" val="398106450"/>
                  </a:ext>
                </a:extLst>
              </a:tr>
              <a:tr h="370840">
                <a:tc>
                  <a:txBody>
                    <a:bodyPr/>
                    <a:lstStyle/>
                    <a:p>
                      <a:pPr algn="ctr">
                        <a:buNone/>
                      </a:pPr>
                      <a:r>
                        <a:rPr lang="en-US" dirty="0"/>
                        <a:t>Halogen failure</a:t>
                      </a:r>
                    </a:p>
                  </a:txBody>
                  <a:tcPr anchor="ctr"/>
                </a:tc>
                <a:tc>
                  <a:txBody>
                    <a:bodyPr/>
                    <a:lstStyle/>
                    <a:p>
                      <a:pPr marL="0" indent="0" algn="ctr">
                        <a:buNone/>
                      </a:pPr>
                      <a:r>
                        <a:rPr lang="en-US" altLang="zh-CN" sz="1800" dirty="0" err="1">
                          <a:solidFill>
                            <a:srgbClr val="374151"/>
                          </a:solidFill>
                        </a:rPr>
                        <a:t>ILiO</a:t>
                      </a:r>
                      <a:endParaRPr lang="en-US" altLang="zh-CN" sz="1800" dirty="0">
                        <a:solidFill>
                          <a:srgbClr val="374151"/>
                        </a:solidFill>
                      </a:endParaRPr>
                    </a:p>
                  </a:txBody>
                  <a:tcPr anchor="ctr"/>
                </a:tc>
                <a:tc>
                  <a:txBody>
                    <a:bodyPr/>
                    <a:lstStyle/>
                    <a:p>
                      <a:pPr marL="0" indent="0" algn="ctr">
                        <a:buNone/>
                      </a:pPr>
                      <a:r>
                        <a:rPr lang="en-US" altLang="zh-CN" sz="1800" b="1" dirty="0">
                          <a:solidFill>
                            <a:srgbClr val="374151"/>
                          </a:solidFill>
                        </a:rPr>
                        <a:t>[Li+].[O-]I</a:t>
                      </a:r>
                    </a:p>
                  </a:txBody>
                  <a:tcPr anchor="ctr"/>
                </a:tc>
                <a:tc>
                  <a:txBody>
                    <a:bodyPr/>
                    <a:lstStyle/>
                    <a:p>
                      <a:pPr marL="0" indent="0" algn="ctr">
                        <a:buNone/>
                      </a:pPr>
                      <a:r>
                        <a:rPr lang="en-US" altLang="zh-CN" sz="1800" dirty="0"/>
                        <a:t>0.2952</a:t>
                      </a:r>
                    </a:p>
                  </a:txBody>
                  <a:tcPr anchor="ctr"/>
                </a:tc>
                <a:extLst>
                  <a:ext uri="{0D108BD9-81ED-4DB2-BD59-A6C34878D82A}">
                    <a16:rowId xmlns:a16="http://schemas.microsoft.com/office/drawing/2014/main" val="957574858"/>
                  </a:ext>
                </a:extLst>
              </a:tr>
              <a:tr h="370840">
                <a:tc>
                  <a:txBody>
                    <a:bodyPr/>
                    <a:lstStyle/>
                    <a:p>
                      <a:pPr algn="ctr">
                        <a:buNone/>
                      </a:pPr>
                      <a:r>
                        <a:rPr lang="en-US" dirty="0"/>
                        <a:t>Additional high-error failure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solidFill>
                            <a:srgbClr val="374151"/>
                          </a:solidFill>
                        </a:rPr>
                        <a:t>BH₃INa</a:t>
                      </a:r>
                      <a:endParaRPr lang="en-US" altLang="zh-CN" sz="1800" dirty="0">
                        <a:solidFill>
                          <a:srgbClr val="37415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[BH3-]I.[Na+]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0.2919</a:t>
                      </a:r>
                    </a:p>
                  </a:txBody>
                  <a:tcPr anchor="ctr"/>
                </a:tc>
                <a:extLst>
                  <a:ext uri="{0D108BD9-81ED-4DB2-BD59-A6C34878D82A}">
                    <a16:rowId xmlns:a16="http://schemas.microsoft.com/office/drawing/2014/main" val="3781422370"/>
                  </a:ext>
                </a:extLst>
              </a:tr>
              <a:tr h="370840">
                <a:tc>
                  <a:txBody>
                    <a:bodyPr/>
                    <a:lstStyle/>
                    <a:p>
                      <a:pPr algn="ctr">
                        <a:buNone/>
                      </a:pPr>
                      <a:r>
                        <a:rPr lang="en-US" dirty="0"/>
                        <a:t>Low-error success contrast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t>Cl₂IK</a:t>
                      </a:r>
                      <a:endParaRPr lang="en-US" altLang="zh-CN" sz="1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Cl[I-]Cl.[K+]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0.0217</a:t>
                      </a:r>
                    </a:p>
                  </a:txBody>
                  <a:tcPr anchor="ctr"/>
                </a:tc>
                <a:extLst>
                  <a:ext uri="{0D108BD9-81ED-4DB2-BD59-A6C34878D82A}">
                    <a16:rowId xmlns:a16="http://schemas.microsoft.com/office/drawing/2014/main" val="10145188"/>
                  </a:ext>
                </a:extLst>
              </a:tr>
            </a:tbl>
          </a:graphicData>
        </a:graphic>
      </p:graphicFrame>
    </p:spTree>
    <p:extLst>
      <p:ext uri="{BB962C8B-B14F-4D97-AF65-F5344CB8AC3E}">
        <p14:creationId xmlns:p14="http://schemas.microsoft.com/office/powerpoint/2010/main" val="566973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F9C3D-B852-1430-8B6F-1F0F9DDAFE3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29F9496-C477-5FBC-5D2E-B254A99DB132}"/>
              </a:ext>
            </a:extLst>
          </p:cNvPr>
          <p:cNvSpPr>
            <a:spLocks noGrp="1"/>
          </p:cNvSpPr>
          <p:nvPr>
            <p:ph type="sldNum" sz="quarter" idx="12"/>
          </p:nvPr>
        </p:nvSpPr>
        <p:spPr/>
        <p:txBody>
          <a:bodyPr/>
          <a:lstStyle/>
          <a:p>
            <a:r>
              <a:rPr sz="1200">
                <a:latin typeface="Arial"/>
              </a:rPr>
              <a:t>21</a:t>
            </a:r>
          </a:p>
        </p:txBody>
      </p:sp>
      <p:sp>
        <p:nvSpPr>
          <p:cNvPr id="3" name="文本框 2">
            <a:extLst>
              <a:ext uri="{FF2B5EF4-FFF2-40B4-BE49-F238E27FC236}">
                <a16:creationId xmlns:a16="http://schemas.microsoft.com/office/drawing/2014/main" id="{5836E36A-CE73-5E72-737F-DF2AB5322533}"/>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Attention Visualization</a:t>
            </a:r>
          </a:p>
        </p:txBody>
      </p:sp>
      <p:sp>
        <p:nvSpPr>
          <p:cNvPr id="21" name="Text 3">
            <a:extLst>
              <a:ext uri="{FF2B5EF4-FFF2-40B4-BE49-F238E27FC236}">
                <a16:creationId xmlns:a16="http://schemas.microsoft.com/office/drawing/2014/main" id="{7616D81E-7AD4-116B-6BAB-32EB3E04FE05}"/>
              </a:ext>
            </a:extLst>
          </p:cNvPr>
          <p:cNvSpPr/>
          <p:nvPr/>
        </p:nvSpPr>
        <p:spPr>
          <a:xfrm>
            <a:off x="403780" y="985650"/>
            <a:ext cx="10323576" cy="574868"/>
          </a:xfrm>
          <a:prstGeom prst="rect">
            <a:avLst/>
          </a:prstGeom>
          <a:noFill/>
          <a:ln/>
        </p:spPr>
        <p:txBody>
          <a:bodyPr wrap="square" lIns="0" tIns="0" rIns="0" bIns="0" rtlCol="0" anchor="ctr"/>
          <a:lstStyle/>
          <a:p>
            <a:r>
              <a:rPr lang="en-US" altLang="zh-CN" sz="2000" dirty="0">
                <a:solidFill>
                  <a:srgbClr val="6B7280"/>
                </a:solidFill>
              </a:rPr>
              <a:t>Attention is useful for qualitative inspection, but not causal proof.</a:t>
            </a:r>
            <a:endParaRPr lang="en-US" altLang="zh-CN" sz="2000" dirty="0"/>
          </a:p>
        </p:txBody>
      </p:sp>
      <p:sp>
        <p:nvSpPr>
          <p:cNvPr id="5" name="Shape 3">
            <a:extLst>
              <a:ext uri="{FF2B5EF4-FFF2-40B4-BE49-F238E27FC236}">
                <a16:creationId xmlns:a16="http://schemas.microsoft.com/office/drawing/2014/main" id="{191FC031-738D-D6D9-2C1E-1D2F3ACF10E8}"/>
              </a:ext>
            </a:extLst>
          </p:cNvPr>
          <p:cNvSpPr/>
          <p:nvPr/>
        </p:nvSpPr>
        <p:spPr>
          <a:xfrm>
            <a:off x="822960" y="1544320"/>
            <a:ext cx="5074920" cy="1662118"/>
          </a:xfrm>
          <a:prstGeom prst="rect">
            <a:avLst/>
          </a:prstGeom>
          <a:solidFill>
            <a:srgbClr val="FFFFFF"/>
          </a:solidFill>
          <a:ln w="8890">
            <a:solidFill>
              <a:srgbClr val="E5E7EB"/>
            </a:solidFill>
            <a:prstDash val="solid"/>
          </a:ln>
        </p:spPr>
        <p:txBody>
          <a:bodyPr/>
          <a:lstStyle/>
          <a:p>
            <a:endParaRPr lang="en-HK"/>
          </a:p>
        </p:txBody>
      </p:sp>
      <p:sp>
        <p:nvSpPr>
          <p:cNvPr id="6" name="Shape 4">
            <a:extLst>
              <a:ext uri="{FF2B5EF4-FFF2-40B4-BE49-F238E27FC236}">
                <a16:creationId xmlns:a16="http://schemas.microsoft.com/office/drawing/2014/main" id="{7E66A4DD-5E1D-5551-AE96-E26CC8FCE839}"/>
              </a:ext>
            </a:extLst>
          </p:cNvPr>
          <p:cNvSpPr/>
          <p:nvPr/>
        </p:nvSpPr>
        <p:spPr>
          <a:xfrm>
            <a:off x="822960" y="1544320"/>
            <a:ext cx="73152" cy="1662118"/>
          </a:xfrm>
          <a:prstGeom prst="rect">
            <a:avLst/>
          </a:prstGeom>
          <a:solidFill>
            <a:srgbClr val="2563EB"/>
          </a:solidFill>
          <a:ln w="12700">
            <a:solidFill>
              <a:srgbClr val="2563EB">
                <a:alpha val="0"/>
              </a:srgbClr>
            </a:solidFill>
            <a:prstDash val="solid"/>
          </a:ln>
        </p:spPr>
        <p:txBody>
          <a:bodyPr/>
          <a:lstStyle/>
          <a:p>
            <a:endParaRPr lang="en-HK"/>
          </a:p>
        </p:txBody>
      </p:sp>
      <p:sp>
        <p:nvSpPr>
          <p:cNvPr id="7" name="Text 5">
            <a:extLst>
              <a:ext uri="{FF2B5EF4-FFF2-40B4-BE49-F238E27FC236}">
                <a16:creationId xmlns:a16="http://schemas.microsoft.com/office/drawing/2014/main" id="{0F1E3510-E555-D156-CFC0-DBBFCCAC2CC1}"/>
              </a:ext>
            </a:extLst>
          </p:cNvPr>
          <p:cNvSpPr/>
          <p:nvPr/>
        </p:nvSpPr>
        <p:spPr>
          <a:xfrm>
            <a:off x="1024128" y="1690624"/>
            <a:ext cx="4764024" cy="219456"/>
          </a:xfrm>
          <a:prstGeom prst="rect">
            <a:avLst/>
          </a:prstGeom>
          <a:noFill/>
          <a:ln/>
        </p:spPr>
        <p:txBody>
          <a:bodyPr wrap="square" lIns="0" tIns="0" rIns="0" bIns="0" rtlCol="0" anchor="ctr"/>
          <a:lstStyle/>
          <a:p>
            <a:pPr marL="0" indent="0">
              <a:buNone/>
            </a:pPr>
            <a:r>
              <a:rPr lang="en-US" sz="2300" b="1" dirty="0">
                <a:solidFill>
                  <a:srgbClr val="111827"/>
                </a:solidFill>
              </a:rPr>
              <a:t>What attention checks</a:t>
            </a:r>
            <a:endParaRPr lang="en-US" sz="2300" dirty="0"/>
          </a:p>
        </p:txBody>
      </p:sp>
      <p:sp>
        <p:nvSpPr>
          <p:cNvPr id="8" name="Text 6">
            <a:extLst>
              <a:ext uri="{FF2B5EF4-FFF2-40B4-BE49-F238E27FC236}">
                <a16:creationId xmlns:a16="http://schemas.microsoft.com/office/drawing/2014/main" id="{CDAC523C-208C-6081-8DE7-42C2E94FAC0D}"/>
              </a:ext>
            </a:extLst>
          </p:cNvPr>
          <p:cNvSpPr/>
          <p:nvPr/>
        </p:nvSpPr>
        <p:spPr>
          <a:xfrm>
            <a:off x="1141476" y="2074672"/>
            <a:ext cx="4764024" cy="850392"/>
          </a:xfrm>
          <a:prstGeom prst="rect">
            <a:avLst/>
          </a:prstGeom>
          <a:noFill/>
          <a:ln/>
        </p:spPr>
        <p:txBody>
          <a:bodyPr wrap="square" lIns="254" tIns="254" rIns="254" bIns="254" rtlCol="0" anchor="ctr">
            <a:noAutofit/>
          </a:bodyPr>
          <a:lstStyle/>
          <a:p>
            <a:pPr marL="0" indent="0">
              <a:buNone/>
            </a:pPr>
            <a:r>
              <a:rPr lang="en-US" sz="2000" dirty="0">
                <a:solidFill>
                  <a:srgbClr val="374151"/>
                </a:solidFill>
              </a:rPr>
              <a:t>Whether the model attends to chemically meaningful tokens such as charge, metal, halogen, oxygen, boron, or nitrogen.</a:t>
            </a:r>
            <a:endParaRPr lang="en-US" sz="2000" dirty="0"/>
          </a:p>
        </p:txBody>
      </p:sp>
      <p:sp>
        <p:nvSpPr>
          <p:cNvPr id="9" name="Shape 7">
            <a:extLst>
              <a:ext uri="{FF2B5EF4-FFF2-40B4-BE49-F238E27FC236}">
                <a16:creationId xmlns:a16="http://schemas.microsoft.com/office/drawing/2014/main" id="{ADF20A57-51AB-01D6-7DB9-95E549004128}"/>
              </a:ext>
            </a:extLst>
          </p:cNvPr>
          <p:cNvSpPr/>
          <p:nvPr/>
        </p:nvSpPr>
        <p:spPr>
          <a:xfrm>
            <a:off x="6309360" y="1544320"/>
            <a:ext cx="5074920" cy="1662118"/>
          </a:xfrm>
          <a:prstGeom prst="rect">
            <a:avLst/>
          </a:prstGeom>
          <a:solidFill>
            <a:srgbClr val="FFFFFF"/>
          </a:solidFill>
          <a:ln w="8890">
            <a:solidFill>
              <a:srgbClr val="E5E7EB"/>
            </a:solidFill>
            <a:prstDash val="solid"/>
          </a:ln>
        </p:spPr>
        <p:txBody>
          <a:bodyPr/>
          <a:lstStyle/>
          <a:p>
            <a:endParaRPr lang="en-HK"/>
          </a:p>
        </p:txBody>
      </p:sp>
      <p:sp>
        <p:nvSpPr>
          <p:cNvPr id="10" name="Shape 8">
            <a:extLst>
              <a:ext uri="{FF2B5EF4-FFF2-40B4-BE49-F238E27FC236}">
                <a16:creationId xmlns:a16="http://schemas.microsoft.com/office/drawing/2014/main" id="{B01FE340-897E-4522-012A-7F397487CAA6}"/>
              </a:ext>
            </a:extLst>
          </p:cNvPr>
          <p:cNvSpPr/>
          <p:nvPr/>
        </p:nvSpPr>
        <p:spPr>
          <a:xfrm>
            <a:off x="6309360" y="1544320"/>
            <a:ext cx="91440" cy="1600200"/>
          </a:xfrm>
          <a:prstGeom prst="rect">
            <a:avLst/>
          </a:prstGeom>
          <a:solidFill>
            <a:srgbClr val="DC2626"/>
          </a:solidFill>
          <a:ln w="12700">
            <a:solidFill>
              <a:srgbClr val="DC2626">
                <a:alpha val="0"/>
              </a:srgbClr>
            </a:solidFill>
            <a:prstDash val="solid"/>
          </a:ln>
        </p:spPr>
        <p:txBody>
          <a:bodyPr/>
          <a:lstStyle/>
          <a:p>
            <a:endParaRPr lang="en-HK"/>
          </a:p>
        </p:txBody>
      </p:sp>
      <p:sp>
        <p:nvSpPr>
          <p:cNvPr id="11" name="Text 9">
            <a:extLst>
              <a:ext uri="{FF2B5EF4-FFF2-40B4-BE49-F238E27FC236}">
                <a16:creationId xmlns:a16="http://schemas.microsoft.com/office/drawing/2014/main" id="{6CF030CB-EC89-C008-A14D-A5F702A4D549}"/>
              </a:ext>
            </a:extLst>
          </p:cNvPr>
          <p:cNvSpPr/>
          <p:nvPr/>
        </p:nvSpPr>
        <p:spPr>
          <a:xfrm>
            <a:off x="6510528" y="1690624"/>
            <a:ext cx="4764024" cy="219456"/>
          </a:xfrm>
          <a:prstGeom prst="rect">
            <a:avLst/>
          </a:prstGeom>
          <a:noFill/>
          <a:ln/>
        </p:spPr>
        <p:txBody>
          <a:bodyPr wrap="square" lIns="0" tIns="0" rIns="0" bIns="0" rtlCol="0" anchor="ctr"/>
          <a:lstStyle/>
          <a:p>
            <a:pPr marL="0" indent="0">
              <a:buNone/>
            </a:pPr>
            <a:r>
              <a:rPr lang="en-US" sz="2300" b="1" dirty="0">
                <a:solidFill>
                  <a:srgbClr val="111827"/>
                </a:solidFill>
              </a:rPr>
              <a:t>Failure interpretation</a:t>
            </a:r>
            <a:endParaRPr lang="en-US" sz="2300" dirty="0"/>
          </a:p>
        </p:txBody>
      </p:sp>
      <p:sp>
        <p:nvSpPr>
          <p:cNvPr id="12" name="Text 10">
            <a:extLst>
              <a:ext uri="{FF2B5EF4-FFF2-40B4-BE49-F238E27FC236}">
                <a16:creationId xmlns:a16="http://schemas.microsoft.com/office/drawing/2014/main" id="{19374037-2974-FFC2-BA59-2BA37F8AB776}"/>
              </a:ext>
            </a:extLst>
          </p:cNvPr>
          <p:cNvSpPr/>
          <p:nvPr/>
        </p:nvSpPr>
        <p:spPr>
          <a:xfrm>
            <a:off x="6605016" y="2071116"/>
            <a:ext cx="4764024" cy="1051560"/>
          </a:xfrm>
          <a:prstGeom prst="rect">
            <a:avLst/>
          </a:prstGeom>
          <a:noFill/>
          <a:ln/>
        </p:spPr>
        <p:txBody>
          <a:bodyPr wrap="square" lIns="254" tIns="254" rIns="254" bIns="254" rtlCol="0" anchor="ctr">
            <a:noAutofit/>
          </a:bodyPr>
          <a:lstStyle/>
          <a:p>
            <a:pPr marL="0" indent="0">
              <a:buNone/>
            </a:pPr>
            <a:r>
              <a:rPr lang="en-US" sz="2000" dirty="0">
                <a:solidFill>
                  <a:srgbClr val="374151"/>
                </a:solidFill>
              </a:rPr>
              <a:t>In failure cases, attention may identify important tokens but still produce inaccurate energies, suggesting representation limitations.</a:t>
            </a:r>
            <a:endParaRPr lang="en-US" sz="2000" dirty="0"/>
          </a:p>
        </p:txBody>
      </p:sp>
      <p:sp>
        <p:nvSpPr>
          <p:cNvPr id="13" name="Shape 11">
            <a:extLst>
              <a:ext uri="{FF2B5EF4-FFF2-40B4-BE49-F238E27FC236}">
                <a16:creationId xmlns:a16="http://schemas.microsoft.com/office/drawing/2014/main" id="{661E5FC3-7486-6AC3-BA1A-C32399C36808}"/>
              </a:ext>
            </a:extLst>
          </p:cNvPr>
          <p:cNvSpPr/>
          <p:nvPr/>
        </p:nvSpPr>
        <p:spPr>
          <a:xfrm>
            <a:off x="2011680" y="3556000"/>
            <a:ext cx="8138160" cy="749808"/>
          </a:xfrm>
          <a:prstGeom prst="rect">
            <a:avLst/>
          </a:prstGeom>
          <a:solidFill>
            <a:srgbClr val="F3F4F6"/>
          </a:solidFill>
          <a:ln w="10160">
            <a:solidFill>
              <a:srgbClr val="E5E7EB"/>
            </a:solidFill>
            <a:prstDash val="solid"/>
          </a:ln>
        </p:spPr>
        <p:txBody>
          <a:bodyPr/>
          <a:lstStyle/>
          <a:p>
            <a:endParaRPr lang="en-HK"/>
          </a:p>
        </p:txBody>
      </p:sp>
      <p:sp>
        <p:nvSpPr>
          <p:cNvPr id="14" name="Text 12">
            <a:extLst>
              <a:ext uri="{FF2B5EF4-FFF2-40B4-BE49-F238E27FC236}">
                <a16:creationId xmlns:a16="http://schemas.microsoft.com/office/drawing/2014/main" id="{AD21EB7B-2B30-A4C4-83C3-400354F840AD}"/>
              </a:ext>
            </a:extLst>
          </p:cNvPr>
          <p:cNvSpPr/>
          <p:nvPr/>
        </p:nvSpPr>
        <p:spPr>
          <a:xfrm>
            <a:off x="2121408" y="3757168"/>
            <a:ext cx="7918704" cy="420624"/>
          </a:xfrm>
          <a:prstGeom prst="rect">
            <a:avLst/>
          </a:prstGeom>
          <a:noFill/>
          <a:ln/>
        </p:spPr>
        <p:txBody>
          <a:bodyPr wrap="square" lIns="0" tIns="0" rIns="0" bIns="0" rtlCol="0" anchor="ctr">
            <a:noAutofit/>
          </a:bodyPr>
          <a:lstStyle/>
          <a:p>
            <a:pPr marL="0" indent="0" algn="ctr">
              <a:buNone/>
            </a:pPr>
            <a:r>
              <a:rPr lang="en-US" sz="2800" b="1" dirty="0">
                <a:solidFill>
                  <a:srgbClr val="111827"/>
                </a:solidFill>
              </a:rPr>
              <a:t>Attention evidence ≠ causal explanation</a:t>
            </a:r>
            <a:endParaRPr lang="en-US" sz="2800" dirty="0"/>
          </a:p>
        </p:txBody>
      </p:sp>
      <p:sp>
        <p:nvSpPr>
          <p:cNvPr id="15" name="Shape 13">
            <a:extLst>
              <a:ext uri="{FF2B5EF4-FFF2-40B4-BE49-F238E27FC236}">
                <a16:creationId xmlns:a16="http://schemas.microsoft.com/office/drawing/2014/main" id="{778D6C05-B577-3B88-B7C6-75CC55CDB16A}"/>
              </a:ext>
            </a:extLst>
          </p:cNvPr>
          <p:cNvSpPr/>
          <p:nvPr/>
        </p:nvSpPr>
        <p:spPr>
          <a:xfrm>
            <a:off x="1828800" y="4790440"/>
            <a:ext cx="8503920" cy="1503992"/>
          </a:xfrm>
          <a:prstGeom prst="rect">
            <a:avLst/>
          </a:prstGeom>
          <a:solidFill>
            <a:srgbClr val="FFFFFF"/>
          </a:solidFill>
          <a:ln w="8890">
            <a:solidFill>
              <a:srgbClr val="E5E7EB"/>
            </a:solidFill>
            <a:prstDash val="solid"/>
          </a:ln>
        </p:spPr>
        <p:txBody>
          <a:bodyPr/>
          <a:lstStyle/>
          <a:p>
            <a:endParaRPr lang="en-HK"/>
          </a:p>
        </p:txBody>
      </p:sp>
      <p:sp>
        <p:nvSpPr>
          <p:cNvPr id="16" name="Shape 14">
            <a:extLst>
              <a:ext uri="{FF2B5EF4-FFF2-40B4-BE49-F238E27FC236}">
                <a16:creationId xmlns:a16="http://schemas.microsoft.com/office/drawing/2014/main" id="{F564A999-C8EA-29E6-8995-B389946A6210}"/>
              </a:ext>
            </a:extLst>
          </p:cNvPr>
          <p:cNvSpPr/>
          <p:nvPr/>
        </p:nvSpPr>
        <p:spPr>
          <a:xfrm>
            <a:off x="1828800" y="4790440"/>
            <a:ext cx="45719" cy="1503992"/>
          </a:xfrm>
          <a:prstGeom prst="rect">
            <a:avLst/>
          </a:prstGeom>
          <a:solidFill>
            <a:srgbClr val="7C3AED"/>
          </a:solidFill>
          <a:ln w="12700">
            <a:solidFill>
              <a:srgbClr val="7C3AED">
                <a:alpha val="0"/>
              </a:srgbClr>
            </a:solidFill>
            <a:prstDash val="solid"/>
          </a:ln>
        </p:spPr>
        <p:txBody>
          <a:bodyPr/>
          <a:lstStyle/>
          <a:p>
            <a:endParaRPr lang="en-HK"/>
          </a:p>
        </p:txBody>
      </p:sp>
      <p:sp>
        <p:nvSpPr>
          <p:cNvPr id="17" name="Text 15">
            <a:extLst>
              <a:ext uri="{FF2B5EF4-FFF2-40B4-BE49-F238E27FC236}">
                <a16:creationId xmlns:a16="http://schemas.microsoft.com/office/drawing/2014/main" id="{CFD5F862-31DC-9DBE-40F1-A7B8C1C1922A}"/>
              </a:ext>
            </a:extLst>
          </p:cNvPr>
          <p:cNvSpPr/>
          <p:nvPr/>
        </p:nvSpPr>
        <p:spPr>
          <a:xfrm>
            <a:off x="2029968" y="4936744"/>
            <a:ext cx="8193024" cy="219456"/>
          </a:xfrm>
          <a:prstGeom prst="rect">
            <a:avLst/>
          </a:prstGeom>
          <a:noFill/>
          <a:ln/>
        </p:spPr>
        <p:txBody>
          <a:bodyPr wrap="square" lIns="0" tIns="0" rIns="0" bIns="0" rtlCol="0" anchor="ctr"/>
          <a:lstStyle/>
          <a:p>
            <a:pPr marL="0" indent="0">
              <a:buNone/>
            </a:pPr>
            <a:r>
              <a:rPr lang="en-US" sz="2300" b="1" dirty="0">
                <a:solidFill>
                  <a:srgbClr val="111827"/>
                </a:solidFill>
              </a:rPr>
              <a:t>Academic caution</a:t>
            </a:r>
            <a:endParaRPr lang="en-US" sz="2300" dirty="0"/>
          </a:p>
        </p:txBody>
      </p:sp>
      <p:sp>
        <p:nvSpPr>
          <p:cNvPr id="18" name="Text 16">
            <a:extLst>
              <a:ext uri="{FF2B5EF4-FFF2-40B4-BE49-F238E27FC236}">
                <a16:creationId xmlns:a16="http://schemas.microsoft.com/office/drawing/2014/main" id="{C73C60B2-DA1D-1D2D-62D1-647510115016}"/>
              </a:ext>
            </a:extLst>
          </p:cNvPr>
          <p:cNvSpPr/>
          <p:nvPr/>
        </p:nvSpPr>
        <p:spPr>
          <a:xfrm>
            <a:off x="2029968" y="5265928"/>
            <a:ext cx="8193024" cy="918972"/>
          </a:xfrm>
          <a:prstGeom prst="rect">
            <a:avLst/>
          </a:prstGeom>
          <a:noFill/>
          <a:ln/>
        </p:spPr>
        <p:txBody>
          <a:bodyPr wrap="square" lIns="254" tIns="254" rIns="254" bIns="254" rtlCol="0" anchor="ctr">
            <a:noAutofit/>
          </a:bodyPr>
          <a:lstStyle/>
          <a:p>
            <a:pPr marL="0" indent="0">
              <a:buNone/>
            </a:pPr>
            <a:r>
              <a:rPr lang="en-US" sz="2000" dirty="0">
                <a:solidFill>
                  <a:srgbClr val="374151"/>
                </a:solidFill>
              </a:rPr>
              <a:t>Use attention as qualitative support for error analysis, not as proof that a token caused the prediction.</a:t>
            </a:r>
            <a:endParaRPr lang="en-US" sz="2000" dirty="0"/>
          </a:p>
        </p:txBody>
      </p:sp>
    </p:spTree>
    <p:extLst>
      <p:ext uri="{BB962C8B-B14F-4D97-AF65-F5344CB8AC3E}">
        <p14:creationId xmlns:p14="http://schemas.microsoft.com/office/powerpoint/2010/main" val="2370379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02737-0619-06EB-C07B-9C2A5E40C72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7F9CBA3-A187-DD61-1FDE-154BF16A9856}"/>
              </a:ext>
            </a:extLst>
          </p:cNvPr>
          <p:cNvSpPr>
            <a:spLocks noGrp="1"/>
          </p:cNvSpPr>
          <p:nvPr>
            <p:ph type="sldNum" sz="quarter" idx="12"/>
          </p:nvPr>
        </p:nvSpPr>
        <p:spPr/>
        <p:txBody>
          <a:bodyPr/>
          <a:lstStyle/>
          <a:p>
            <a:r>
              <a:rPr sz="1200">
                <a:latin typeface="Arial"/>
              </a:rPr>
              <a:t>22</a:t>
            </a:r>
          </a:p>
        </p:txBody>
      </p:sp>
      <p:sp>
        <p:nvSpPr>
          <p:cNvPr id="3" name="文本框 2">
            <a:extLst>
              <a:ext uri="{FF2B5EF4-FFF2-40B4-BE49-F238E27FC236}">
                <a16:creationId xmlns:a16="http://schemas.microsoft.com/office/drawing/2014/main" id="{299B7BAB-79F0-275F-968D-EF6B0FB1BA3B}"/>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Limitations and Future Improvements</a:t>
            </a:r>
          </a:p>
        </p:txBody>
      </p:sp>
      <p:sp>
        <p:nvSpPr>
          <p:cNvPr id="21" name="Text 3">
            <a:extLst>
              <a:ext uri="{FF2B5EF4-FFF2-40B4-BE49-F238E27FC236}">
                <a16:creationId xmlns:a16="http://schemas.microsoft.com/office/drawing/2014/main" id="{F033824B-9741-8C82-9474-9943912E575B}"/>
              </a:ext>
            </a:extLst>
          </p:cNvPr>
          <p:cNvSpPr/>
          <p:nvPr/>
        </p:nvSpPr>
        <p:spPr>
          <a:xfrm>
            <a:off x="403780" y="1147520"/>
            <a:ext cx="10323576" cy="574868"/>
          </a:xfrm>
          <a:prstGeom prst="rect">
            <a:avLst/>
          </a:prstGeom>
          <a:noFill/>
          <a:ln/>
        </p:spPr>
        <p:txBody>
          <a:bodyPr wrap="square" lIns="0" tIns="0" rIns="0" bIns="0" rtlCol="0" anchor="ctr"/>
          <a:lstStyle/>
          <a:p>
            <a:r>
              <a:rPr lang="en-US" altLang="zh-CN" sz="2000" dirty="0">
                <a:solidFill>
                  <a:srgbClr val="6B7280"/>
                </a:solidFill>
              </a:rPr>
              <a:t>The project should be evaluated by correct formulation and critical reasoning, not only scores.</a:t>
            </a:r>
            <a:endParaRPr lang="en-US" altLang="zh-CN" sz="2000" dirty="0"/>
          </a:p>
        </p:txBody>
      </p:sp>
      <p:graphicFrame>
        <p:nvGraphicFramePr>
          <p:cNvPr id="4" name="表格 3">
            <a:extLst>
              <a:ext uri="{FF2B5EF4-FFF2-40B4-BE49-F238E27FC236}">
                <a16:creationId xmlns:a16="http://schemas.microsoft.com/office/drawing/2014/main" id="{27E576F2-D4DE-CCDA-2410-5CA209F072A1}"/>
              </a:ext>
            </a:extLst>
          </p:cNvPr>
          <p:cNvGraphicFramePr>
            <a:graphicFrameLocks noGrp="1"/>
          </p:cNvGraphicFramePr>
          <p:nvPr/>
        </p:nvGraphicFramePr>
        <p:xfrm>
          <a:off x="944879" y="1963420"/>
          <a:ext cx="9782477" cy="29311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516045">
                  <a:extLst>
                    <a:ext uri="{9D8B030D-6E8A-4147-A177-3AD203B41FA5}">
                      <a16:colId xmlns:a16="http://schemas.microsoft.com/office/drawing/2014/main" val="1711821598"/>
                    </a:ext>
                  </a:extLst>
                </a:gridCol>
                <a:gridCol w="3507406">
                  <a:extLst>
                    <a:ext uri="{9D8B030D-6E8A-4147-A177-3AD203B41FA5}">
                      <a16:colId xmlns:a16="http://schemas.microsoft.com/office/drawing/2014/main" val="1021077212"/>
                    </a:ext>
                  </a:extLst>
                </a:gridCol>
                <a:gridCol w="2759026">
                  <a:extLst>
                    <a:ext uri="{9D8B030D-6E8A-4147-A177-3AD203B41FA5}">
                      <a16:colId xmlns:a16="http://schemas.microsoft.com/office/drawing/2014/main" val="646726754"/>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Limitation</a:t>
                      </a:r>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Why it matters</a:t>
                      </a:r>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Future improvement</a:t>
                      </a:r>
                    </a:p>
                  </a:txBody>
                  <a:tcPr>
                    <a:solidFill>
                      <a:srgbClr val="003870"/>
                    </a:solidFill>
                  </a:tcPr>
                </a:tc>
                <a:extLst>
                  <a:ext uri="{0D108BD9-81ED-4DB2-BD59-A6C34878D82A}">
                    <a16:rowId xmlns:a16="http://schemas.microsoft.com/office/drawing/2014/main" val="23413706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Small dataset</a:t>
                      </a:r>
                    </a:p>
                  </a:txBody>
                  <a:tcPr anchor="ctr"/>
                </a:tc>
                <a:tc>
                  <a:txBody>
                    <a:bodyPr/>
                    <a:lstStyle/>
                    <a:p>
                      <a:pPr marL="0" indent="0" algn="ctr">
                        <a:buNone/>
                      </a:pPr>
                      <a:r>
                        <a:rPr lang="en-US" altLang="zh-CN" sz="1800" dirty="0">
                          <a:solidFill>
                            <a:srgbClr val="374151"/>
                          </a:solidFill>
                        </a:rPr>
                        <a:t>Higher overfitting and fold variance</a:t>
                      </a:r>
                    </a:p>
                  </a:txBody>
                  <a:tcPr anchor="ctr"/>
                </a:tc>
                <a:tc>
                  <a:txBody>
                    <a:bodyPr/>
                    <a:lstStyle/>
                    <a:p>
                      <a:pPr marL="0" indent="0" algn="ctr">
                        <a:buNone/>
                      </a:pPr>
                      <a:r>
                        <a:rPr lang="en-US" altLang="zh-CN" sz="1800" dirty="0">
                          <a:solidFill>
                            <a:srgbClr val="374151"/>
                          </a:solidFill>
                        </a:rPr>
                        <a:t>Collect more molecules; nested CV</a:t>
                      </a:r>
                    </a:p>
                  </a:txBody>
                  <a:tcPr anchor="ctr"/>
                </a:tc>
                <a:extLst>
                  <a:ext uri="{0D108BD9-81ED-4DB2-BD59-A6C34878D82A}">
                    <a16:rowId xmlns:a16="http://schemas.microsoft.com/office/drawing/2014/main" val="398106450"/>
                  </a:ext>
                </a:extLst>
              </a:tr>
              <a:tr h="370840">
                <a:tc>
                  <a:txBody>
                    <a:bodyPr/>
                    <a:lstStyle/>
                    <a:p>
                      <a:pPr algn="ctr">
                        <a:buNone/>
                      </a:pPr>
                      <a:r>
                        <a:rPr lang="en-US" dirty="0"/>
                        <a:t>SMILES-only representation</a:t>
                      </a:r>
                    </a:p>
                  </a:txBody>
                  <a:tcPr anchor="ctr"/>
                </a:tc>
                <a:tc>
                  <a:txBody>
                    <a:bodyPr/>
                    <a:lstStyle/>
                    <a:p>
                      <a:pPr marL="0" indent="0" algn="ctr">
                        <a:buNone/>
                      </a:pPr>
                      <a:r>
                        <a:rPr lang="en-US" altLang="zh-CN" sz="1800" dirty="0">
                          <a:solidFill>
                            <a:srgbClr val="374151"/>
                          </a:solidFill>
                        </a:rPr>
                        <a:t>May miss 3D and ionic interaction geometry</a:t>
                      </a:r>
                    </a:p>
                  </a:txBody>
                  <a:tcPr anchor="ctr"/>
                </a:tc>
                <a:tc>
                  <a:txBody>
                    <a:bodyPr/>
                    <a:lstStyle/>
                    <a:p>
                      <a:pPr marL="0" indent="0" algn="ctr">
                        <a:buNone/>
                      </a:pPr>
                      <a:r>
                        <a:rPr lang="en-US" altLang="zh-CN" sz="1800" b="1" dirty="0">
                          <a:solidFill>
                            <a:srgbClr val="374151"/>
                          </a:solidFill>
                        </a:rPr>
                        <a:t>Add graph or 3D/geometric features</a:t>
                      </a:r>
                    </a:p>
                  </a:txBody>
                  <a:tcPr anchor="ctr"/>
                </a:tc>
                <a:extLst>
                  <a:ext uri="{0D108BD9-81ED-4DB2-BD59-A6C34878D82A}">
                    <a16:rowId xmlns:a16="http://schemas.microsoft.com/office/drawing/2014/main" val="957574858"/>
                  </a:ext>
                </a:extLst>
              </a:tr>
              <a:tr h="370840">
                <a:tc>
                  <a:txBody>
                    <a:bodyPr/>
                    <a:lstStyle/>
                    <a:p>
                      <a:pPr algn="ctr">
                        <a:buNone/>
                      </a:pPr>
                      <a:r>
                        <a:rPr lang="en-US" dirty="0"/>
                        <a:t>Computed proxy label</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solidFill>
                            <a:srgbClr val="374151"/>
                          </a:solidFill>
                        </a:rPr>
                        <a:t>Energy_min</a:t>
                      </a:r>
                      <a:r>
                        <a:rPr lang="en-US" altLang="zh-CN" sz="1800" dirty="0">
                          <a:solidFill>
                            <a:srgbClr val="374151"/>
                          </a:solidFill>
                        </a:rPr>
                        <a:t> is not direct device performance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Validate with experiments or multi-task labels</a:t>
                      </a:r>
                    </a:p>
                  </a:txBody>
                  <a:tcPr anchor="ctr"/>
                </a:tc>
                <a:extLst>
                  <a:ext uri="{0D108BD9-81ED-4DB2-BD59-A6C34878D82A}">
                    <a16:rowId xmlns:a16="http://schemas.microsoft.com/office/drawing/2014/main" val="3781422370"/>
                  </a:ext>
                </a:extLst>
              </a:tr>
              <a:tr h="370840">
                <a:tc>
                  <a:txBody>
                    <a:bodyPr/>
                    <a:lstStyle/>
                    <a:p>
                      <a:pPr algn="ctr">
                        <a:buNone/>
                      </a:pPr>
                      <a:r>
                        <a:rPr lang="en-US" dirty="0"/>
                        <a:t>Metadata in predictions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Case mapping relies on row order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Save CID and SMILES in prediction outputs</a:t>
                      </a:r>
                    </a:p>
                  </a:txBody>
                  <a:tcPr anchor="ctr"/>
                </a:tc>
                <a:extLst>
                  <a:ext uri="{0D108BD9-81ED-4DB2-BD59-A6C34878D82A}">
                    <a16:rowId xmlns:a16="http://schemas.microsoft.com/office/drawing/2014/main" val="10145188"/>
                  </a:ext>
                </a:extLst>
              </a:tr>
            </a:tbl>
          </a:graphicData>
        </a:graphic>
      </p:graphicFrame>
    </p:spTree>
    <p:extLst>
      <p:ext uri="{BB962C8B-B14F-4D97-AF65-F5344CB8AC3E}">
        <p14:creationId xmlns:p14="http://schemas.microsoft.com/office/powerpoint/2010/main" val="96722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BFB26-C282-CAAB-D34E-01A6BA78343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0BF1DDA-6BCE-62EB-22C7-B45F156E6846}"/>
              </a:ext>
            </a:extLst>
          </p:cNvPr>
          <p:cNvSpPr>
            <a:spLocks noGrp="1"/>
          </p:cNvSpPr>
          <p:nvPr>
            <p:ph type="sldNum" sz="quarter" idx="12"/>
          </p:nvPr>
        </p:nvSpPr>
        <p:spPr/>
        <p:txBody>
          <a:bodyPr/>
          <a:lstStyle/>
          <a:p>
            <a:r>
              <a:rPr sz="1200">
                <a:latin typeface="Arial"/>
              </a:rPr>
              <a:t>23</a:t>
            </a:r>
          </a:p>
        </p:txBody>
      </p:sp>
      <p:sp>
        <p:nvSpPr>
          <p:cNvPr id="3" name="文本框 2">
            <a:extLst>
              <a:ext uri="{FF2B5EF4-FFF2-40B4-BE49-F238E27FC236}">
                <a16:creationId xmlns:a16="http://schemas.microsoft.com/office/drawing/2014/main" id="{02E29C36-CD5F-0DEA-750F-CF6957B67EC2}"/>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Conclusions</a:t>
            </a:r>
          </a:p>
        </p:txBody>
      </p:sp>
      <p:sp>
        <p:nvSpPr>
          <p:cNvPr id="5" name="Shape 1">
            <a:extLst>
              <a:ext uri="{FF2B5EF4-FFF2-40B4-BE49-F238E27FC236}">
                <a16:creationId xmlns:a16="http://schemas.microsoft.com/office/drawing/2014/main" id="{AE465E37-61B6-37CA-06ED-0E00A1E1C483}"/>
              </a:ext>
            </a:extLst>
          </p:cNvPr>
          <p:cNvSpPr/>
          <p:nvPr/>
        </p:nvSpPr>
        <p:spPr>
          <a:xfrm>
            <a:off x="627380" y="1816100"/>
            <a:ext cx="3337560" cy="3632200"/>
          </a:xfrm>
          <a:prstGeom prst="roundRect">
            <a:avLst>
              <a:gd name="adj" fmla="val 1778"/>
            </a:avLst>
          </a:prstGeom>
          <a:solidFill>
            <a:srgbClr val="FFFFFF"/>
          </a:solidFill>
          <a:ln w="10160">
            <a:solidFill>
              <a:srgbClr val="D1D5DB"/>
            </a:solidFill>
            <a:prstDash val="solid"/>
          </a:ln>
        </p:spPr>
        <p:txBody>
          <a:bodyPr/>
          <a:lstStyle/>
          <a:p>
            <a:endParaRPr lang="en-HK"/>
          </a:p>
        </p:txBody>
      </p:sp>
      <p:sp>
        <p:nvSpPr>
          <p:cNvPr id="6" name="Shape 2">
            <a:extLst>
              <a:ext uri="{FF2B5EF4-FFF2-40B4-BE49-F238E27FC236}">
                <a16:creationId xmlns:a16="http://schemas.microsoft.com/office/drawing/2014/main" id="{3CE4B8E0-96C8-D66D-1A2F-02AC85F8A614}"/>
              </a:ext>
            </a:extLst>
          </p:cNvPr>
          <p:cNvSpPr/>
          <p:nvPr/>
        </p:nvSpPr>
        <p:spPr>
          <a:xfrm>
            <a:off x="627380" y="1816100"/>
            <a:ext cx="54864" cy="3632200"/>
          </a:xfrm>
          <a:prstGeom prst="rect">
            <a:avLst/>
          </a:prstGeom>
          <a:solidFill>
            <a:srgbClr val="1D4ED8"/>
          </a:solidFill>
          <a:ln w="12700">
            <a:solidFill>
              <a:srgbClr val="1D4ED8">
                <a:alpha val="0"/>
              </a:srgbClr>
            </a:solidFill>
            <a:prstDash val="solid"/>
          </a:ln>
        </p:spPr>
        <p:txBody>
          <a:bodyPr/>
          <a:lstStyle/>
          <a:p>
            <a:endParaRPr lang="en-HK"/>
          </a:p>
        </p:txBody>
      </p:sp>
      <p:sp>
        <p:nvSpPr>
          <p:cNvPr id="7" name="Text 3">
            <a:extLst>
              <a:ext uri="{FF2B5EF4-FFF2-40B4-BE49-F238E27FC236}">
                <a16:creationId xmlns:a16="http://schemas.microsoft.com/office/drawing/2014/main" id="{15C9B56B-59A8-6882-CA5E-A6D1D9DF67FA}"/>
              </a:ext>
            </a:extLst>
          </p:cNvPr>
          <p:cNvSpPr/>
          <p:nvPr/>
        </p:nvSpPr>
        <p:spPr>
          <a:xfrm>
            <a:off x="828548" y="1962404"/>
            <a:ext cx="3017520" cy="666496"/>
          </a:xfrm>
          <a:prstGeom prst="rect">
            <a:avLst/>
          </a:prstGeom>
          <a:noFill/>
          <a:ln/>
        </p:spPr>
        <p:txBody>
          <a:bodyPr wrap="square" lIns="0" tIns="0" rIns="0" bIns="0" rtlCol="0" anchor="ctr"/>
          <a:lstStyle/>
          <a:p>
            <a:pPr marL="0" indent="0">
              <a:buNone/>
            </a:pPr>
            <a:r>
              <a:rPr lang="en-US" sz="2300" b="1" dirty="0">
                <a:solidFill>
                  <a:srgbClr val="111827"/>
                </a:solidFill>
              </a:rPr>
              <a:t>1. Correct deep learning formulation</a:t>
            </a:r>
            <a:endParaRPr lang="en-US" sz="2300" dirty="0"/>
          </a:p>
        </p:txBody>
      </p:sp>
      <p:sp>
        <p:nvSpPr>
          <p:cNvPr id="8" name="Text 4">
            <a:extLst>
              <a:ext uri="{FF2B5EF4-FFF2-40B4-BE49-F238E27FC236}">
                <a16:creationId xmlns:a16="http://schemas.microsoft.com/office/drawing/2014/main" id="{9EFE7AE0-AC58-F8EC-80E0-1DF3C49BC880}"/>
              </a:ext>
            </a:extLst>
          </p:cNvPr>
          <p:cNvSpPr/>
          <p:nvPr/>
        </p:nvSpPr>
        <p:spPr>
          <a:xfrm>
            <a:off x="828548" y="2888416"/>
            <a:ext cx="3026664" cy="2595589"/>
          </a:xfrm>
          <a:prstGeom prst="rect">
            <a:avLst/>
          </a:prstGeom>
          <a:noFill/>
          <a:ln/>
        </p:spPr>
        <p:txBody>
          <a:bodyPr wrap="square" lIns="254" tIns="254" rIns="254" bIns="254" rtlCol="0" anchor="t">
            <a:noAutofit/>
          </a:bodyPr>
          <a:lstStyle/>
          <a:p>
            <a:pPr marL="0" indent="0" algn="l">
              <a:buNone/>
            </a:pPr>
            <a:r>
              <a:rPr lang="en-US" sz="2000" dirty="0">
                <a:solidFill>
                  <a:srgbClr val="374151"/>
                </a:solidFill>
              </a:rPr>
              <a:t>The project is supervised molecular regression: SMILES input, Energy_min target, continuous prediction, MSE training, and RMSE/MAE/R² evaluation.</a:t>
            </a:r>
            <a:endParaRPr lang="en-US" sz="2000" dirty="0"/>
          </a:p>
        </p:txBody>
      </p:sp>
      <p:sp>
        <p:nvSpPr>
          <p:cNvPr id="9" name="Shape 5">
            <a:extLst>
              <a:ext uri="{FF2B5EF4-FFF2-40B4-BE49-F238E27FC236}">
                <a16:creationId xmlns:a16="http://schemas.microsoft.com/office/drawing/2014/main" id="{1F021243-5ED3-B8C8-BE55-6BF8676EBB72}"/>
              </a:ext>
            </a:extLst>
          </p:cNvPr>
          <p:cNvSpPr/>
          <p:nvPr/>
        </p:nvSpPr>
        <p:spPr>
          <a:xfrm>
            <a:off x="4193540" y="1816100"/>
            <a:ext cx="3337560" cy="3632200"/>
          </a:xfrm>
          <a:prstGeom prst="roundRect">
            <a:avLst>
              <a:gd name="adj" fmla="val 1778"/>
            </a:avLst>
          </a:prstGeom>
          <a:solidFill>
            <a:srgbClr val="FFFFFF"/>
          </a:solidFill>
          <a:ln w="10160">
            <a:solidFill>
              <a:srgbClr val="D1D5DB"/>
            </a:solidFill>
            <a:prstDash val="solid"/>
          </a:ln>
        </p:spPr>
        <p:txBody>
          <a:bodyPr/>
          <a:lstStyle/>
          <a:p>
            <a:endParaRPr lang="en-HK"/>
          </a:p>
        </p:txBody>
      </p:sp>
      <p:sp>
        <p:nvSpPr>
          <p:cNvPr id="10" name="Shape 6">
            <a:extLst>
              <a:ext uri="{FF2B5EF4-FFF2-40B4-BE49-F238E27FC236}">
                <a16:creationId xmlns:a16="http://schemas.microsoft.com/office/drawing/2014/main" id="{C3EE2788-7B93-FFF5-97D9-EF63A9DB8A5A}"/>
              </a:ext>
            </a:extLst>
          </p:cNvPr>
          <p:cNvSpPr/>
          <p:nvPr/>
        </p:nvSpPr>
        <p:spPr>
          <a:xfrm>
            <a:off x="4193540" y="1816100"/>
            <a:ext cx="54864" cy="3632200"/>
          </a:xfrm>
          <a:prstGeom prst="rect">
            <a:avLst/>
          </a:prstGeom>
          <a:solidFill>
            <a:srgbClr val="6D28D9"/>
          </a:solidFill>
          <a:ln w="12700">
            <a:solidFill>
              <a:srgbClr val="6D28D9">
                <a:alpha val="0"/>
              </a:srgbClr>
            </a:solidFill>
            <a:prstDash val="solid"/>
          </a:ln>
        </p:spPr>
        <p:txBody>
          <a:bodyPr/>
          <a:lstStyle/>
          <a:p>
            <a:endParaRPr lang="en-HK"/>
          </a:p>
        </p:txBody>
      </p:sp>
      <p:sp>
        <p:nvSpPr>
          <p:cNvPr id="11" name="Text 7">
            <a:extLst>
              <a:ext uri="{FF2B5EF4-FFF2-40B4-BE49-F238E27FC236}">
                <a16:creationId xmlns:a16="http://schemas.microsoft.com/office/drawing/2014/main" id="{57E0C165-47D8-7647-0363-81E7650A9C4D}"/>
              </a:ext>
            </a:extLst>
          </p:cNvPr>
          <p:cNvSpPr/>
          <p:nvPr/>
        </p:nvSpPr>
        <p:spPr>
          <a:xfrm>
            <a:off x="4394708" y="1962404"/>
            <a:ext cx="3017520" cy="666496"/>
          </a:xfrm>
          <a:prstGeom prst="rect">
            <a:avLst/>
          </a:prstGeom>
          <a:noFill/>
          <a:ln/>
        </p:spPr>
        <p:txBody>
          <a:bodyPr wrap="square" lIns="0" tIns="0" rIns="0" bIns="0" rtlCol="0" anchor="ctr"/>
          <a:lstStyle/>
          <a:p>
            <a:pPr marL="0" indent="0">
              <a:buNone/>
            </a:pPr>
            <a:r>
              <a:rPr lang="en-US" sz="2300" b="1" dirty="0">
                <a:solidFill>
                  <a:srgbClr val="111827"/>
                </a:solidFill>
              </a:rPr>
              <a:t>2. Justified model strategy</a:t>
            </a:r>
            <a:endParaRPr lang="en-US" sz="2300" dirty="0"/>
          </a:p>
        </p:txBody>
      </p:sp>
      <p:sp>
        <p:nvSpPr>
          <p:cNvPr id="12" name="Text 8">
            <a:extLst>
              <a:ext uri="{FF2B5EF4-FFF2-40B4-BE49-F238E27FC236}">
                <a16:creationId xmlns:a16="http://schemas.microsoft.com/office/drawing/2014/main" id="{159D59F1-F9C6-5E8A-07ED-0B673CFEAA39}"/>
              </a:ext>
            </a:extLst>
          </p:cNvPr>
          <p:cNvSpPr/>
          <p:nvPr/>
        </p:nvSpPr>
        <p:spPr>
          <a:xfrm>
            <a:off x="4376420" y="2886964"/>
            <a:ext cx="3026664" cy="1490472"/>
          </a:xfrm>
          <a:prstGeom prst="rect">
            <a:avLst/>
          </a:prstGeom>
          <a:noFill/>
          <a:ln/>
        </p:spPr>
        <p:txBody>
          <a:bodyPr wrap="square" lIns="254" tIns="254" rIns="254" bIns="254" rtlCol="0" anchor="t">
            <a:noAutofit/>
          </a:bodyPr>
          <a:lstStyle/>
          <a:p>
            <a:pPr marL="0" indent="0" algn="l">
              <a:buNone/>
            </a:pPr>
            <a:r>
              <a:rPr lang="en-US" sz="2000" dirty="0">
                <a:solidFill>
                  <a:srgbClr val="374151"/>
                </a:solidFill>
              </a:rPr>
              <a:t>ChemBERTa is appropriate because the input is a molecular sequence and pretraining is valuable under small-data conditions.</a:t>
            </a:r>
            <a:endParaRPr lang="en-US" sz="2000" dirty="0"/>
          </a:p>
        </p:txBody>
      </p:sp>
      <p:sp>
        <p:nvSpPr>
          <p:cNvPr id="13" name="Shape 9">
            <a:extLst>
              <a:ext uri="{FF2B5EF4-FFF2-40B4-BE49-F238E27FC236}">
                <a16:creationId xmlns:a16="http://schemas.microsoft.com/office/drawing/2014/main" id="{C43D53C2-0F5A-970E-4BDB-93F000E94078}"/>
              </a:ext>
            </a:extLst>
          </p:cNvPr>
          <p:cNvSpPr/>
          <p:nvPr/>
        </p:nvSpPr>
        <p:spPr>
          <a:xfrm>
            <a:off x="7759700" y="1816100"/>
            <a:ext cx="3337560" cy="3632200"/>
          </a:xfrm>
          <a:prstGeom prst="roundRect">
            <a:avLst>
              <a:gd name="adj" fmla="val 1778"/>
            </a:avLst>
          </a:prstGeom>
          <a:solidFill>
            <a:srgbClr val="FFFFFF"/>
          </a:solidFill>
          <a:ln w="10160">
            <a:solidFill>
              <a:srgbClr val="D1D5DB"/>
            </a:solidFill>
            <a:prstDash val="solid"/>
          </a:ln>
        </p:spPr>
        <p:txBody>
          <a:bodyPr/>
          <a:lstStyle/>
          <a:p>
            <a:endParaRPr lang="en-HK"/>
          </a:p>
        </p:txBody>
      </p:sp>
      <p:sp>
        <p:nvSpPr>
          <p:cNvPr id="14" name="Shape 10">
            <a:extLst>
              <a:ext uri="{FF2B5EF4-FFF2-40B4-BE49-F238E27FC236}">
                <a16:creationId xmlns:a16="http://schemas.microsoft.com/office/drawing/2014/main" id="{6618087B-86A1-1C2C-7170-D7F674E0103C}"/>
              </a:ext>
            </a:extLst>
          </p:cNvPr>
          <p:cNvSpPr/>
          <p:nvPr/>
        </p:nvSpPr>
        <p:spPr>
          <a:xfrm>
            <a:off x="7759700" y="1816100"/>
            <a:ext cx="54864" cy="3632200"/>
          </a:xfrm>
          <a:prstGeom prst="rect">
            <a:avLst/>
          </a:prstGeom>
          <a:solidFill>
            <a:srgbClr val="047857"/>
          </a:solidFill>
          <a:ln w="12700">
            <a:solidFill>
              <a:srgbClr val="047857">
                <a:alpha val="0"/>
              </a:srgbClr>
            </a:solidFill>
            <a:prstDash val="solid"/>
          </a:ln>
        </p:spPr>
        <p:txBody>
          <a:bodyPr/>
          <a:lstStyle/>
          <a:p>
            <a:endParaRPr lang="en-HK"/>
          </a:p>
        </p:txBody>
      </p:sp>
      <p:sp>
        <p:nvSpPr>
          <p:cNvPr id="15" name="Text 11">
            <a:extLst>
              <a:ext uri="{FF2B5EF4-FFF2-40B4-BE49-F238E27FC236}">
                <a16:creationId xmlns:a16="http://schemas.microsoft.com/office/drawing/2014/main" id="{B01A0E08-CBAA-E86E-5125-604404B27DCB}"/>
              </a:ext>
            </a:extLst>
          </p:cNvPr>
          <p:cNvSpPr/>
          <p:nvPr/>
        </p:nvSpPr>
        <p:spPr>
          <a:xfrm>
            <a:off x="7960868" y="1962404"/>
            <a:ext cx="3017520" cy="666496"/>
          </a:xfrm>
          <a:prstGeom prst="rect">
            <a:avLst/>
          </a:prstGeom>
          <a:noFill/>
          <a:ln/>
        </p:spPr>
        <p:txBody>
          <a:bodyPr wrap="square" lIns="0" tIns="0" rIns="0" bIns="0" rtlCol="0" anchor="ctr"/>
          <a:lstStyle/>
          <a:p>
            <a:pPr marL="0" indent="0">
              <a:buNone/>
            </a:pPr>
            <a:r>
              <a:rPr lang="en-US" sz="2300" b="1" dirty="0">
                <a:solidFill>
                  <a:srgbClr val="111827"/>
                </a:solidFill>
              </a:rPr>
              <a:t>3. Main empirical finding</a:t>
            </a:r>
            <a:endParaRPr lang="en-US" sz="2300" dirty="0"/>
          </a:p>
        </p:txBody>
      </p:sp>
      <p:sp>
        <p:nvSpPr>
          <p:cNvPr id="16" name="Text 12">
            <a:extLst>
              <a:ext uri="{FF2B5EF4-FFF2-40B4-BE49-F238E27FC236}">
                <a16:creationId xmlns:a16="http://schemas.microsoft.com/office/drawing/2014/main" id="{C44F09A8-0F2D-D6E7-EA69-F0439F5FF81A}"/>
              </a:ext>
            </a:extLst>
          </p:cNvPr>
          <p:cNvSpPr/>
          <p:nvPr/>
        </p:nvSpPr>
        <p:spPr>
          <a:xfrm>
            <a:off x="7960868" y="2886964"/>
            <a:ext cx="3026664" cy="1490472"/>
          </a:xfrm>
          <a:prstGeom prst="rect">
            <a:avLst/>
          </a:prstGeom>
          <a:noFill/>
          <a:ln/>
        </p:spPr>
        <p:txBody>
          <a:bodyPr wrap="square" lIns="254" tIns="254" rIns="254" bIns="254" rtlCol="0" anchor="t">
            <a:noAutofit/>
          </a:bodyPr>
          <a:lstStyle/>
          <a:p>
            <a:pPr marL="0" indent="0" algn="l">
              <a:buNone/>
            </a:pPr>
            <a:r>
              <a:rPr lang="en-US" sz="2000" dirty="0">
                <a:solidFill>
                  <a:srgbClr val="374151"/>
                </a:solidFill>
              </a:rPr>
              <a:t>SMILES augmentation plus two-stage fine-tuning gives the best CV result: RMSE 0.1312 eV, MAE 0.1042 eV, R² 0.5345.</a:t>
            </a:r>
            <a:endParaRPr lang="en-US" sz="2000" dirty="0"/>
          </a:p>
        </p:txBody>
      </p:sp>
    </p:spTree>
    <p:extLst>
      <p:ext uri="{BB962C8B-B14F-4D97-AF65-F5344CB8AC3E}">
        <p14:creationId xmlns:p14="http://schemas.microsoft.com/office/powerpoint/2010/main" val="429173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254B352-F97C-0E52-3ABD-9ACDEC2D4431}"/>
              </a:ext>
            </a:extLst>
          </p:cNvPr>
          <p:cNvSpPr>
            <a:spLocks noGrp="1"/>
          </p:cNvSpPr>
          <p:nvPr>
            <p:ph type="sldNum" sz="quarter" idx="4294967295"/>
          </p:nvPr>
        </p:nvSpPr>
        <p:spPr>
          <a:xfrm>
            <a:off x="9448800" y="6356350"/>
            <a:ext cx="2743200" cy="365125"/>
          </a:xfrm>
        </p:spPr>
        <p:txBody>
          <a:bodyPr/>
          <a:lstStyle/>
          <a:p>
            <a:r>
              <a:rPr sz="1200">
                <a:latin typeface="Arial"/>
              </a:rPr>
              <a:t>24</a:t>
            </a:r>
          </a:p>
        </p:txBody>
      </p:sp>
      <p:sp>
        <p:nvSpPr>
          <p:cNvPr id="3" name="文本框 2">
            <a:extLst>
              <a:ext uri="{FF2B5EF4-FFF2-40B4-BE49-F238E27FC236}">
                <a16:creationId xmlns:a16="http://schemas.microsoft.com/office/drawing/2014/main" id="{2C979C36-600A-9A58-DC17-2E91BD2AD2CA}"/>
              </a:ext>
            </a:extLst>
          </p:cNvPr>
          <p:cNvSpPr txBox="1"/>
          <p:nvPr/>
        </p:nvSpPr>
        <p:spPr>
          <a:xfrm>
            <a:off x="100094" y="1751906"/>
            <a:ext cx="7265324" cy="892552"/>
          </a:xfrm>
          <a:prstGeom prst="rect">
            <a:avLst/>
          </a:prstGeom>
          <a:noFill/>
        </p:spPr>
        <p:txBody>
          <a:bodyPr wrap="square" rtlCol="0">
            <a:spAutoFit/>
          </a:bodyPr>
          <a:lstStyle/>
          <a:p>
            <a:pPr algn="ctr"/>
            <a:r>
              <a:rPr lang="en-US" altLang="zh-CN" sz="5200" b="1" dirty="0">
                <a:latin typeface="Arial" panose="020B0604020202020204" pitchFamily="34" charset="0"/>
                <a:ea typeface="Arial Unicode MS" panose="020B0604020202020204" pitchFamily="34" charset="-122"/>
                <a:cs typeface="Arial" panose="020B0604020202020204" pitchFamily="34" charset="0"/>
              </a:rPr>
              <a:t>Thanks!</a:t>
            </a:r>
            <a:endParaRPr lang="en-GB" sz="52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4336F532-C3ED-3C97-F964-991278206FE1}"/>
              </a:ext>
            </a:extLst>
          </p:cNvPr>
          <p:cNvSpPr txBox="1"/>
          <p:nvPr/>
        </p:nvSpPr>
        <p:spPr>
          <a:xfrm>
            <a:off x="172468" y="4434034"/>
            <a:ext cx="7447531" cy="676532"/>
          </a:xfrm>
          <a:prstGeom prst="rect">
            <a:avLst/>
          </a:prstGeom>
          <a:noFill/>
        </p:spPr>
        <p:txBody>
          <a:bodyPr wrap="square" rtlCol="0">
            <a:spAutoFit/>
          </a:bodyPr>
          <a:lstStyle/>
          <a:p>
            <a:pPr algn="ctr">
              <a:lnSpc>
                <a:spcPct val="150000"/>
              </a:lnSpc>
            </a:pPr>
            <a:r>
              <a:rPr lang="en-US" altLang="zh-CN" sz="2800" dirty="0"/>
              <a:t>LYU Xinyi, LIU </a:t>
            </a:r>
            <a:r>
              <a:rPr lang="en-US" altLang="zh-CN" sz="2800" dirty="0" err="1"/>
              <a:t>Zesen</a:t>
            </a:r>
            <a:r>
              <a:rPr lang="en-US" altLang="zh-CN" sz="2800" dirty="0"/>
              <a:t>, XU </a:t>
            </a:r>
            <a:r>
              <a:rPr lang="en-US" altLang="zh-CN" sz="2800" dirty="0" err="1"/>
              <a:t>Fangjian</a:t>
            </a:r>
            <a:r>
              <a:rPr lang="en-US" altLang="zh-CN" sz="2800" dirty="0"/>
              <a:t>, SUN Tiantian</a:t>
            </a:r>
            <a:endParaRPr lang="en-GB" sz="2800" dirty="0"/>
          </a:p>
        </p:txBody>
      </p:sp>
    </p:spTree>
    <p:extLst>
      <p:ext uri="{BB962C8B-B14F-4D97-AF65-F5344CB8AC3E}">
        <p14:creationId xmlns:p14="http://schemas.microsoft.com/office/powerpoint/2010/main" val="2853686396"/>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1695" cy="201168"/>
          </a:xfrm>
          <a:prstGeom prst="rect">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29184"/>
            <a:ext cx="329184" cy="621792"/>
          </a:xfrm>
          <a:prstGeom prst="rect">
            <a:avLst/>
          </a:prstGeom>
          <a:solidFill>
            <a:srgbClr val="F5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38912"/>
            <a:ext cx="8046720" cy="502920"/>
          </a:xfrm>
          <a:prstGeom prst="rect">
            <a:avLst/>
          </a:prstGeom>
          <a:noFill/>
        </p:spPr>
        <p:txBody>
          <a:bodyPr wrap="none" lIns="73152" rIns="73152" tIns="27432" bIns="27432">
            <a:spAutoFit/>
          </a:bodyPr>
          <a:lstStyle/>
          <a:p>
            <a:r>
              <a:rPr sz="3000" b="1">
                <a:solidFill>
                  <a:srgbClr val="000000"/>
                </a:solidFill>
                <a:latin typeface="Arial"/>
              </a:rPr>
              <a:t>ChemBERTa Regression Architecture</a:t>
            </a:r>
          </a:p>
        </p:txBody>
      </p:sp>
      <p:sp>
        <p:nvSpPr>
          <p:cNvPr id="6" name="TextBox 5"/>
          <p:cNvSpPr txBox="1"/>
          <p:nvPr/>
        </p:nvSpPr>
        <p:spPr>
          <a:xfrm>
            <a:off x="9464040" y="347472"/>
            <a:ext cx="2240280" cy="512064"/>
          </a:xfrm>
          <a:prstGeom prst="rect">
            <a:avLst/>
          </a:prstGeom>
          <a:noFill/>
        </p:spPr>
        <p:txBody>
          <a:bodyPr wrap="none" lIns="73152" rIns="73152" tIns="27432" bIns="27432">
            <a:spAutoFit/>
          </a:bodyPr>
          <a:lstStyle/>
          <a:p>
            <a:r>
              <a:rPr sz="1300" b="0">
                <a:solidFill>
                  <a:srgbClr val="00376E"/>
                </a:solidFill>
                <a:latin typeface="Arial"/>
              </a:rPr>
              <a:t>THE HONG KONG
UNIVERSITY OF SCIENCE
AND TECHNOLOGY</a:t>
            </a:r>
          </a:p>
        </p:txBody>
      </p:sp>
      <p:sp>
        <p:nvSpPr>
          <p:cNvPr id="7" name="Oval 6"/>
          <p:cNvSpPr/>
          <p:nvPr/>
        </p:nvSpPr>
        <p:spPr>
          <a:xfrm>
            <a:off x="9189720" y="347472"/>
            <a:ext cx="164592" cy="164592"/>
          </a:xfrm>
          <a:prstGeom prst="ellipse">
            <a:avLst/>
          </a:prstGeom>
          <a:solidFill>
            <a:srgbClr val="F5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77472" y="6537960"/>
            <a:ext cx="256032" cy="164592"/>
          </a:xfrm>
          <a:prstGeom prst="rect">
            <a:avLst/>
          </a:prstGeom>
          <a:noFill/>
        </p:spPr>
        <p:txBody>
          <a:bodyPr wrap="none" lIns="73152" rIns="73152" tIns="27432" bIns="27432">
            <a:spAutoFit/>
          </a:bodyPr>
          <a:lstStyle/>
          <a:p>
            <a:r>
              <a:rPr sz="1200">
                <a:latin typeface="Arial"/>
              </a:rPr>
              <a:t>9</a:t>
            </a:r>
          </a:p>
        </p:txBody>
      </p:sp>
      <p:sp>
        <p:nvSpPr>
          <p:cNvPr id="9" name="Rounded Rectangle 8"/>
          <p:cNvSpPr/>
          <p:nvPr/>
        </p:nvSpPr>
        <p:spPr>
          <a:xfrm>
            <a:off x="749808" y="1261872"/>
            <a:ext cx="4160520" cy="4096512"/>
          </a:xfrm>
          <a:prstGeom prst="roundRect">
            <a:avLst/>
          </a:prstGeom>
          <a:solidFill>
            <a:srgbClr val="FFFFFF"/>
          </a:solidFill>
          <a:ln w="1524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9808" y="1261872"/>
            <a:ext cx="4160520" cy="566928"/>
          </a:xfrm>
          <a:prstGeom prst="roundRect">
            <a:avLst/>
          </a:prstGeom>
          <a:solidFill>
            <a:srgbClr val="00376E"/>
          </a:solidFill>
          <a:ln>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2200" b="1">
                <a:solidFill>
                  <a:srgbClr val="FFFFFF"/>
                </a:solidFill>
                <a:latin typeface="Arial"/>
              </a:rPr>
              <a:t>Key Setup</a:t>
            </a:r>
          </a:p>
        </p:txBody>
      </p:sp>
      <p:sp>
        <p:nvSpPr>
          <p:cNvPr id="11" name="Oval 10"/>
          <p:cNvSpPr/>
          <p:nvPr/>
        </p:nvSpPr>
        <p:spPr>
          <a:xfrm>
            <a:off x="960120" y="2286000"/>
            <a:ext cx="82296" cy="82296"/>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H="1">
            <a:off x="1138428" y="2322576"/>
            <a:ext cx="251460" cy="181051"/>
          </a:xfrm>
          <a:prstGeom prst="line">
            <a:avLst/>
          </a:prstGeom>
          <a:ln w="1905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89888" y="2322576"/>
            <a:ext cx="261518" cy="201168"/>
          </a:xfrm>
          <a:prstGeom prst="line">
            <a:avLst/>
          </a:prstGeom>
          <a:ln w="1905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89888" y="2040940"/>
            <a:ext cx="70408" cy="281636"/>
          </a:xfrm>
          <a:prstGeom prst="line">
            <a:avLst/>
          </a:prstGeom>
          <a:ln w="19050">
            <a:solidFill>
              <a:srgbClr val="00376E"/>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334566" y="2267254"/>
            <a:ext cx="110642" cy="110642"/>
          </a:xfrm>
          <a:prstGeom prst="ellipse">
            <a:avLst/>
          </a:prstGeom>
          <a:solidFill>
            <a:srgbClr val="FFFFFF"/>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83106" y="2448306"/>
            <a:ext cx="110642" cy="110642"/>
          </a:xfrm>
          <a:prstGeom prst="ellipse">
            <a:avLst/>
          </a:prstGeom>
          <a:solidFill>
            <a:srgbClr val="4091DC"/>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596085" y="2468422"/>
            <a:ext cx="110642" cy="110642"/>
          </a:xfrm>
          <a:prstGeom prst="ellipse">
            <a:avLst/>
          </a:prstGeom>
          <a:solidFill>
            <a:srgbClr val="4091DC"/>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04975" y="1985619"/>
            <a:ext cx="110642" cy="110642"/>
          </a:xfrm>
          <a:prstGeom prst="ellipse">
            <a:avLst/>
          </a:prstGeom>
          <a:solidFill>
            <a:srgbClr val="4091DC"/>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47088" y="2194560"/>
            <a:ext cx="713232" cy="292608"/>
          </a:xfrm>
          <a:prstGeom prst="rect">
            <a:avLst/>
          </a:prstGeom>
          <a:noFill/>
        </p:spPr>
        <p:txBody>
          <a:bodyPr wrap="none" lIns="73152" rIns="73152" tIns="27432" bIns="27432">
            <a:spAutoFit/>
          </a:bodyPr>
          <a:lstStyle/>
          <a:p>
            <a:r>
              <a:rPr sz="1700" b="1">
                <a:solidFill>
                  <a:srgbClr val="00376E"/>
                </a:solidFill>
                <a:latin typeface="Arial"/>
              </a:rPr>
              <a:t>Input:</a:t>
            </a:r>
          </a:p>
        </p:txBody>
      </p:sp>
      <p:sp>
        <p:nvSpPr>
          <p:cNvPr id="20" name="TextBox 19"/>
          <p:cNvSpPr txBox="1"/>
          <p:nvPr/>
        </p:nvSpPr>
        <p:spPr>
          <a:xfrm>
            <a:off x="2560320" y="2194560"/>
            <a:ext cx="1920240" cy="420624"/>
          </a:xfrm>
          <a:prstGeom prst="rect">
            <a:avLst/>
          </a:prstGeom>
          <a:noFill/>
        </p:spPr>
        <p:txBody>
          <a:bodyPr wrap="none" lIns="73152" rIns="73152" tIns="27432" bIns="27432">
            <a:spAutoFit/>
          </a:bodyPr>
          <a:lstStyle/>
          <a:p>
            <a:r>
              <a:rPr sz="1700" b="0">
                <a:solidFill>
                  <a:srgbClr val="000000"/>
                </a:solidFill>
                <a:latin typeface="Arial"/>
              </a:rPr>
              <a:t>SMILES string</a:t>
            </a:r>
          </a:p>
        </p:txBody>
      </p:sp>
      <p:sp>
        <p:nvSpPr>
          <p:cNvPr id="21" name="Oval 20"/>
          <p:cNvSpPr/>
          <p:nvPr/>
        </p:nvSpPr>
        <p:spPr>
          <a:xfrm>
            <a:off x="960120" y="2980944"/>
            <a:ext cx="82296" cy="82296"/>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79576" y="2834639"/>
            <a:ext cx="438912" cy="438912"/>
          </a:xfrm>
          <a:prstGeom prst="ellipse">
            <a:avLst/>
          </a:prstGeom>
          <a:noFill/>
          <a:ln w="2540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262969" y="2918033"/>
            <a:ext cx="272125" cy="272125"/>
          </a:xfrm>
          <a:prstGeom prst="ellipse">
            <a:avLst/>
          </a:prstGeom>
          <a:noFill/>
          <a:ln w="2540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337584" y="2992648"/>
            <a:ext cx="122895" cy="122895"/>
          </a:xfrm>
          <a:prstGeom prst="ellipse">
            <a:avLst/>
          </a:prstGeom>
          <a:noFill/>
          <a:ln w="2540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V="1">
            <a:off x="1399032" y="2779776"/>
            <a:ext cx="274320" cy="274320"/>
          </a:xfrm>
          <a:prstGeom prst="line">
            <a:avLst/>
          </a:prstGeom>
          <a:ln w="25400">
            <a:solidFill>
              <a:srgbClr val="00376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847088" y="2889503"/>
            <a:ext cx="713232" cy="292608"/>
          </a:xfrm>
          <a:prstGeom prst="rect">
            <a:avLst/>
          </a:prstGeom>
          <a:noFill/>
        </p:spPr>
        <p:txBody>
          <a:bodyPr wrap="none" lIns="73152" rIns="73152" tIns="27432" bIns="27432">
            <a:spAutoFit/>
          </a:bodyPr>
          <a:lstStyle/>
          <a:p>
            <a:r>
              <a:rPr sz="1700" b="1">
                <a:solidFill>
                  <a:srgbClr val="00376E"/>
                </a:solidFill>
                <a:latin typeface="Arial"/>
              </a:rPr>
              <a:t>Target:</a:t>
            </a:r>
          </a:p>
        </p:txBody>
      </p:sp>
      <p:sp>
        <p:nvSpPr>
          <p:cNvPr id="27" name="TextBox 26"/>
          <p:cNvSpPr txBox="1"/>
          <p:nvPr/>
        </p:nvSpPr>
        <p:spPr>
          <a:xfrm>
            <a:off x="2560320" y="2889503"/>
            <a:ext cx="1920240" cy="420624"/>
          </a:xfrm>
          <a:prstGeom prst="rect">
            <a:avLst/>
          </a:prstGeom>
          <a:noFill/>
        </p:spPr>
        <p:txBody>
          <a:bodyPr wrap="none" lIns="73152" rIns="73152" tIns="27432" bIns="27432">
            <a:spAutoFit/>
          </a:bodyPr>
          <a:lstStyle/>
          <a:p>
            <a:r>
              <a:rPr sz="1700" b="0">
                <a:solidFill>
                  <a:srgbClr val="000000"/>
                </a:solidFill>
                <a:latin typeface="Arial"/>
              </a:rPr>
              <a:t>Energy_min binding energy</a:t>
            </a:r>
          </a:p>
        </p:txBody>
      </p:sp>
      <p:sp>
        <p:nvSpPr>
          <p:cNvPr id="28" name="Oval 27"/>
          <p:cNvSpPr/>
          <p:nvPr/>
        </p:nvSpPr>
        <p:spPr>
          <a:xfrm>
            <a:off x="960120" y="3675887"/>
            <a:ext cx="82296" cy="82296"/>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a:off x="1490472" y="3749039"/>
            <a:ext cx="91440" cy="157277"/>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307592" y="3906316"/>
            <a:ext cx="182880" cy="0"/>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216152" y="3749039"/>
            <a:ext cx="91440" cy="157277"/>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216152" y="3591763"/>
            <a:ext cx="91440" cy="157276"/>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307592" y="3591763"/>
            <a:ext cx="182880" cy="0"/>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90472" y="3591763"/>
            <a:ext cx="91440" cy="157276"/>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540764" y="3707891"/>
            <a:ext cx="82296" cy="82296"/>
          </a:xfrm>
          <a:prstGeom prst="ellipse">
            <a:avLst/>
          </a:prstGeom>
          <a:solidFill>
            <a:srgbClr val="EEF9F1"/>
          </a:solidFill>
          <a:ln>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449324" y="3865168"/>
            <a:ext cx="82296" cy="82296"/>
          </a:xfrm>
          <a:prstGeom prst="ellipse">
            <a:avLst/>
          </a:prstGeom>
          <a:solidFill>
            <a:srgbClr val="EEF9F1"/>
          </a:solidFill>
          <a:ln>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266444" y="3865168"/>
            <a:ext cx="82296" cy="82296"/>
          </a:xfrm>
          <a:prstGeom prst="ellipse">
            <a:avLst/>
          </a:prstGeom>
          <a:solidFill>
            <a:srgbClr val="EEF9F1"/>
          </a:solidFill>
          <a:ln>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75004" y="3707891"/>
            <a:ext cx="82296" cy="82296"/>
          </a:xfrm>
          <a:prstGeom prst="ellipse">
            <a:avLst/>
          </a:prstGeom>
          <a:solidFill>
            <a:srgbClr val="EEF9F1"/>
          </a:solidFill>
          <a:ln>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266444" y="3550615"/>
            <a:ext cx="82296" cy="82296"/>
          </a:xfrm>
          <a:prstGeom prst="ellipse">
            <a:avLst/>
          </a:prstGeom>
          <a:solidFill>
            <a:srgbClr val="EEF9F1"/>
          </a:solidFill>
          <a:ln>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449324" y="3550615"/>
            <a:ext cx="82296" cy="82296"/>
          </a:xfrm>
          <a:prstGeom prst="ellipse">
            <a:avLst/>
          </a:prstGeom>
          <a:solidFill>
            <a:srgbClr val="EEF9F1"/>
          </a:solidFill>
          <a:ln>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47088" y="3584448"/>
            <a:ext cx="713232" cy="292608"/>
          </a:xfrm>
          <a:prstGeom prst="rect">
            <a:avLst/>
          </a:prstGeom>
          <a:noFill/>
        </p:spPr>
        <p:txBody>
          <a:bodyPr wrap="none" lIns="73152" rIns="73152" tIns="27432" bIns="27432">
            <a:spAutoFit/>
          </a:bodyPr>
          <a:lstStyle/>
          <a:p>
            <a:r>
              <a:rPr sz="1700" b="1">
                <a:solidFill>
                  <a:srgbClr val="00376E"/>
                </a:solidFill>
                <a:latin typeface="Arial"/>
              </a:rPr>
              <a:t>Model:</a:t>
            </a:r>
          </a:p>
        </p:txBody>
      </p:sp>
      <p:sp>
        <p:nvSpPr>
          <p:cNvPr id="42" name="TextBox 41"/>
          <p:cNvSpPr txBox="1"/>
          <p:nvPr/>
        </p:nvSpPr>
        <p:spPr>
          <a:xfrm>
            <a:off x="2560320" y="3584448"/>
            <a:ext cx="1920240" cy="420624"/>
          </a:xfrm>
          <a:prstGeom prst="rect">
            <a:avLst/>
          </a:prstGeom>
          <a:noFill/>
        </p:spPr>
        <p:txBody>
          <a:bodyPr wrap="none" lIns="73152" rIns="73152" tIns="27432" bIns="27432">
            <a:spAutoFit/>
          </a:bodyPr>
          <a:lstStyle/>
          <a:p>
            <a:r>
              <a:rPr sz="1700" b="0">
                <a:solidFill>
                  <a:srgbClr val="000000"/>
                </a:solidFill>
                <a:latin typeface="Arial"/>
              </a:rPr>
              <a:t>ChemBERTa encoder +
regression head</a:t>
            </a:r>
          </a:p>
        </p:txBody>
      </p:sp>
      <p:sp>
        <p:nvSpPr>
          <p:cNvPr id="43" name="Oval 42"/>
          <p:cNvSpPr/>
          <p:nvPr/>
        </p:nvSpPr>
        <p:spPr>
          <a:xfrm>
            <a:off x="960120" y="4370832"/>
            <a:ext cx="82296" cy="82296"/>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143000" y="4681728"/>
            <a:ext cx="521208" cy="0"/>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43000" y="4270248"/>
            <a:ext cx="0" cy="411480"/>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234440" y="4462272"/>
            <a:ext cx="182880" cy="146304"/>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417320" y="4315968"/>
            <a:ext cx="201168" cy="146304"/>
          </a:xfrm>
          <a:prstGeom prst="line">
            <a:avLst/>
          </a:prstGeom>
          <a:ln w="22860">
            <a:solidFill>
              <a:srgbClr val="00376E"/>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847088" y="4279392"/>
            <a:ext cx="713232" cy="292608"/>
          </a:xfrm>
          <a:prstGeom prst="rect">
            <a:avLst/>
          </a:prstGeom>
          <a:noFill/>
        </p:spPr>
        <p:txBody>
          <a:bodyPr wrap="none" lIns="73152" rIns="73152" tIns="27432" bIns="27432">
            <a:spAutoFit/>
          </a:bodyPr>
          <a:lstStyle/>
          <a:p>
            <a:r>
              <a:rPr sz="1700" b="1">
                <a:solidFill>
                  <a:srgbClr val="00376E"/>
                </a:solidFill>
                <a:latin typeface="Arial"/>
              </a:rPr>
              <a:t>Task type:</a:t>
            </a:r>
          </a:p>
        </p:txBody>
      </p:sp>
      <p:sp>
        <p:nvSpPr>
          <p:cNvPr id="49" name="TextBox 48"/>
          <p:cNvSpPr txBox="1"/>
          <p:nvPr/>
        </p:nvSpPr>
        <p:spPr>
          <a:xfrm>
            <a:off x="2560320" y="4279392"/>
            <a:ext cx="1920240" cy="420624"/>
          </a:xfrm>
          <a:prstGeom prst="rect">
            <a:avLst/>
          </a:prstGeom>
          <a:noFill/>
        </p:spPr>
        <p:txBody>
          <a:bodyPr wrap="none" lIns="73152" rIns="73152" tIns="27432" bIns="27432">
            <a:spAutoFit/>
          </a:bodyPr>
          <a:lstStyle/>
          <a:p>
            <a:r>
              <a:rPr sz="1700" b="0">
                <a:solidFill>
                  <a:srgbClr val="000000"/>
                </a:solidFill>
                <a:latin typeface="Arial"/>
              </a:rPr>
              <a:t>supervised regression</a:t>
            </a:r>
          </a:p>
        </p:txBody>
      </p:sp>
      <p:sp>
        <p:nvSpPr>
          <p:cNvPr id="50" name="Rounded Rectangle 49"/>
          <p:cNvSpPr/>
          <p:nvPr/>
        </p:nvSpPr>
        <p:spPr>
          <a:xfrm>
            <a:off x="5806440" y="1261872"/>
            <a:ext cx="5349240" cy="530352"/>
          </a:xfrm>
          <a:prstGeom prst="roundRect">
            <a:avLst/>
          </a:prstGeom>
          <a:solidFill>
            <a:srgbClr val="EBF6FF"/>
          </a:solidFill>
          <a:ln w="1270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flipH="1">
            <a:off x="6519672" y="1527048"/>
            <a:ext cx="73152" cy="125821"/>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373368" y="1652869"/>
            <a:ext cx="146304" cy="0"/>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6300216" y="1527048"/>
            <a:ext cx="73152" cy="125821"/>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300216" y="1401226"/>
            <a:ext cx="73152" cy="125822"/>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373368" y="1401226"/>
            <a:ext cx="146304" cy="0"/>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519672" y="1401226"/>
            <a:ext cx="73152" cy="125822"/>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6551676" y="1485900"/>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478524" y="1611721"/>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332220" y="1611721"/>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259068" y="1485900"/>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332220" y="1360078"/>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478524" y="1360078"/>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26679" y="1399031"/>
            <a:ext cx="2834640" cy="274320"/>
          </a:xfrm>
          <a:prstGeom prst="rect">
            <a:avLst/>
          </a:prstGeom>
          <a:noFill/>
        </p:spPr>
        <p:txBody>
          <a:bodyPr wrap="none" lIns="73152" rIns="73152" tIns="27432" bIns="27432">
            <a:spAutoFit/>
          </a:bodyPr>
          <a:lstStyle/>
          <a:p>
            <a:pPr algn="ctr"/>
            <a:r>
              <a:rPr sz="1800" b="1">
                <a:solidFill>
                  <a:srgbClr val="000000"/>
                </a:solidFill>
                <a:latin typeface="Arial"/>
              </a:rPr>
              <a:t>SMILES</a:t>
            </a:r>
          </a:p>
        </p:txBody>
      </p:sp>
      <p:cxnSp>
        <p:nvCxnSpPr>
          <p:cNvPr id="64" name="Connector 63"/>
          <p:cNvCxnSpPr/>
          <p:nvPr/>
        </p:nvCxnSpPr>
        <p:spPr>
          <a:xfrm>
            <a:off x="8481059" y="1792224"/>
            <a:ext cx="0" cy="164591"/>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5806440" y="1956815"/>
            <a:ext cx="5349240" cy="530352"/>
          </a:xfrm>
          <a:prstGeom prst="roundRect">
            <a:avLst/>
          </a:prstGeom>
          <a:solidFill>
            <a:srgbClr val="EBF6FF"/>
          </a:solidFill>
          <a:ln w="12700">
            <a:solidFill>
              <a:srgbClr val="289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5971031" y="2130551"/>
            <a:ext cx="219456" cy="219456"/>
          </a:xfrm>
          <a:prstGeom prst="roundRect">
            <a:avLst/>
          </a:prstGeom>
          <a:solidFill>
            <a:srgbClr val="FFFFFF"/>
          </a:solidFill>
          <a:ln w="15240">
            <a:solidFill>
              <a:srgbClr val="238CD7"/>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200" b="1">
                <a:solidFill>
                  <a:srgbClr val="005BAA"/>
                </a:solidFill>
                <a:latin typeface="Arial"/>
              </a:rPr>
              <a:t>C</a:t>
            </a:r>
          </a:p>
        </p:txBody>
      </p:sp>
      <p:sp>
        <p:nvSpPr>
          <p:cNvPr id="67" name="Rounded Rectangle 66"/>
          <p:cNvSpPr/>
          <p:nvPr/>
        </p:nvSpPr>
        <p:spPr>
          <a:xfrm>
            <a:off x="6236207" y="2130551"/>
            <a:ext cx="219456" cy="219456"/>
          </a:xfrm>
          <a:prstGeom prst="roundRect">
            <a:avLst/>
          </a:prstGeom>
          <a:solidFill>
            <a:srgbClr val="FFFFFF"/>
          </a:solidFill>
          <a:ln w="15240">
            <a:solidFill>
              <a:srgbClr val="238CD7"/>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r>
              <a:rPr sz="1200">
                <a:latin typeface="Arial"/>
              </a:rPr>
              <a:t>9</a:t>
            </a:r>
          </a:p>
        </p:txBody>
      </p:sp>
      <p:sp>
        <p:nvSpPr>
          <p:cNvPr id="68" name="Rounded Rectangle 67"/>
          <p:cNvSpPr/>
          <p:nvPr/>
        </p:nvSpPr>
        <p:spPr>
          <a:xfrm>
            <a:off x="6501383" y="2130551"/>
            <a:ext cx="219456" cy="219456"/>
          </a:xfrm>
          <a:prstGeom prst="roundRect">
            <a:avLst/>
          </a:prstGeom>
          <a:solidFill>
            <a:srgbClr val="FFFFFF"/>
          </a:solidFill>
          <a:ln w="15240">
            <a:solidFill>
              <a:srgbClr val="238CD7"/>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200" b="1">
                <a:solidFill>
                  <a:srgbClr val="005BAA"/>
                </a:solidFill>
                <a:latin typeface="Arial"/>
              </a:rPr>
              <a:t>=</a:t>
            </a:r>
          </a:p>
        </p:txBody>
      </p:sp>
      <p:sp>
        <p:nvSpPr>
          <p:cNvPr id="69" name="Rounded Rectangle 68"/>
          <p:cNvSpPr/>
          <p:nvPr/>
        </p:nvSpPr>
        <p:spPr>
          <a:xfrm>
            <a:off x="6766559" y="2130551"/>
            <a:ext cx="219456" cy="219456"/>
          </a:xfrm>
          <a:prstGeom prst="roundRect">
            <a:avLst/>
          </a:prstGeom>
          <a:solidFill>
            <a:srgbClr val="FFFFFF"/>
          </a:solidFill>
          <a:ln w="15240">
            <a:solidFill>
              <a:srgbClr val="238CD7"/>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200" b="1">
                <a:solidFill>
                  <a:srgbClr val="005BAA"/>
                </a:solidFill>
                <a:latin typeface="Arial"/>
              </a:rPr>
              <a:t>C</a:t>
            </a:r>
          </a:p>
        </p:txBody>
      </p:sp>
      <p:sp>
        <p:nvSpPr>
          <p:cNvPr id="70" name="Rounded Rectangle 69"/>
          <p:cNvSpPr/>
          <p:nvPr/>
        </p:nvSpPr>
        <p:spPr>
          <a:xfrm>
            <a:off x="7031736" y="2130551"/>
            <a:ext cx="219456" cy="219456"/>
          </a:xfrm>
          <a:prstGeom prst="roundRect">
            <a:avLst/>
          </a:prstGeom>
          <a:solidFill>
            <a:srgbClr val="FFFFFF"/>
          </a:solidFill>
          <a:ln w="15240">
            <a:solidFill>
              <a:srgbClr val="238CD7"/>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200" b="1">
                <a:solidFill>
                  <a:srgbClr val="005BAA"/>
                </a:solidFill>
                <a:latin typeface="Arial"/>
              </a:rPr>
              <a:t>C</a:t>
            </a:r>
          </a:p>
        </p:txBody>
      </p:sp>
      <p:sp>
        <p:nvSpPr>
          <p:cNvPr id="71" name="Rounded Rectangle 70"/>
          <p:cNvSpPr/>
          <p:nvPr/>
        </p:nvSpPr>
        <p:spPr>
          <a:xfrm>
            <a:off x="7296912" y="2130551"/>
            <a:ext cx="219456" cy="219456"/>
          </a:xfrm>
          <a:prstGeom prst="roundRect">
            <a:avLst/>
          </a:prstGeom>
          <a:solidFill>
            <a:srgbClr val="FFFFFF"/>
          </a:solidFill>
          <a:ln w="15240">
            <a:solidFill>
              <a:srgbClr val="238CD7"/>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200" b="1">
                <a:solidFill>
                  <a:srgbClr val="005BAA"/>
                </a:solidFill>
                <a:latin typeface="Arial"/>
              </a:rPr>
              <a:t>N</a:t>
            </a:r>
          </a:p>
        </p:txBody>
      </p:sp>
      <p:sp>
        <p:nvSpPr>
          <p:cNvPr id="72" name="Rounded Rectangle 71"/>
          <p:cNvSpPr/>
          <p:nvPr/>
        </p:nvSpPr>
        <p:spPr>
          <a:xfrm>
            <a:off x="7562088" y="2130551"/>
            <a:ext cx="219456" cy="219456"/>
          </a:xfrm>
          <a:prstGeom prst="roundRect">
            <a:avLst/>
          </a:prstGeom>
          <a:solidFill>
            <a:srgbClr val="FFFFFF"/>
          </a:solidFill>
          <a:ln w="15240">
            <a:solidFill>
              <a:srgbClr val="238CD7"/>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200" b="1">
                <a:solidFill>
                  <a:srgbClr val="005BAA"/>
                </a:solidFill>
                <a:latin typeface="Arial"/>
              </a:rPr>
              <a:t>...</a:t>
            </a:r>
          </a:p>
        </p:txBody>
      </p:sp>
      <p:sp>
        <p:nvSpPr>
          <p:cNvPr id="73" name="TextBox 72"/>
          <p:cNvSpPr txBox="1"/>
          <p:nvPr/>
        </p:nvSpPr>
        <p:spPr>
          <a:xfrm>
            <a:off x="7726679" y="2093975"/>
            <a:ext cx="2834640" cy="274320"/>
          </a:xfrm>
          <a:prstGeom prst="rect">
            <a:avLst/>
          </a:prstGeom>
          <a:noFill/>
        </p:spPr>
        <p:txBody>
          <a:bodyPr wrap="none" lIns="73152" rIns="73152" tIns="27432" bIns="27432">
            <a:spAutoFit/>
          </a:bodyPr>
          <a:lstStyle/>
          <a:p>
            <a:pPr algn="ctr"/>
            <a:r>
              <a:rPr sz="1800" b="1">
                <a:solidFill>
                  <a:srgbClr val="000000"/>
                </a:solidFill>
                <a:latin typeface="Arial"/>
              </a:rPr>
              <a:t>Tokenizer</a:t>
            </a:r>
          </a:p>
        </p:txBody>
      </p:sp>
      <p:cxnSp>
        <p:nvCxnSpPr>
          <p:cNvPr id="74" name="Connector 73"/>
          <p:cNvCxnSpPr/>
          <p:nvPr/>
        </p:nvCxnSpPr>
        <p:spPr>
          <a:xfrm>
            <a:off x="8481059" y="2487168"/>
            <a:ext cx="0" cy="164591"/>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5806440" y="2651760"/>
            <a:ext cx="5349240" cy="530352"/>
          </a:xfrm>
          <a:prstGeom prst="roundRect">
            <a:avLst/>
          </a:prstGeom>
          <a:solidFill>
            <a:srgbClr val="EEF9F1"/>
          </a:solidFill>
          <a:ln w="12700">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flipH="1">
            <a:off x="6396227" y="2916936"/>
            <a:ext cx="86869" cy="149412"/>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6222492" y="3066348"/>
            <a:ext cx="173735" cy="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6135623" y="2916936"/>
            <a:ext cx="86869" cy="149412"/>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6135623" y="2767523"/>
            <a:ext cx="86869" cy="149413"/>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222492" y="2767523"/>
            <a:ext cx="173735" cy="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396227" y="2767523"/>
            <a:ext cx="86869" cy="149413"/>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sp>
        <p:nvSpPr>
          <p:cNvPr id="82" name="Oval 81"/>
          <p:cNvSpPr/>
          <p:nvPr/>
        </p:nvSpPr>
        <p:spPr>
          <a:xfrm>
            <a:off x="6441948" y="2875788"/>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355079" y="3025200"/>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181344" y="3025200"/>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094475" y="2875788"/>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6181344" y="2726375"/>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6355079" y="2726375"/>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726679" y="2788920"/>
            <a:ext cx="2834640" cy="274320"/>
          </a:xfrm>
          <a:prstGeom prst="rect">
            <a:avLst/>
          </a:prstGeom>
          <a:noFill/>
        </p:spPr>
        <p:txBody>
          <a:bodyPr wrap="none" lIns="73152" rIns="73152" tIns="27432" bIns="27432">
            <a:spAutoFit/>
          </a:bodyPr>
          <a:lstStyle/>
          <a:p>
            <a:pPr algn="ctr"/>
            <a:r>
              <a:rPr sz="1800" b="1">
                <a:solidFill>
                  <a:srgbClr val="000000"/>
                </a:solidFill>
                <a:latin typeface="Arial"/>
              </a:rPr>
              <a:t>ChemBERTa Encoder</a:t>
            </a:r>
          </a:p>
        </p:txBody>
      </p:sp>
      <p:cxnSp>
        <p:nvCxnSpPr>
          <p:cNvPr id="89" name="Connector 88"/>
          <p:cNvCxnSpPr/>
          <p:nvPr/>
        </p:nvCxnSpPr>
        <p:spPr>
          <a:xfrm>
            <a:off x="8481059" y="3182112"/>
            <a:ext cx="0" cy="164592"/>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90" name="Rounded Rectangle 89"/>
          <p:cNvSpPr/>
          <p:nvPr/>
        </p:nvSpPr>
        <p:spPr>
          <a:xfrm>
            <a:off x="5806440" y="3346704"/>
            <a:ext cx="5349240" cy="530352"/>
          </a:xfrm>
          <a:prstGeom prst="roundRect">
            <a:avLst/>
          </a:prstGeom>
          <a:solidFill>
            <a:srgbClr val="F4F2FF"/>
          </a:solidFill>
          <a:ln w="12700">
            <a:solidFill>
              <a:srgbClr val="402B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5989320" y="3511296"/>
            <a:ext cx="658368" cy="256032"/>
          </a:xfrm>
          <a:prstGeom prst="roundRect">
            <a:avLst/>
          </a:prstGeom>
          <a:solidFill>
            <a:srgbClr val="FFFFFF"/>
          </a:solidFill>
          <a:ln w="15240">
            <a:solidFill>
              <a:srgbClr val="402B8C"/>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500" b="1">
                <a:solidFill>
                  <a:srgbClr val="402B8C"/>
                </a:solidFill>
                <a:latin typeface="Arial"/>
              </a:rPr>
              <a:t>[CLS]</a:t>
            </a:r>
          </a:p>
        </p:txBody>
      </p:sp>
      <p:sp>
        <p:nvSpPr>
          <p:cNvPr id="92" name="TextBox 91"/>
          <p:cNvSpPr txBox="1"/>
          <p:nvPr/>
        </p:nvSpPr>
        <p:spPr>
          <a:xfrm>
            <a:off x="7726679" y="3483864"/>
            <a:ext cx="2834640" cy="274320"/>
          </a:xfrm>
          <a:prstGeom prst="rect">
            <a:avLst/>
          </a:prstGeom>
          <a:noFill/>
        </p:spPr>
        <p:txBody>
          <a:bodyPr wrap="none" lIns="73152" rIns="73152" tIns="27432" bIns="27432">
            <a:spAutoFit/>
          </a:bodyPr>
          <a:lstStyle/>
          <a:p>
            <a:pPr algn="ctr"/>
            <a:r>
              <a:rPr sz="1800" b="1">
                <a:solidFill>
                  <a:srgbClr val="000000"/>
                </a:solidFill>
                <a:latin typeface="Arial"/>
              </a:rPr>
              <a:t>[CLS] Molecular Representation</a:t>
            </a:r>
          </a:p>
        </p:txBody>
      </p:sp>
      <p:cxnSp>
        <p:nvCxnSpPr>
          <p:cNvPr id="93" name="Connector 92"/>
          <p:cNvCxnSpPr/>
          <p:nvPr/>
        </p:nvCxnSpPr>
        <p:spPr>
          <a:xfrm>
            <a:off x="8481059" y="3877056"/>
            <a:ext cx="0" cy="164592"/>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Rounded Rectangle 93"/>
          <p:cNvSpPr/>
          <p:nvPr/>
        </p:nvSpPr>
        <p:spPr>
          <a:xfrm>
            <a:off x="5806440" y="4041648"/>
            <a:ext cx="5349240" cy="530352"/>
          </a:xfrm>
          <a:prstGeom prst="roundRect">
            <a:avLst/>
          </a:prstGeom>
          <a:solidFill>
            <a:srgbClr val="FFF8EB"/>
          </a:solidFill>
          <a:ln w="12700">
            <a:solidFill>
              <a:srgbClr val="CE8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080759" y="4279392"/>
            <a:ext cx="73152" cy="146304"/>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199631" y="4169663"/>
            <a:ext cx="73152" cy="256032"/>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318503" y="4041648"/>
            <a:ext cx="73152" cy="384048"/>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8" name="Connector 97"/>
          <p:cNvCxnSpPr/>
          <p:nvPr/>
        </p:nvCxnSpPr>
        <p:spPr>
          <a:xfrm>
            <a:off x="6053327" y="4425696"/>
            <a:ext cx="420624" cy="0"/>
          </a:xfrm>
          <a:prstGeom prst="line">
            <a:avLst/>
          </a:prstGeom>
          <a:ln w="20320">
            <a:solidFill>
              <a:srgbClr val="CE8B0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726679" y="4178808"/>
            <a:ext cx="2834640" cy="274320"/>
          </a:xfrm>
          <a:prstGeom prst="rect">
            <a:avLst/>
          </a:prstGeom>
          <a:noFill/>
        </p:spPr>
        <p:txBody>
          <a:bodyPr wrap="none" lIns="73152" rIns="73152" tIns="27432" bIns="27432">
            <a:spAutoFit/>
          </a:bodyPr>
          <a:lstStyle/>
          <a:p>
            <a:pPr algn="ctr"/>
            <a:r>
              <a:rPr sz="1800" b="1">
                <a:solidFill>
                  <a:srgbClr val="000000"/>
                </a:solidFill>
                <a:latin typeface="Arial"/>
              </a:rPr>
              <a:t>Regression Head</a:t>
            </a:r>
          </a:p>
        </p:txBody>
      </p:sp>
      <p:cxnSp>
        <p:nvCxnSpPr>
          <p:cNvPr id="100" name="Connector 99"/>
          <p:cNvCxnSpPr/>
          <p:nvPr/>
        </p:nvCxnSpPr>
        <p:spPr>
          <a:xfrm>
            <a:off x="8481059" y="4572000"/>
            <a:ext cx="0" cy="164592"/>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5806440" y="4736592"/>
            <a:ext cx="5349240" cy="530352"/>
          </a:xfrm>
          <a:prstGeom prst="roundRect">
            <a:avLst/>
          </a:prstGeom>
          <a:solidFill>
            <a:srgbClr val="FFF0F0"/>
          </a:solidFill>
          <a:ln w="12700">
            <a:solidFill>
              <a:srgbClr val="B3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6080759" y="4809744"/>
            <a:ext cx="402336" cy="402336"/>
          </a:xfrm>
          <a:prstGeom prst="ellipse">
            <a:avLst/>
          </a:prstGeom>
          <a:noFill/>
          <a:ln w="25400">
            <a:solidFill>
              <a:srgbClr val="B3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6157203" y="4886187"/>
            <a:ext cx="249448" cy="249448"/>
          </a:xfrm>
          <a:prstGeom prst="ellipse">
            <a:avLst/>
          </a:prstGeom>
          <a:noFill/>
          <a:ln w="25400">
            <a:solidFill>
              <a:srgbClr val="B3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6225600" y="4954584"/>
            <a:ext cx="112654" cy="112654"/>
          </a:xfrm>
          <a:prstGeom prst="ellipse">
            <a:avLst/>
          </a:prstGeom>
          <a:noFill/>
          <a:ln w="25400">
            <a:solidFill>
              <a:srgbClr val="B3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Connector 104"/>
          <p:cNvCxnSpPr/>
          <p:nvPr/>
        </p:nvCxnSpPr>
        <p:spPr>
          <a:xfrm flipV="1">
            <a:off x="6281927" y="4759451"/>
            <a:ext cx="251461" cy="251461"/>
          </a:xfrm>
          <a:prstGeom prst="line">
            <a:avLst/>
          </a:prstGeom>
          <a:ln w="25400">
            <a:solidFill>
              <a:srgbClr val="B32626"/>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7726679" y="4873752"/>
            <a:ext cx="2834640" cy="274320"/>
          </a:xfrm>
          <a:prstGeom prst="rect">
            <a:avLst/>
          </a:prstGeom>
          <a:noFill/>
        </p:spPr>
        <p:txBody>
          <a:bodyPr wrap="none" lIns="73152" rIns="73152" tIns="27432" bIns="27432">
            <a:spAutoFit/>
          </a:bodyPr>
          <a:lstStyle/>
          <a:p>
            <a:pPr algn="ctr"/>
            <a:r>
              <a:rPr sz="1800" b="1">
                <a:solidFill>
                  <a:srgbClr val="000000"/>
                </a:solidFill>
                <a:latin typeface="Arial"/>
              </a:rPr>
              <a:t>Predicted Binding Energy</a:t>
            </a:r>
          </a:p>
        </p:txBody>
      </p:sp>
      <p:sp>
        <p:nvSpPr>
          <p:cNvPr id="107" name="Rounded Rectangle 106"/>
          <p:cNvSpPr/>
          <p:nvPr/>
        </p:nvSpPr>
        <p:spPr>
          <a:xfrm>
            <a:off x="1481328" y="5650992"/>
            <a:ext cx="9144000" cy="621792"/>
          </a:xfrm>
          <a:prstGeom prst="roundRect">
            <a:avLst/>
          </a:prstGeom>
          <a:solidFill>
            <a:srgbClr val="FFFFFF"/>
          </a:solidFill>
          <a:ln w="1270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801368" y="5760720"/>
            <a:ext cx="411480" cy="41148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1903963" y="5831586"/>
            <a:ext cx="215432" cy="194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0" name="Connector 109"/>
          <p:cNvCxnSpPr/>
          <p:nvPr/>
        </p:nvCxnSpPr>
        <p:spPr>
          <a:xfrm>
            <a:off x="1950872" y="5979261"/>
            <a:ext cx="121615"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968246" y="6010534"/>
            <a:ext cx="86868"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2395728" y="5824728"/>
            <a:ext cx="8001000" cy="292608"/>
          </a:xfrm>
          <a:prstGeom prst="rect">
            <a:avLst/>
          </a:prstGeom>
          <a:noFill/>
        </p:spPr>
        <p:txBody>
          <a:bodyPr wrap="none" lIns="73152" rIns="73152" tIns="27432" bIns="27432">
            <a:spAutoFit/>
          </a:bodyPr>
          <a:lstStyle/>
          <a:p>
            <a:r>
              <a:rPr sz="1900" b="1">
                <a:solidFill>
                  <a:srgbClr val="000000"/>
                </a:solidFill>
                <a:latin typeface="Arial"/>
              </a:rPr>
              <a:t>ChemBERTa provides pretrained molecular SMILES representations.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1695" cy="201168"/>
          </a:xfrm>
          <a:prstGeom prst="rect">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29184"/>
            <a:ext cx="329184" cy="621792"/>
          </a:xfrm>
          <a:prstGeom prst="rect">
            <a:avLst/>
          </a:prstGeom>
          <a:solidFill>
            <a:srgbClr val="F5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38912"/>
            <a:ext cx="8046720" cy="502920"/>
          </a:xfrm>
          <a:prstGeom prst="rect">
            <a:avLst/>
          </a:prstGeom>
          <a:noFill/>
        </p:spPr>
        <p:txBody>
          <a:bodyPr wrap="none" lIns="73152" rIns="73152" tIns="27432" bIns="27432">
            <a:spAutoFit/>
          </a:bodyPr>
          <a:lstStyle/>
          <a:p>
            <a:r>
              <a:rPr sz="3000" b="1">
                <a:solidFill>
                  <a:srgbClr val="000000"/>
                </a:solidFill>
                <a:latin typeface="Arial"/>
              </a:rPr>
              <a:t>SMILES Augmentation: Invariance to String Serialization</a:t>
            </a:r>
          </a:p>
        </p:txBody>
      </p:sp>
      <p:sp>
        <p:nvSpPr>
          <p:cNvPr id="6" name="TextBox 5"/>
          <p:cNvSpPr txBox="1"/>
          <p:nvPr/>
        </p:nvSpPr>
        <p:spPr>
          <a:xfrm>
            <a:off x="9464040" y="347472"/>
            <a:ext cx="2240280" cy="512064"/>
          </a:xfrm>
          <a:prstGeom prst="rect">
            <a:avLst/>
          </a:prstGeom>
          <a:noFill/>
        </p:spPr>
        <p:txBody>
          <a:bodyPr wrap="none" lIns="73152" rIns="73152" tIns="27432" bIns="27432">
            <a:spAutoFit/>
          </a:bodyPr>
          <a:lstStyle/>
          <a:p>
            <a:r>
              <a:rPr sz="1300" b="0">
                <a:solidFill>
                  <a:srgbClr val="00376E"/>
                </a:solidFill>
                <a:latin typeface="Arial"/>
              </a:rPr>
              <a:t>THE HONG KONG
UNIVERSITY OF SCIENCE
AND TECHNOLOGY</a:t>
            </a:r>
          </a:p>
        </p:txBody>
      </p:sp>
      <p:sp>
        <p:nvSpPr>
          <p:cNvPr id="7" name="Oval 6"/>
          <p:cNvSpPr/>
          <p:nvPr/>
        </p:nvSpPr>
        <p:spPr>
          <a:xfrm>
            <a:off x="9189720" y="347472"/>
            <a:ext cx="164592" cy="164592"/>
          </a:xfrm>
          <a:prstGeom prst="ellipse">
            <a:avLst/>
          </a:prstGeom>
          <a:solidFill>
            <a:srgbClr val="F5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77472" y="6537960"/>
            <a:ext cx="256032" cy="164592"/>
          </a:xfrm>
          <a:prstGeom prst="rect">
            <a:avLst/>
          </a:prstGeom>
          <a:noFill/>
        </p:spPr>
        <p:txBody>
          <a:bodyPr wrap="none" lIns="73152" rIns="73152" tIns="27432" bIns="27432">
            <a:spAutoFit/>
          </a:bodyPr>
          <a:lstStyle/>
          <a:p>
            <a:r>
              <a:rPr sz="1200">
                <a:latin typeface="Arial"/>
              </a:rPr>
              <a:t>10</a:t>
            </a:r>
          </a:p>
        </p:txBody>
      </p:sp>
      <p:sp>
        <p:nvSpPr>
          <p:cNvPr id="9" name="Rounded Rectangle 8"/>
          <p:cNvSpPr/>
          <p:nvPr/>
        </p:nvSpPr>
        <p:spPr>
          <a:xfrm>
            <a:off x="329184" y="1335024"/>
            <a:ext cx="3803904" cy="3749039"/>
          </a:xfrm>
          <a:prstGeom prst="roundRect">
            <a:avLst/>
          </a:prstGeom>
          <a:solidFill>
            <a:srgbClr val="FFFFFF"/>
          </a:solidFill>
          <a:ln w="1524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527048"/>
            <a:ext cx="1828800" cy="310896"/>
          </a:xfrm>
          <a:prstGeom prst="rect">
            <a:avLst/>
          </a:prstGeom>
          <a:noFill/>
        </p:spPr>
        <p:txBody>
          <a:bodyPr wrap="none" lIns="73152" rIns="73152" tIns="27432" bIns="27432">
            <a:spAutoFit/>
          </a:bodyPr>
          <a:lstStyle/>
          <a:p>
            <a:r>
              <a:rPr sz="2200" b="1">
                <a:solidFill>
                  <a:srgbClr val="00376E"/>
                </a:solidFill>
                <a:latin typeface="Arial"/>
              </a:rPr>
              <a:t>Key Points</a:t>
            </a:r>
          </a:p>
        </p:txBody>
      </p:sp>
      <p:cxnSp>
        <p:nvCxnSpPr>
          <p:cNvPr id="11" name="Connector 10"/>
          <p:cNvCxnSpPr/>
          <p:nvPr/>
        </p:nvCxnSpPr>
        <p:spPr>
          <a:xfrm>
            <a:off x="475488" y="1901952"/>
            <a:ext cx="3529584" cy="0"/>
          </a:xfrm>
          <a:prstGeom prst="line">
            <a:avLst/>
          </a:prstGeom>
          <a:ln w="1524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71500" y="2368296"/>
            <a:ext cx="251460" cy="181051"/>
          </a:xfrm>
          <a:prstGeom prst="line">
            <a:avLst/>
          </a:prstGeom>
          <a:ln w="1905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960" y="2368296"/>
            <a:ext cx="261518" cy="201168"/>
          </a:xfrm>
          <a:prstGeom prst="line">
            <a:avLst/>
          </a:prstGeom>
          <a:ln w="1905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22960" y="2086660"/>
            <a:ext cx="70408" cy="281636"/>
          </a:xfrm>
          <a:prstGeom prst="line">
            <a:avLst/>
          </a:prstGeom>
          <a:ln w="19050">
            <a:solidFill>
              <a:srgbClr val="00376E"/>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67638" y="2312974"/>
            <a:ext cx="110642" cy="110642"/>
          </a:xfrm>
          <a:prstGeom prst="ellipse">
            <a:avLst/>
          </a:prstGeom>
          <a:solidFill>
            <a:srgbClr val="FFFFFF"/>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16178" y="2494026"/>
            <a:ext cx="110642" cy="110642"/>
          </a:xfrm>
          <a:prstGeom prst="ellipse">
            <a:avLst/>
          </a:prstGeom>
          <a:solidFill>
            <a:srgbClr val="4091DC"/>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9157" y="2514142"/>
            <a:ext cx="110642" cy="110642"/>
          </a:xfrm>
          <a:prstGeom prst="ellipse">
            <a:avLst/>
          </a:prstGeom>
          <a:solidFill>
            <a:srgbClr val="4091DC"/>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8047" y="2031339"/>
            <a:ext cx="110642" cy="110642"/>
          </a:xfrm>
          <a:prstGeom prst="ellipse">
            <a:avLst/>
          </a:prstGeom>
          <a:solidFill>
            <a:srgbClr val="4091DC"/>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61872" y="2185416"/>
            <a:ext cx="2606040" cy="411480"/>
          </a:xfrm>
          <a:prstGeom prst="rect">
            <a:avLst/>
          </a:prstGeom>
          <a:noFill/>
        </p:spPr>
        <p:txBody>
          <a:bodyPr wrap="none" lIns="73152" rIns="73152" tIns="27432" bIns="27432">
            <a:spAutoFit/>
          </a:bodyPr>
          <a:lstStyle/>
          <a:p>
            <a:r>
              <a:rPr sz="1550" b="0">
                <a:solidFill>
                  <a:srgbClr val="000000"/>
                </a:solidFill>
                <a:latin typeface="Arial"/>
              </a:rPr>
              <a:t>One molecule can have multiple
valid SMILES strings.</a:t>
            </a:r>
          </a:p>
        </p:txBody>
      </p:sp>
      <p:cxnSp>
        <p:nvCxnSpPr>
          <p:cNvPr id="20" name="Connector 19"/>
          <p:cNvCxnSpPr/>
          <p:nvPr/>
        </p:nvCxnSpPr>
        <p:spPr>
          <a:xfrm>
            <a:off x="566928" y="3136392"/>
            <a:ext cx="393192" cy="0"/>
          </a:xfrm>
          <a:prstGeom prst="line">
            <a:avLst/>
          </a:prstGeom>
          <a:ln w="2540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66928" y="3246120"/>
            <a:ext cx="393192" cy="0"/>
          </a:xfrm>
          <a:prstGeom prst="line">
            <a:avLst/>
          </a:prstGeom>
          <a:ln w="25400">
            <a:solidFill>
              <a:srgbClr val="00376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261872" y="2935224"/>
            <a:ext cx="2606040" cy="411480"/>
          </a:xfrm>
          <a:prstGeom prst="rect">
            <a:avLst/>
          </a:prstGeom>
          <a:noFill/>
        </p:spPr>
        <p:txBody>
          <a:bodyPr wrap="none" lIns="73152" rIns="73152" tIns="27432" bIns="27432">
            <a:spAutoFit/>
          </a:bodyPr>
          <a:lstStyle/>
          <a:p>
            <a:r>
              <a:rPr sz="1550" b="0">
                <a:solidFill>
                  <a:srgbClr val="000000"/>
                </a:solidFill>
                <a:latin typeface="Arial"/>
              </a:rPr>
              <a:t>During training: canonical SMILES -&gt;
randomized equivalent SMILES</a:t>
            </a:r>
          </a:p>
        </p:txBody>
      </p:sp>
      <p:sp>
        <p:nvSpPr>
          <p:cNvPr id="23" name="Pentagon 22"/>
          <p:cNvSpPr/>
          <p:nvPr/>
        </p:nvSpPr>
        <p:spPr>
          <a:xfrm>
            <a:off x="566928" y="3739896"/>
            <a:ext cx="411480" cy="320040"/>
          </a:xfrm>
          <a:prstGeom prst="homePlat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61872" y="3685032"/>
            <a:ext cx="2606040" cy="411480"/>
          </a:xfrm>
          <a:prstGeom prst="rect">
            <a:avLst/>
          </a:prstGeom>
          <a:noFill/>
        </p:spPr>
        <p:txBody>
          <a:bodyPr wrap="none" lIns="73152" rIns="73152" tIns="27432" bIns="27432">
            <a:spAutoFit/>
          </a:bodyPr>
          <a:lstStyle/>
          <a:p>
            <a:r>
              <a:rPr sz="1550" b="0">
                <a:solidFill>
                  <a:srgbClr val="000000"/>
                </a:solidFill>
                <a:latin typeface="Arial"/>
              </a:rPr>
              <a:t>The binding-energy label
stays unchanged.</a:t>
            </a:r>
          </a:p>
        </p:txBody>
      </p:sp>
      <p:sp>
        <p:nvSpPr>
          <p:cNvPr id="25" name="Oval 24"/>
          <p:cNvSpPr/>
          <p:nvPr/>
        </p:nvSpPr>
        <p:spPr>
          <a:xfrm>
            <a:off x="585216" y="4434840"/>
            <a:ext cx="402336" cy="402336"/>
          </a:xfrm>
          <a:prstGeom prst="ellipse">
            <a:avLst/>
          </a:prstGeom>
          <a:noFill/>
          <a:ln w="2540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1659" y="4511283"/>
            <a:ext cx="249448" cy="249448"/>
          </a:xfrm>
          <a:prstGeom prst="ellipse">
            <a:avLst/>
          </a:prstGeom>
          <a:noFill/>
          <a:ln w="2540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30056" y="4579680"/>
            <a:ext cx="112654" cy="112654"/>
          </a:xfrm>
          <a:prstGeom prst="ellipse">
            <a:avLst/>
          </a:prstGeom>
          <a:noFill/>
          <a:ln w="2540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V="1">
            <a:off x="786384" y="4384548"/>
            <a:ext cx="251460" cy="251460"/>
          </a:xfrm>
          <a:prstGeom prst="line">
            <a:avLst/>
          </a:prstGeom>
          <a:ln w="25400">
            <a:solidFill>
              <a:srgbClr val="00376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61872" y="4434840"/>
            <a:ext cx="2606040" cy="411480"/>
          </a:xfrm>
          <a:prstGeom prst="rect">
            <a:avLst/>
          </a:prstGeom>
          <a:noFill/>
        </p:spPr>
        <p:txBody>
          <a:bodyPr wrap="none" lIns="73152" rIns="73152" tIns="27432" bIns="27432">
            <a:spAutoFit/>
          </a:bodyPr>
          <a:lstStyle/>
          <a:p>
            <a:r>
              <a:rPr sz="1550" b="0">
                <a:solidFill>
                  <a:srgbClr val="000000"/>
                </a:solidFill>
                <a:latin typeface="Arial"/>
              </a:rPr>
              <a:t>Goal: reduce sensitivity to
arbitrary SMILES ordering</a:t>
            </a:r>
          </a:p>
        </p:txBody>
      </p:sp>
      <p:sp>
        <p:nvSpPr>
          <p:cNvPr id="30" name="Rounded Rectangle 29"/>
          <p:cNvSpPr/>
          <p:nvPr/>
        </p:nvSpPr>
        <p:spPr>
          <a:xfrm>
            <a:off x="4526280" y="1417320"/>
            <a:ext cx="2971800" cy="932688"/>
          </a:xfrm>
          <a:prstGeom prst="roundRect">
            <a:avLst/>
          </a:prstGeom>
          <a:solidFill>
            <a:srgbClr val="EBF6FF"/>
          </a:solidFill>
          <a:ln w="1524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36592" y="1581912"/>
            <a:ext cx="1645920" cy="219456"/>
          </a:xfrm>
          <a:prstGeom prst="rect">
            <a:avLst/>
          </a:prstGeom>
          <a:noFill/>
        </p:spPr>
        <p:txBody>
          <a:bodyPr wrap="none" lIns="73152" rIns="73152" tIns="27432" bIns="27432">
            <a:spAutoFit/>
          </a:bodyPr>
          <a:lstStyle/>
          <a:p>
            <a:r>
              <a:rPr sz="1600" b="1">
                <a:solidFill>
                  <a:srgbClr val="005BAA"/>
                </a:solidFill>
                <a:latin typeface="Arial"/>
              </a:rPr>
              <a:t>SMILES variant 1</a:t>
            </a:r>
          </a:p>
        </p:txBody>
      </p:sp>
      <p:sp>
        <p:nvSpPr>
          <p:cNvPr id="32" name="TextBox 31"/>
          <p:cNvSpPr txBox="1"/>
          <p:nvPr/>
        </p:nvSpPr>
        <p:spPr>
          <a:xfrm>
            <a:off x="4736592" y="1920240"/>
            <a:ext cx="1691640" cy="256032"/>
          </a:xfrm>
          <a:prstGeom prst="rect">
            <a:avLst/>
          </a:prstGeom>
          <a:noFill/>
        </p:spPr>
        <p:txBody>
          <a:bodyPr wrap="none" lIns="73152" rIns="73152" tIns="27432" bIns="27432">
            <a:spAutoFit/>
          </a:bodyPr>
          <a:lstStyle/>
          <a:p>
            <a:r>
              <a:rPr sz="1700" b="0">
                <a:solidFill>
                  <a:srgbClr val="000000"/>
                </a:solidFill>
                <a:latin typeface="Arial"/>
              </a:rPr>
              <a:t>C1=CC=CC=N1</a:t>
            </a:r>
          </a:p>
        </p:txBody>
      </p:sp>
      <p:cxnSp>
        <p:nvCxnSpPr>
          <p:cNvPr id="33" name="Connector 32"/>
          <p:cNvCxnSpPr/>
          <p:nvPr/>
        </p:nvCxnSpPr>
        <p:spPr>
          <a:xfrm flipH="1">
            <a:off x="7072884" y="1892808"/>
            <a:ext cx="141732" cy="243779"/>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789420" y="2136587"/>
            <a:ext cx="283464" cy="0"/>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6647688" y="1892808"/>
            <a:ext cx="141732" cy="243779"/>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647688" y="1649028"/>
            <a:ext cx="141732" cy="243780"/>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789420" y="1649028"/>
            <a:ext cx="283464" cy="0"/>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072884" y="1649028"/>
            <a:ext cx="141732" cy="243780"/>
          </a:xfrm>
          <a:prstGeom prst="line">
            <a:avLst/>
          </a:prstGeom>
          <a:ln w="22860">
            <a:solidFill>
              <a:srgbClr val="005BAA"/>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173468" y="1851660"/>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031736" y="2095439"/>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748272" y="2095439"/>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606540" y="1851660"/>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748272" y="1607880"/>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031736" y="1607880"/>
            <a:ext cx="82296" cy="82296"/>
          </a:xfrm>
          <a:prstGeom prst="ellipse">
            <a:avLst/>
          </a:prstGeom>
          <a:solidFill>
            <a:srgbClr val="EEF9F1"/>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7498079" y="1883664"/>
            <a:ext cx="960121" cy="1197864"/>
          </a:xfrm>
          <a:prstGeom prst="line">
            <a:avLst/>
          </a:prstGeom>
          <a:ln w="27940">
            <a:solidFill>
              <a:srgbClr val="243046"/>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4526280" y="2633472"/>
            <a:ext cx="2971800" cy="932688"/>
          </a:xfrm>
          <a:prstGeom prst="roundRect">
            <a:avLst/>
          </a:prstGeom>
          <a:solidFill>
            <a:srgbClr val="EEF9F1"/>
          </a:solidFill>
          <a:ln w="15240">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36592" y="2798064"/>
            <a:ext cx="1645920" cy="219456"/>
          </a:xfrm>
          <a:prstGeom prst="rect">
            <a:avLst/>
          </a:prstGeom>
          <a:noFill/>
        </p:spPr>
        <p:txBody>
          <a:bodyPr wrap="none" lIns="73152" rIns="73152" tIns="27432" bIns="27432">
            <a:spAutoFit/>
          </a:bodyPr>
          <a:lstStyle/>
          <a:p>
            <a:r>
              <a:rPr sz="1600" b="1">
                <a:solidFill>
                  <a:srgbClr val="1C7041"/>
                </a:solidFill>
                <a:latin typeface="Arial"/>
              </a:rPr>
              <a:t>SMILES variant 2</a:t>
            </a:r>
          </a:p>
        </p:txBody>
      </p:sp>
      <p:sp>
        <p:nvSpPr>
          <p:cNvPr id="48" name="TextBox 47"/>
          <p:cNvSpPr txBox="1"/>
          <p:nvPr/>
        </p:nvSpPr>
        <p:spPr>
          <a:xfrm>
            <a:off x="4736592" y="3136391"/>
            <a:ext cx="1691640" cy="256032"/>
          </a:xfrm>
          <a:prstGeom prst="rect">
            <a:avLst/>
          </a:prstGeom>
          <a:noFill/>
        </p:spPr>
        <p:txBody>
          <a:bodyPr wrap="none" lIns="73152" rIns="73152" tIns="27432" bIns="27432">
            <a:spAutoFit/>
          </a:bodyPr>
          <a:lstStyle/>
          <a:p>
            <a:r>
              <a:rPr sz="1700" b="0">
                <a:solidFill>
                  <a:srgbClr val="000000"/>
                </a:solidFill>
                <a:latin typeface="Arial"/>
              </a:rPr>
              <a:t>N1=CC=CC=C1</a:t>
            </a:r>
          </a:p>
        </p:txBody>
      </p:sp>
      <p:cxnSp>
        <p:nvCxnSpPr>
          <p:cNvPr id="49" name="Connector 48"/>
          <p:cNvCxnSpPr/>
          <p:nvPr/>
        </p:nvCxnSpPr>
        <p:spPr>
          <a:xfrm flipH="1">
            <a:off x="7072884" y="3108960"/>
            <a:ext cx="141732" cy="243779"/>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789420" y="3352739"/>
            <a:ext cx="283464" cy="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6647688" y="3108960"/>
            <a:ext cx="141732" cy="243779"/>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647688" y="2865180"/>
            <a:ext cx="141732" cy="24378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789420" y="2865180"/>
            <a:ext cx="283464" cy="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072884" y="2865180"/>
            <a:ext cx="141732" cy="24378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7173468" y="3067812"/>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031736" y="3311591"/>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748272" y="3311591"/>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606540" y="3067812"/>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748272" y="2824032"/>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031736" y="2824032"/>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flipV="1">
            <a:off x="7498079" y="3081528"/>
            <a:ext cx="960121" cy="18287"/>
          </a:xfrm>
          <a:prstGeom prst="line">
            <a:avLst/>
          </a:prstGeom>
          <a:ln w="27940">
            <a:solidFill>
              <a:srgbClr val="243046"/>
            </a:solidFill>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4526280" y="3849624"/>
            <a:ext cx="2971800" cy="932688"/>
          </a:xfrm>
          <a:prstGeom prst="roundRect">
            <a:avLst/>
          </a:prstGeom>
          <a:solidFill>
            <a:srgbClr val="F4F2FF"/>
          </a:solidFill>
          <a:ln w="15240">
            <a:solidFill>
              <a:srgbClr val="402B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736592" y="4014215"/>
            <a:ext cx="1645920" cy="219456"/>
          </a:xfrm>
          <a:prstGeom prst="rect">
            <a:avLst/>
          </a:prstGeom>
          <a:noFill/>
        </p:spPr>
        <p:txBody>
          <a:bodyPr wrap="none" lIns="73152" rIns="73152" tIns="27432" bIns="27432">
            <a:spAutoFit/>
          </a:bodyPr>
          <a:lstStyle/>
          <a:p>
            <a:r>
              <a:rPr sz="1600" b="1">
                <a:solidFill>
                  <a:srgbClr val="402B8C"/>
                </a:solidFill>
                <a:latin typeface="Arial"/>
              </a:rPr>
              <a:t>SMILES variant 3</a:t>
            </a:r>
          </a:p>
        </p:txBody>
      </p:sp>
      <p:sp>
        <p:nvSpPr>
          <p:cNvPr id="64" name="TextBox 63"/>
          <p:cNvSpPr txBox="1"/>
          <p:nvPr/>
        </p:nvSpPr>
        <p:spPr>
          <a:xfrm>
            <a:off x="4736592" y="4352544"/>
            <a:ext cx="1691640" cy="256032"/>
          </a:xfrm>
          <a:prstGeom prst="rect">
            <a:avLst/>
          </a:prstGeom>
          <a:noFill/>
        </p:spPr>
        <p:txBody>
          <a:bodyPr wrap="none" lIns="73152" rIns="73152" tIns="27432" bIns="27432">
            <a:spAutoFit/>
          </a:bodyPr>
          <a:lstStyle/>
          <a:p>
            <a:r>
              <a:rPr sz="1700" b="0">
                <a:solidFill>
                  <a:srgbClr val="000000"/>
                </a:solidFill>
                <a:latin typeface="Arial"/>
              </a:rPr>
              <a:t>C=1C=NC=CC=1</a:t>
            </a:r>
          </a:p>
        </p:txBody>
      </p:sp>
      <p:cxnSp>
        <p:nvCxnSpPr>
          <p:cNvPr id="65" name="Connector 64"/>
          <p:cNvCxnSpPr/>
          <p:nvPr/>
        </p:nvCxnSpPr>
        <p:spPr>
          <a:xfrm flipH="1">
            <a:off x="7072884" y="4325112"/>
            <a:ext cx="141732" cy="243779"/>
          </a:xfrm>
          <a:prstGeom prst="line">
            <a:avLst/>
          </a:prstGeom>
          <a:ln w="22860">
            <a:solidFill>
              <a:srgbClr val="402B8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6789420" y="4568891"/>
            <a:ext cx="283464" cy="0"/>
          </a:xfrm>
          <a:prstGeom prst="line">
            <a:avLst/>
          </a:prstGeom>
          <a:ln w="22860">
            <a:solidFill>
              <a:srgbClr val="402B8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6647688" y="4325112"/>
            <a:ext cx="141732" cy="243779"/>
          </a:xfrm>
          <a:prstGeom prst="line">
            <a:avLst/>
          </a:prstGeom>
          <a:ln w="22860">
            <a:solidFill>
              <a:srgbClr val="402B8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6647688" y="4081332"/>
            <a:ext cx="141732" cy="243780"/>
          </a:xfrm>
          <a:prstGeom prst="line">
            <a:avLst/>
          </a:prstGeom>
          <a:ln w="22860">
            <a:solidFill>
              <a:srgbClr val="402B8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789420" y="4081332"/>
            <a:ext cx="283464" cy="0"/>
          </a:xfrm>
          <a:prstGeom prst="line">
            <a:avLst/>
          </a:prstGeom>
          <a:ln w="22860">
            <a:solidFill>
              <a:srgbClr val="402B8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072884" y="4081332"/>
            <a:ext cx="141732" cy="243780"/>
          </a:xfrm>
          <a:prstGeom prst="line">
            <a:avLst/>
          </a:prstGeom>
          <a:ln w="22860">
            <a:solidFill>
              <a:srgbClr val="402B8C"/>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7173468" y="4283964"/>
            <a:ext cx="82296" cy="82296"/>
          </a:xfrm>
          <a:prstGeom prst="ellipse">
            <a:avLst/>
          </a:prstGeom>
          <a:solidFill>
            <a:srgbClr val="EEF9F1"/>
          </a:solidFill>
          <a:ln>
            <a:solidFill>
              <a:srgbClr val="402B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031736" y="4527743"/>
            <a:ext cx="82296" cy="82296"/>
          </a:xfrm>
          <a:prstGeom prst="ellipse">
            <a:avLst/>
          </a:prstGeom>
          <a:solidFill>
            <a:srgbClr val="EEF9F1"/>
          </a:solidFill>
          <a:ln>
            <a:solidFill>
              <a:srgbClr val="402B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748272" y="4527743"/>
            <a:ext cx="82296" cy="82296"/>
          </a:xfrm>
          <a:prstGeom prst="ellipse">
            <a:avLst/>
          </a:prstGeom>
          <a:solidFill>
            <a:srgbClr val="EEF9F1"/>
          </a:solidFill>
          <a:ln>
            <a:solidFill>
              <a:srgbClr val="402B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606540" y="4283964"/>
            <a:ext cx="82296" cy="82296"/>
          </a:xfrm>
          <a:prstGeom prst="ellipse">
            <a:avLst/>
          </a:prstGeom>
          <a:solidFill>
            <a:srgbClr val="EEF9F1"/>
          </a:solidFill>
          <a:ln>
            <a:solidFill>
              <a:srgbClr val="402B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748272" y="4040184"/>
            <a:ext cx="82296" cy="82296"/>
          </a:xfrm>
          <a:prstGeom prst="ellipse">
            <a:avLst/>
          </a:prstGeom>
          <a:solidFill>
            <a:srgbClr val="EEF9F1"/>
          </a:solidFill>
          <a:ln>
            <a:solidFill>
              <a:srgbClr val="402B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031736" y="4040184"/>
            <a:ext cx="82296" cy="82296"/>
          </a:xfrm>
          <a:prstGeom prst="ellipse">
            <a:avLst/>
          </a:prstGeom>
          <a:solidFill>
            <a:srgbClr val="EEF9F1"/>
          </a:solidFill>
          <a:ln>
            <a:solidFill>
              <a:srgbClr val="402B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flipV="1">
            <a:off x="7498079" y="3081528"/>
            <a:ext cx="960121" cy="1234440"/>
          </a:xfrm>
          <a:prstGeom prst="line">
            <a:avLst/>
          </a:prstGeom>
          <a:ln w="27940">
            <a:solidFill>
              <a:srgbClr val="243046"/>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8302752" y="2359152"/>
            <a:ext cx="1389888" cy="1389888"/>
          </a:xfrm>
          <a:prstGeom prst="ellipse">
            <a:avLst/>
          </a:prstGeom>
          <a:solidFill>
            <a:srgbClr val="F2F7FF"/>
          </a:solidFill>
          <a:ln>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flipH="1">
            <a:off x="8769096" y="2788920"/>
            <a:ext cx="228600" cy="164592"/>
          </a:xfrm>
          <a:prstGeom prst="line">
            <a:avLst/>
          </a:prstGeom>
          <a:ln w="1905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997696" y="2788920"/>
            <a:ext cx="237744" cy="182880"/>
          </a:xfrm>
          <a:prstGeom prst="line">
            <a:avLst/>
          </a:prstGeom>
          <a:ln w="19050">
            <a:solidFill>
              <a:srgbClr val="005BA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8997696" y="2532887"/>
            <a:ext cx="64008" cy="256033"/>
          </a:xfrm>
          <a:prstGeom prst="line">
            <a:avLst/>
          </a:prstGeom>
          <a:ln w="19050">
            <a:solidFill>
              <a:srgbClr val="005BAA"/>
            </a:solidFill>
          </a:ln>
        </p:spPr>
        <p:style>
          <a:lnRef idx="2">
            <a:schemeClr val="accent1"/>
          </a:lnRef>
          <a:fillRef idx="0">
            <a:schemeClr val="accent1"/>
          </a:fillRef>
          <a:effectRef idx="1">
            <a:schemeClr val="accent1"/>
          </a:effectRef>
          <a:fontRef idx="minor">
            <a:schemeClr val="tx1"/>
          </a:fontRef>
        </p:style>
      </p:cxnSp>
      <p:sp>
        <p:nvSpPr>
          <p:cNvPr id="82" name="Oval 81"/>
          <p:cNvSpPr/>
          <p:nvPr/>
        </p:nvSpPr>
        <p:spPr>
          <a:xfrm>
            <a:off x="8947404" y="2738627"/>
            <a:ext cx="100584" cy="100584"/>
          </a:xfrm>
          <a:prstGeom prst="ellipse">
            <a:avLst/>
          </a:prstGeom>
          <a:solidFill>
            <a:srgbClr val="FFFFFF"/>
          </a:solidFill>
          <a:ln w="1524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718804" y="2903220"/>
            <a:ext cx="100584" cy="100584"/>
          </a:xfrm>
          <a:prstGeom prst="ellipse">
            <a:avLst/>
          </a:prstGeom>
          <a:solidFill>
            <a:srgbClr val="4091DC"/>
          </a:solidFill>
          <a:ln w="1524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9185148" y="2921508"/>
            <a:ext cx="100584" cy="100584"/>
          </a:xfrm>
          <a:prstGeom prst="ellipse">
            <a:avLst/>
          </a:prstGeom>
          <a:solidFill>
            <a:srgbClr val="4091DC"/>
          </a:solidFill>
          <a:ln w="1524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011412" y="2482595"/>
            <a:ext cx="100584" cy="100584"/>
          </a:xfrm>
          <a:prstGeom prst="ellipse">
            <a:avLst/>
          </a:prstGeom>
          <a:solidFill>
            <a:srgbClr val="4091DC"/>
          </a:solidFill>
          <a:ln w="1524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705088" y="3182112"/>
            <a:ext cx="566928" cy="365760"/>
          </a:xfrm>
          <a:prstGeom prst="rect">
            <a:avLst/>
          </a:prstGeom>
          <a:noFill/>
        </p:spPr>
        <p:txBody>
          <a:bodyPr wrap="none" lIns="73152" rIns="73152" tIns="27432" bIns="27432">
            <a:spAutoFit/>
          </a:bodyPr>
          <a:lstStyle/>
          <a:p>
            <a:pPr algn="ctr"/>
            <a:r>
              <a:rPr sz="1300" b="1">
                <a:solidFill>
                  <a:srgbClr val="000000"/>
                </a:solidFill>
                <a:latin typeface="Arial"/>
              </a:rPr>
              <a:t>same
molecule</a:t>
            </a:r>
          </a:p>
        </p:txBody>
      </p:sp>
      <p:cxnSp>
        <p:nvCxnSpPr>
          <p:cNvPr id="87" name="Connector 86"/>
          <p:cNvCxnSpPr/>
          <p:nvPr/>
        </p:nvCxnSpPr>
        <p:spPr>
          <a:xfrm>
            <a:off x="9692640" y="3054096"/>
            <a:ext cx="640080" cy="0"/>
          </a:xfrm>
          <a:prstGeom prst="line">
            <a:avLst/>
          </a:prstGeom>
          <a:ln w="27940">
            <a:solidFill>
              <a:srgbClr val="243046"/>
            </a:solidFill>
          </a:ln>
        </p:spPr>
        <p:style>
          <a:lnRef idx="2">
            <a:schemeClr val="accent1"/>
          </a:lnRef>
          <a:fillRef idx="0">
            <a:schemeClr val="accent1"/>
          </a:fillRef>
          <a:effectRef idx="1">
            <a:schemeClr val="accent1"/>
          </a:effectRef>
          <a:fontRef idx="minor">
            <a:schemeClr val="tx1"/>
          </a:fontRef>
        </p:style>
      </p:cxnSp>
      <p:sp>
        <p:nvSpPr>
          <p:cNvPr id="88" name="Rounded Rectangle 87"/>
          <p:cNvSpPr/>
          <p:nvPr/>
        </p:nvSpPr>
        <p:spPr>
          <a:xfrm>
            <a:off x="10405872" y="2468880"/>
            <a:ext cx="1417320" cy="1143000"/>
          </a:xfrm>
          <a:prstGeom prst="roundRect">
            <a:avLst/>
          </a:prstGeom>
          <a:solidFill>
            <a:srgbClr val="FFF8EB"/>
          </a:solidFill>
          <a:ln w="15240">
            <a:solidFill>
              <a:srgbClr val="CE8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936224" y="2743200"/>
            <a:ext cx="73152" cy="146304"/>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1055096" y="2633472"/>
            <a:ext cx="73152" cy="256032"/>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1173968" y="2505456"/>
            <a:ext cx="73152" cy="384048"/>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a:off x="10908792" y="2889504"/>
            <a:ext cx="420624" cy="0"/>
          </a:xfrm>
          <a:prstGeom prst="line">
            <a:avLst/>
          </a:prstGeom>
          <a:ln w="20320">
            <a:solidFill>
              <a:srgbClr val="CE8B00"/>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10561320" y="3182112"/>
            <a:ext cx="1078992" cy="347472"/>
          </a:xfrm>
          <a:prstGeom prst="rect">
            <a:avLst/>
          </a:prstGeom>
          <a:noFill/>
        </p:spPr>
        <p:txBody>
          <a:bodyPr wrap="none" lIns="73152" rIns="73152" tIns="27432" bIns="27432">
            <a:spAutoFit/>
          </a:bodyPr>
          <a:lstStyle/>
          <a:p>
            <a:pPr algn="ctr"/>
            <a:r>
              <a:rPr sz="1300" b="1">
                <a:solidFill>
                  <a:srgbClr val="000000"/>
                </a:solidFill>
                <a:latin typeface="Arial"/>
              </a:rPr>
              <a:t>same
Energy_min label</a:t>
            </a:r>
          </a:p>
        </p:txBody>
      </p:sp>
      <p:sp>
        <p:nvSpPr>
          <p:cNvPr id="94" name="Rounded Rectangle 93"/>
          <p:cNvSpPr/>
          <p:nvPr/>
        </p:nvSpPr>
        <p:spPr>
          <a:xfrm>
            <a:off x="1389888" y="5413248"/>
            <a:ext cx="9098280" cy="621792"/>
          </a:xfrm>
          <a:prstGeom prst="roundRect">
            <a:avLst/>
          </a:prstGeom>
          <a:solidFill>
            <a:srgbClr val="FFFFFF"/>
          </a:solidFill>
          <a:ln w="1270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709928" y="5522976"/>
            <a:ext cx="411480" cy="41148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812523" y="5593842"/>
            <a:ext cx="215432" cy="194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859432" y="5741517"/>
            <a:ext cx="121615"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876806" y="5772790"/>
            <a:ext cx="86868"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2304288" y="5586984"/>
            <a:ext cx="7955279" cy="292608"/>
          </a:xfrm>
          <a:prstGeom prst="rect">
            <a:avLst/>
          </a:prstGeom>
          <a:noFill/>
        </p:spPr>
        <p:txBody>
          <a:bodyPr wrap="none" lIns="73152" rIns="73152" tIns="27432" bIns="27432">
            <a:spAutoFit/>
          </a:bodyPr>
          <a:lstStyle/>
          <a:p>
            <a:r>
              <a:rPr sz="1900" b="1">
                <a:solidFill>
                  <a:srgbClr val="000000"/>
                </a:solidFill>
                <a:latin typeface="Arial"/>
              </a:rPr>
              <a:t>Augmentation changes the input view, not the supervised target.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1695" cy="201168"/>
          </a:xfrm>
          <a:prstGeom prst="rect">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29184"/>
            <a:ext cx="329184" cy="621792"/>
          </a:xfrm>
          <a:prstGeom prst="rect">
            <a:avLst/>
          </a:prstGeom>
          <a:solidFill>
            <a:srgbClr val="F5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38912"/>
            <a:ext cx="8046720" cy="502920"/>
          </a:xfrm>
          <a:prstGeom prst="rect">
            <a:avLst/>
          </a:prstGeom>
          <a:noFill/>
        </p:spPr>
        <p:txBody>
          <a:bodyPr wrap="none" lIns="73152" rIns="73152" tIns="27432" bIns="27432">
            <a:spAutoFit/>
          </a:bodyPr>
          <a:lstStyle/>
          <a:p>
            <a:r>
              <a:rPr sz="3000" b="1">
                <a:solidFill>
                  <a:srgbClr val="000000"/>
                </a:solidFill>
                <a:latin typeface="Arial"/>
              </a:rPr>
              <a:t>Two-Stage Supervised Fine-Tuning</a:t>
            </a:r>
          </a:p>
        </p:txBody>
      </p:sp>
      <p:sp>
        <p:nvSpPr>
          <p:cNvPr id="6" name="TextBox 5"/>
          <p:cNvSpPr txBox="1"/>
          <p:nvPr/>
        </p:nvSpPr>
        <p:spPr>
          <a:xfrm>
            <a:off x="9464040" y="347472"/>
            <a:ext cx="2240280" cy="512064"/>
          </a:xfrm>
          <a:prstGeom prst="rect">
            <a:avLst/>
          </a:prstGeom>
          <a:noFill/>
        </p:spPr>
        <p:txBody>
          <a:bodyPr wrap="none" lIns="73152" rIns="73152" tIns="27432" bIns="27432">
            <a:spAutoFit/>
          </a:bodyPr>
          <a:lstStyle/>
          <a:p>
            <a:r>
              <a:rPr sz="1300" b="0">
                <a:solidFill>
                  <a:srgbClr val="00376E"/>
                </a:solidFill>
                <a:latin typeface="Arial"/>
              </a:rPr>
              <a:t>THE HONG KONG
UNIVERSITY OF SCIENCE
AND TECHNOLOGY</a:t>
            </a:r>
          </a:p>
        </p:txBody>
      </p:sp>
      <p:sp>
        <p:nvSpPr>
          <p:cNvPr id="7" name="Oval 6"/>
          <p:cNvSpPr/>
          <p:nvPr/>
        </p:nvSpPr>
        <p:spPr>
          <a:xfrm>
            <a:off x="9189720" y="347472"/>
            <a:ext cx="164592" cy="164592"/>
          </a:xfrm>
          <a:prstGeom prst="ellipse">
            <a:avLst/>
          </a:prstGeom>
          <a:solidFill>
            <a:srgbClr val="F5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77472" y="6537960"/>
            <a:ext cx="256032" cy="164592"/>
          </a:xfrm>
          <a:prstGeom prst="rect">
            <a:avLst/>
          </a:prstGeom>
          <a:noFill/>
        </p:spPr>
        <p:txBody>
          <a:bodyPr wrap="none" lIns="73152" rIns="73152" tIns="27432" bIns="27432">
            <a:spAutoFit/>
          </a:bodyPr>
          <a:lstStyle/>
          <a:p>
            <a:r>
              <a:rPr sz="1200">
                <a:latin typeface="Arial"/>
              </a:rPr>
              <a:t>11</a:t>
            </a:r>
          </a:p>
        </p:txBody>
      </p:sp>
      <p:sp>
        <p:nvSpPr>
          <p:cNvPr id="9" name="Rounded Rectangle 8"/>
          <p:cNvSpPr/>
          <p:nvPr/>
        </p:nvSpPr>
        <p:spPr>
          <a:xfrm>
            <a:off x="384048" y="1188720"/>
            <a:ext cx="8028431" cy="1737360"/>
          </a:xfrm>
          <a:prstGeom prst="roundRect">
            <a:avLst/>
          </a:prstGeom>
          <a:solidFill>
            <a:srgbClr val="FFFFFF"/>
          </a:solidFill>
          <a:ln w="1524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84048" y="3273552"/>
            <a:ext cx="8028431" cy="1691640"/>
          </a:xfrm>
          <a:prstGeom prst="roundRect">
            <a:avLst/>
          </a:prstGeom>
          <a:solidFill>
            <a:srgbClr val="FFFFFF"/>
          </a:solidFill>
          <a:ln w="15240">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481328"/>
            <a:ext cx="2560320" cy="274320"/>
          </a:xfrm>
          <a:prstGeom prst="rect">
            <a:avLst/>
          </a:prstGeom>
          <a:noFill/>
        </p:spPr>
        <p:txBody>
          <a:bodyPr wrap="none" lIns="73152" rIns="73152" tIns="27432" bIns="27432">
            <a:spAutoFit/>
          </a:bodyPr>
          <a:lstStyle/>
          <a:p>
            <a:r>
              <a:rPr sz="2000" b="1">
                <a:solidFill>
                  <a:srgbClr val="00376E"/>
                </a:solidFill>
                <a:latin typeface="Arial"/>
              </a:rPr>
              <a:t>Stage 1: head warm-up</a:t>
            </a:r>
          </a:p>
        </p:txBody>
      </p:sp>
      <p:sp>
        <p:nvSpPr>
          <p:cNvPr id="12" name="TextBox 11"/>
          <p:cNvSpPr txBox="1"/>
          <p:nvPr/>
        </p:nvSpPr>
        <p:spPr>
          <a:xfrm>
            <a:off x="621792" y="1920240"/>
            <a:ext cx="2788920" cy="676656"/>
          </a:xfrm>
          <a:prstGeom prst="rect">
            <a:avLst/>
          </a:prstGeom>
          <a:noFill/>
        </p:spPr>
        <p:txBody>
          <a:bodyPr wrap="none" lIns="73152" rIns="73152" tIns="27432" bIns="27432">
            <a:spAutoFit/>
          </a:bodyPr>
          <a:lstStyle/>
          <a:p>
            <a:r>
              <a:rPr sz="1700" b="0">
                <a:solidFill>
                  <a:srgbClr val="000000"/>
                </a:solidFill>
                <a:latin typeface="Arial"/>
              </a:rPr>
              <a:t>Freeze the ChemBERTa
encoder and train only the
regression head.</a:t>
            </a:r>
          </a:p>
        </p:txBody>
      </p:sp>
      <p:sp>
        <p:nvSpPr>
          <p:cNvPr id="13" name="TextBox 12"/>
          <p:cNvSpPr txBox="1"/>
          <p:nvPr/>
        </p:nvSpPr>
        <p:spPr>
          <a:xfrm>
            <a:off x="621792" y="3584448"/>
            <a:ext cx="2743200" cy="274320"/>
          </a:xfrm>
          <a:prstGeom prst="rect">
            <a:avLst/>
          </a:prstGeom>
          <a:noFill/>
        </p:spPr>
        <p:txBody>
          <a:bodyPr wrap="none" lIns="73152" rIns="73152" tIns="27432" bIns="27432">
            <a:spAutoFit/>
          </a:bodyPr>
          <a:lstStyle/>
          <a:p>
            <a:r>
              <a:rPr sz="2000" b="1">
                <a:solidFill>
                  <a:srgbClr val="1C7041"/>
                </a:solidFill>
                <a:latin typeface="Arial"/>
              </a:rPr>
              <a:t>Stage 2: task adaptation</a:t>
            </a:r>
          </a:p>
        </p:txBody>
      </p:sp>
      <p:sp>
        <p:nvSpPr>
          <p:cNvPr id="14" name="TextBox 13"/>
          <p:cNvSpPr txBox="1"/>
          <p:nvPr/>
        </p:nvSpPr>
        <p:spPr>
          <a:xfrm>
            <a:off x="621792" y="4023360"/>
            <a:ext cx="2788920" cy="676656"/>
          </a:xfrm>
          <a:prstGeom prst="rect">
            <a:avLst/>
          </a:prstGeom>
          <a:noFill/>
        </p:spPr>
        <p:txBody>
          <a:bodyPr wrap="none" lIns="73152" rIns="73152" tIns="27432" bIns="27432">
            <a:spAutoFit/>
          </a:bodyPr>
          <a:lstStyle/>
          <a:p>
            <a:r>
              <a:rPr sz="1700" b="0">
                <a:solidFill>
                  <a:srgbClr val="000000"/>
                </a:solidFill>
                <a:latin typeface="Arial"/>
              </a:rPr>
              <a:t>Unfreeze the ChemBERTa
encoder and fine-tune
encoder plus regression head.</a:t>
            </a:r>
          </a:p>
        </p:txBody>
      </p:sp>
      <p:sp>
        <p:nvSpPr>
          <p:cNvPr id="15" name="Rounded Rectangle 14"/>
          <p:cNvSpPr/>
          <p:nvPr/>
        </p:nvSpPr>
        <p:spPr>
          <a:xfrm>
            <a:off x="3767328" y="1417320"/>
            <a:ext cx="2267712" cy="1243584"/>
          </a:xfrm>
          <a:prstGeom prst="roundRect">
            <a:avLst/>
          </a:prstGeom>
          <a:solidFill>
            <a:srgbClr val="EEF9F1"/>
          </a:solidFill>
          <a:ln w="15240">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4425696" y="1847088"/>
            <a:ext cx="109728" cy="188732"/>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206240" y="2035820"/>
            <a:ext cx="219456" cy="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096511" y="1847088"/>
            <a:ext cx="109729" cy="188732"/>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096511" y="1658355"/>
            <a:ext cx="109729" cy="188733"/>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206240" y="1658355"/>
            <a:ext cx="219456" cy="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25696" y="1658355"/>
            <a:ext cx="109728" cy="188733"/>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494276" y="1805940"/>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84548" y="1994672"/>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65091" y="1994672"/>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055363" y="1805940"/>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165091" y="1617207"/>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84548" y="1617207"/>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35424" y="2075688"/>
            <a:ext cx="1097280" cy="347472"/>
          </a:xfrm>
          <a:prstGeom prst="rect">
            <a:avLst/>
          </a:prstGeom>
          <a:noFill/>
        </p:spPr>
        <p:txBody>
          <a:bodyPr wrap="none" lIns="73152" rIns="73152" tIns="27432" bIns="27432">
            <a:spAutoFit/>
          </a:bodyPr>
          <a:lstStyle/>
          <a:p>
            <a:pPr algn="ctr"/>
            <a:r>
              <a:rPr sz="1600" b="1">
                <a:solidFill>
                  <a:srgbClr val="000000"/>
                </a:solidFill>
                <a:latin typeface="Arial"/>
              </a:rPr>
              <a:t>ChemBERTa
Encoder</a:t>
            </a:r>
          </a:p>
        </p:txBody>
      </p:sp>
      <p:sp>
        <p:nvSpPr>
          <p:cNvPr id="29" name="Rounded Rectangle 28"/>
          <p:cNvSpPr/>
          <p:nvPr/>
        </p:nvSpPr>
        <p:spPr>
          <a:xfrm>
            <a:off x="5687568" y="1645920"/>
            <a:ext cx="237744" cy="201168"/>
          </a:xfrm>
          <a:prstGeom prst="roundRect">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5742431" y="1563624"/>
            <a:ext cx="0" cy="100583"/>
          </a:xfrm>
          <a:prstGeom prst="line">
            <a:avLst/>
          </a:prstGeom>
          <a:ln w="2540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42431" y="1563624"/>
            <a:ext cx="128017" cy="0"/>
          </a:xfrm>
          <a:prstGeom prst="line">
            <a:avLst/>
          </a:prstGeom>
          <a:ln w="2540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870448" y="1563624"/>
            <a:ext cx="0" cy="100583"/>
          </a:xfrm>
          <a:prstGeom prst="line">
            <a:avLst/>
          </a:prstGeom>
          <a:ln w="2540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035040" y="2039112"/>
            <a:ext cx="45720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492240" y="1417320"/>
            <a:ext cx="1691640" cy="1243584"/>
          </a:xfrm>
          <a:prstGeom prst="roundRect">
            <a:avLst/>
          </a:prstGeom>
          <a:solidFill>
            <a:srgbClr val="FFF8EB"/>
          </a:solidFill>
          <a:ln w="15240">
            <a:solidFill>
              <a:srgbClr val="CE8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59168" y="1837943"/>
            <a:ext cx="73152" cy="146304"/>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178040" y="1728216"/>
            <a:ext cx="73152" cy="256032"/>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296912" y="1600200"/>
            <a:ext cx="73152" cy="384048"/>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7031736" y="1984248"/>
            <a:ext cx="420624" cy="0"/>
          </a:xfrm>
          <a:prstGeom prst="line">
            <a:avLst/>
          </a:prstGeom>
          <a:ln w="20320">
            <a:solidFill>
              <a:srgbClr val="CE8B0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39712" y="2121408"/>
            <a:ext cx="1005840" cy="329184"/>
          </a:xfrm>
          <a:prstGeom prst="rect">
            <a:avLst/>
          </a:prstGeom>
          <a:noFill/>
        </p:spPr>
        <p:txBody>
          <a:bodyPr wrap="none" lIns="73152" rIns="73152" tIns="27432" bIns="27432">
            <a:spAutoFit/>
          </a:bodyPr>
          <a:lstStyle/>
          <a:p>
            <a:pPr algn="ctr"/>
            <a:r>
              <a:rPr sz="1500" b="1">
                <a:solidFill>
                  <a:srgbClr val="000000"/>
                </a:solidFill>
                <a:latin typeface="Arial"/>
              </a:rPr>
              <a:t>Regression
Head</a:t>
            </a:r>
          </a:p>
        </p:txBody>
      </p:sp>
      <p:sp>
        <p:nvSpPr>
          <p:cNvPr id="40" name="TextBox 39"/>
          <p:cNvSpPr txBox="1"/>
          <p:nvPr/>
        </p:nvSpPr>
        <p:spPr>
          <a:xfrm>
            <a:off x="7726679" y="1545336"/>
            <a:ext cx="274320" cy="274320"/>
          </a:xfrm>
          <a:prstGeom prst="rect">
            <a:avLst/>
          </a:prstGeom>
          <a:noFill/>
        </p:spPr>
        <p:txBody>
          <a:bodyPr wrap="none" lIns="73152" rIns="73152" tIns="27432" bIns="27432">
            <a:spAutoFit/>
          </a:bodyPr>
          <a:lstStyle/>
          <a:p>
            <a:r>
              <a:rPr sz="1200" b="1">
                <a:solidFill>
                  <a:srgbClr val="CE8B00"/>
                </a:solidFill>
                <a:latin typeface="Arial"/>
              </a:rPr>
              <a:t>LR</a:t>
            </a:r>
          </a:p>
        </p:txBody>
      </p:sp>
      <p:sp>
        <p:nvSpPr>
          <p:cNvPr id="41" name="Rounded Rectangle 40"/>
          <p:cNvSpPr/>
          <p:nvPr/>
        </p:nvSpPr>
        <p:spPr>
          <a:xfrm>
            <a:off x="3767328" y="3493008"/>
            <a:ext cx="2267712" cy="1243584"/>
          </a:xfrm>
          <a:prstGeom prst="roundRect">
            <a:avLst/>
          </a:prstGeom>
          <a:solidFill>
            <a:srgbClr val="EEF9F1"/>
          </a:solidFill>
          <a:ln w="15240">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flipH="1">
            <a:off x="4425696" y="3922776"/>
            <a:ext cx="109728" cy="188732"/>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4206240" y="4111508"/>
            <a:ext cx="219456" cy="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4096511" y="3922776"/>
            <a:ext cx="109729" cy="188732"/>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096511" y="3734043"/>
            <a:ext cx="109729" cy="188733"/>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206240" y="3734043"/>
            <a:ext cx="219456" cy="0"/>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25696" y="3734043"/>
            <a:ext cx="109728" cy="188733"/>
          </a:xfrm>
          <a:prstGeom prst="line">
            <a:avLst/>
          </a:prstGeom>
          <a:ln w="22860">
            <a:solidFill>
              <a:srgbClr val="1C7041"/>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4494276" y="3881628"/>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384548" y="4070360"/>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165091" y="4070360"/>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055363" y="3881628"/>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165091" y="3692895"/>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384548" y="3692895"/>
            <a:ext cx="82296" cy="82296"/>
          </a:xfrm>
          <a:prstGeom prst="ellipse">
            <a:avLst/>
          </a:prstGeom>
          <a:solidFill>
            <a:srgbClr val="EEF9F1"/>
          </a:solidFill>
          <a:ln>
            <a:solidFill>
              <a:srgbClr val="1C7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35424" y="4151376"/>
            <a:ext cx="1097280" cy="347472"/>
          </a:xfrm>
          <a:prstGeom prst="rect">
            <a:avLst/>
          </a:prstGeom>
          <a:noFill/>
        </p:spPr>
        <p:txBody>
          <a:bodyPr wrap="none" lIns="73152" rIns="73152" tIns="27432" bIns="27432">
            <a:spAutoFit/>
          </a:bodyPr>
          <a:lstStyle/>
          <a:p>
            <a:pPr algn="ctr"/>
            <a:r>
              <a:rPr sz="1600" b="1">
                <a:solidFill>
                  <a:srgbClr val="000000"/>
                </a:solidFill>
                <a:latin typeface="Arial"/>
              </a:rPr>
              <a:t>ChemBERTa
Encoder</a:t>
            </a:r>
          </a:p>
        </p:txBody>
      </p:sp>
      <p:sp>
        <p:nvSpPr>
          <p:cNvPr id="55" name="Rounded Rectangle 54"/>
          <p:cNvSpPr/>
          <p:nvPr/>
        </p:nvSpPr>
        <p:spPr>
          <a:xfrm>
            <a:off x="5687568" y="3721608"/>
            <a:ext cx="237744" cy="201168"/>
          </a:xfrm>
          <a:prstGeom prst="roundRect">
            <a:avLst/>
          </a:prstGeom>
          <a:solidFill>
            <a:srgbClr val="1C7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5742431" y="3639312"/>
            <a:ext cx="0" cy="100584"/>
          </a:xfrm>
          <a:prstGeom prst="line">
            <a:avLst/>
          </a:prstGeom>
          <a:ln w="2540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742431" y="3593592"/>
            <a:ext cx="155449" cy="45720"/>
          </a:xfrm>
          <a:prstGeom prst="line">
            <a:avLst/>
          </a:prstGeom>
          <a:ln w="25400">
            <a:solidFill>
              <a:srgbClr val="1C704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035040" y="4114800"/>
            <a:ext cx="45720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492240" y="3493008"/>
            <a:ext cx="1691640" cy="1243584"/>
          </a:xfrm>
          <a:prstGeom prst="roundRect">
            <a:avLst/>
          </a:prstGeom>
          <a:solidFill>
            <a:srgbClr val="FFF8EB"/>
          </a:solidFill>
          <a:ln w="15240">
            <a:solidFill>
              <a:srgbClr val="CE8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059168" y="3913631"/>
            <a:ext cx="73152" cy="146304"/>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78040" y="3803903"/>
            <a:ext cx="73152" cy="256032"/>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296912" y="3675887"/>
            <a:ext cx="73152" cy="384048"/>
          </a:xfrm>
          <a:prstGeom prst="rect">
            <a:avLst/>
          </a:prstGeom>
          <a:solidFill>
            <a:srgbClr val="C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7031736" y="4059935"/>
            <a:ext cx="420624" cy="0"/>
          </a:xfrm>
          <a:prstGeom prst="line">
            <a:avLst/>
          </a:prstGeom>
          <a:ln w="20320">
            <a:solidFill>
              <a:srgbClr val="CE8B00"/>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839712" y="4197096"/>
            <a:ext cx="1005840" cy="329184"/>
          </a:xfrm>
          <a:prstGeom prst="rect">
            <a:avLst/>
          </a:prstGeom>
          <a:noFill/>
        </p:spPr>
        <p:txBody>
          <a:bodyPr wrap="none" lIns="73152" rIns="73152" tIns="27432" bIns="27432">
            <a:spAutoFit/>
          </a:bodyPr>
          <a:lstStyle/>
          <a:p>
            <a:pPr algn="ctr"/>
            <a:r>
              <a:rPr sz="1500" b="1">
                <a:solidFill>
                  <a:srgbClr val="000000"/>
                </a:solidFill>
                <a:latin typeface="Arial"/>
              </a:rPr>
              <a:t>Regression
Head</a:t>
            </a:r>
          </a:p>
        </p:txBody>
      </p:sp>
      <p:sp>
        <p:nvSpPr>
          <p:cNvPr id="65" name="TextBox 64"/>
          <p:cNvSpPr txBox="1"/>
          <p:nvPr/>
        </p:nvSpPr>
        <p:spPr>
          <a:xfrm>
            <a:off x="7726679" y="3621024"/>
            <a:ext cx="274320" cy="274320"/>
          </a:xfrm>
          <a:prstGeom prst="rect">
            <a:avLst/>
          </a:prstGeom>
          <a:noFill/>
        </p:spPr>
        <p:txBody>
          <a:bodyPr wrap="none" lIns="73152" rIns="73152" tIns="27432" bIns="27432">
            <a:spAutoFit/>
          </a:bodyPr>
          <a:lstStyle/>
          <a:p>
            <a:r>
              <a:rPr sz="1200" b="1">
                <a:solidFill>
                  <a:srgbClr val="CE8B00"/>
                </a:solidFill>
                <a:latin typeface="Arial"/>
              </a:rPr>
              <a:t>LR</a:t>
            </a:r>
          </a:p>
        </p:txBody>
      </p:sp>
      <p:cxnSp>
        <p:nvCxnSpPr>
          <p:cNvPr id="66" name="Connector 65"/>
          <p:cNvCxnSpPr/>
          <p:nvPr/>
        </p:nvCxnSpPr>
        <p:spPr>
          <a:xfrm>
            <a:off x="4617720" y="2926080"/>
            <a:ext cx="0" cy="347472"/>
          </a:xfrm>
          <a:prstGeom prst="line">
            <a:avLst/>
          </a:prstGeom>
          <a:ln w="50800">
            <a:solidFill>
              <a:srgbClr val="00376E"/>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8915400" y="1810512"/>
            <a:ext cx="2907792" cy="2697480"/>
          </a:xfrm>
          <a:prstGeom prst="roundRect">
            <a:avLst/>
          </a:prstGeom>
          <a:solidFill>
            <a:srgbClr val="FFFFFF"/>
          </a:solidFill>
          <a:ln w="1524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386316" y="2151126"/>
            <a:ext cx="283464" cy="256032"/>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9448038" y="2345436"/>
            <a:ext cx="160020" cy="0"/>
          </a:xfrm>
          <a:prstGeom prst="line">
            <a:avLst/>
          </a:prstGeom>
          <a:ln w="19050">
            <a:solidFill>
              <a:srgbClr val="00376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470898" y="2386584"/>
            <a:ext cx="114300" cy="0"/>
          </a:xfrm>
          <a:prstGeom prst="line">
            <a:avLst/>
          </a:prstGeom>
          <a:ln w="19050">
            <a:solidFill>
              <a:srgbClr val="00376E"/>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930384" y="2176272"/>
            <a:ext cx="1463040" cy="274320"/>
          </a:xfrm>
          <a:prstGeom prst="rect">
            <a:avLst/>
          </a:prstGeom>
          <a:noFill/>
        </p:spPr>
        <p:txBody>
          <a:bodyPr wrap="none" lIns="73152" rIns="73152" tIns="27432" bIns="27432">
            <a:spAutoFit/>
          </a:bodyPr>
          <a:lstStyle/>
          <a:p>
            <a:r>
              <a:rPr sz="1800" b="1">
                <a:solidFill>
                  <a:srgbClr val="00376E"/>
                </a:solidFill>
                <a:latin typeface="Arial"/>
              </a:rPr>
              <a:t>Learning rates</a:t>
            </a:r>
          </a:p>
        </p:txBody>
      </p:sp>
      <p:cxnSp>
        <p:nvCxnSpPr>
          <p:cNvPr id="72" name="Connector 71"/>
          <p:cNvCxnSpPr/>
          <p:nvPr/>
        </p:nvCxnSpPr>
        <p:spPr>
          <a:xfrm>
            <a:off x="9125712" y="2724912"/>
            <a:ext cx="2487168" cy="0"/>
          </a:xfrm>
          <a:prstGeom prst="line">
            <a:avLst/>
          </a:prstGeom>
          <a:ln w="12700">
            <a:solidFill>
              <a:srgbClr val="005BAA"/>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9144000" y="3182112"/>
            <a:ext cx="91440" cy="9144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436608" y="3136392"/>
            <a:ext cx="1828800" cy="384048"/>
          </a:xfrm>
          <a:prstGeom prst="rect">
            <a:avLst/>
          </a:prstGeom>
          <a:noFill/>
        </p:spPr>
        <p:txBody>
          <a:bodyPr wrap="none" lIns="73152" rIns="73152" tIns="27432" bIns="27432">
            <a:spAutoFit/>
          </a:bodyPr>
          <a:lstStyle/>
          <a:p>
            <a:r>
              <a:rPr sz="1450" b="0">
                <a:solidFill>
                  <a:srgbClr val="000000"/>
                </a:solidFill>
                <a:latin typeface="Arial"/>
              </a:rPr>
              <a:t>smaller LR for ChemBERTa
backbone</a:t>
            </a:r>
          </a:p>
        </p:txBody>
      </p:sp>
      <p:sp>
        <p:nvSpPr>
          <p:cNvPr id="75" name="Oval 74"/>
          <p:cNvSpPr/>
          <p:nvPr/>
        </p:nvSpPr>
        <p:spPr>
          <a:xfrm>
            <a:off x="9144000" y="3913632"/>
            <a:ext cx="91440" cy="9144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36608" y="3867912"/>
            <a:ext cx="1828800" cy="384048"/>
          </a:xfrm>
          <a:prstGeom prst="rect">
            <a:avLst/>
          </a:prstGeom>
          <a:noFill/>
        </p:spPr>
        <p:txBody>
          <a:bodyPr wrap="none" lIns="73152" rIns="73152" tIns="27432" bIns="27432">
            <a:spAutoFit/>
          </a:bodyPr>
          <a:lstStyle/>
          <a:p>
            <a:r>
              <a:rPr sz="1450" b="0">
                <a:solidFill>
                  <a:srgbClr val="000000"/>
                </a:solidFill>
                <a:latin typeface="Arial"/>
              </a:rPr>
              <a:t>larger LR for regression head</a:t>
            </a:r>
          </a:p>
        </p:txBody>
      </p:sp>
      <p:sp>
        <p:nvSpPr>
          <p:cNvPr id="77" name="Rounded Rectangle 76"/>
          <p:cNvSpPr/>
          <p:nvPr/>
        </p:nvSpPr>
        <p:spPr>
          <a:xfrm>
            <a:off x="1188720" y="5212080"/>
            <a:ext cx="9235440" cy="621792"/>
          </a:xfrm>
          <a:prstGeom prst="roundRect">
            <a:avLst/>
          </a:prstGeom>
          <a:solidFill>
            <a:srgbClr val="FFFFFF"/>
          </a:solidFill>
          <a:ln w="1270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508760" y="5321808"/>
            <a:ext cx="411480" cy="41148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545336" y="5349240"/>
            <a:ext cx="347472" cy="347472"/>
          </a:xfrm>
          <a:prstGeom prst="ellipse">
            <a:avLst/>
          </a:prstGeom>
          <a:no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611355" y="5415259"/>
            <a:ext cx="215432" cy="215432"/>
          </a:xfrm>
          <a:prstGeom prst="ellipse">
            <a:avLst/>
          </a:prstGeom>
          <a:no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670425" y="5474329"/>
            <a:ext cx="97292" cy="97292"/>
          </a:xfrm>
          <a:prstGeom prst="ellipse">
            <a:avLst/>
          </a:prstGeom>
          <a:no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2" name="Connector 81"/>
          <p:cNvCxnSpPr/>
          <p:nvPr/>
        </p:nvCxnSpPr>
        <p:spPr>
          <a:xfrm flipV="1">
            <a:off x="1719072" y="5305806"/>
            <a:ext cx="217169" cy="21717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2103120" y="5385816"/>
            <a:ext cx="8092440" cy="292608"/>
          </a:xfrm>
          <a:prstGeom prst="rect">
            <a:avLst/>
          </a:prstGeom>
          <a:noFill/>
        </p:spPr>
        <p:txBody>
          <a:bodyPr wrap="none" lIns="73152" rIns="73152" tIns="27432" bIns="27432">
            <a:spAutoFit/>
          </a:bodyPr>
          <a:lstStyle/>
          <a:p>
            <a:r>
              <a:rPr sz="1900" b="1">
                <a:solidFill>
                  <a:srgbClr val="000000"/>
                </a:solidFill>
                <a:latin typeface="Arial"/>
              </a:rPr>
              <a:t>Stage 1 learns the supervised energy scale; Stage 2 adapts the molecular representation.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1695" cy="201168"/>
          </a:xfrm>
          <a:prstGeom prst="rect">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29184"/>
            <a:ext cx="329184" cy="621792"/>
          </a:xfrm>
          <a:prstGeom prst="rect">
            <a:avLst/>
          </a:prstGeom>
          <a:solidFill>
            <a:srgbClr val="F5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38912"/>
            <a:ext cx="8046720" cy="502920"/>
          </a:xfrm>
          <a:prstGeom prst="rect">
            <a:avLst/>
          </a:prstGeom>
          <a:noFill/>
        </p:spPr>
        <p:txBody>
          <a:bodyPr wrap="none" lIns="73152" rIns="73152" tIns="27432" bIns="27432">
            <a:spAutoFit/>
          </a:bodyPr>
          <a:lstStyle/>
          <a:p>
            <a:r>
              <a:rPr sz="3000" b="1">
                <a:solidFill>
                  <a:srgbClr val="000000"/>
                </a:solidFill>
                <a:latin typeface="Arial"/>
              </a:rPr>
              <a:t>Controlled Experimental Design</a:t>
            </a:r>
          </a:p>
        </p:txBody>
      </p:sp>
      <p:sp>
        <p:nvSpPr>
          <p:cNvPr id="6" name="TextBox 5"/>
          <p:cNvSpPr txBox="1"/>
          <p:nvPr/>
        </p:nvSpPr>
        <p:spPr>
          <a:xfrm>
            <a:off x="9464040" y="347472"/>
            <a:ext cx="2240280" cy="512064"/>
          </a:xfrm>
          <a:prstGeom prst="rect">
            <a:avLst/>
          </a:prstGeom>
          <a:noFill/>
        </p:spPr>
        <p:txBody>
          <a:bodyPr wrap="none" lIns="73152" rIns="73152" tIns="27432" bIns="27432">
            <a:spAutoFit/>
          </a:bodyPr>
          <a:lstStyle/>
          <a:p>
            <a:r>
              <a:rPr sz="1300" b="0">
                <a:solidFill>
                  <a:srgbClr val="00376E"/>
                </a:solidFill>
                <a:latin typeface="Arial"/>
              </a:rPr>
              <a:t>THE HONG KONG
UNIVERSITY OF SCIENCE
AND TECHNOLOGY</a:t>
            </a:r>
          </a:p>
        </p:txBody>
      </p:sp>
      <p:sp>
        <p:nvSpPr>
          <p:cNvPr id="7" name="Oval 6"/>
          <p:cNvSpPr/>
          <p:nvPr/>
        </p:nvSpPr>
        <p:spPr>
          <a:xfrm>
            <a:off x="9189720" y="347472"/>
            <a:ext cx="164592" cy="164592"/>
          </a:xfrm>
          <a:prstGeom prst="ellipse">
            <a:avLst/>
          </a:prstGeom>
          <a:solidFill>
            <a:srgbClr val="F5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77472" y="6537960"/>
            <a:ext cx="256032" cy="164592"/>
          </a:xfrm>
          <a:prstGeom prst="rect">
            <a:avLst/>
          </a:prstGeom>
          <a:noFill/>
        </p:spPr>
        <p:txBody>
          <a:bodyPr wrap="none" lIns="73152" rIns="73152" tIns="27432" bIns="27432">
            <a:spAutoFit/>
          </a:bodyPr>
          <a:lstStyle/>
          <a:p>
            <a:r>
              <a:rPr sz="1200">
                <a:latin typeface="Arial"/>
              </a:rPr>
              <a:t>12</a:t>
            </a:r>
          </a:p>
        </p:txBody>
      </p:sp>
      <p:sp>
        <p:nvSpPr>
          <p:cNvPr id="9" name="Rectangle 8"/>
          <p:cNvSpPr/>
          <p:nvPr/>
        </p:nvSpPr>
        <p:spPr>
          <a:xfrm>
            <a:off x="329184" y="1463040"/>
            <a:ext cx="7132320" cy="713232"/>
          </a:xfrm>
          <a:prstGeom prst="rect">
            <a:avLst/>
          </a:prstGeom>
          <a:solidFill>
            <a:srgbClr val="00376E"/>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72184" y="1664208"/>
            <a:ext cx="1005840" cy="256032"/>
          </a:xfrm>
          <a:prstGeom prst="rect">
            <a:avLst/>
          </a:prstGeom>
          <a:noFill/>
        </p:spPr>
        <p:txBody>
          <a:bodyPr wrap="none" lIns="73152" rIns="73152" tIns="27432" bIns="27432">
            <a:spAutoFit/>
          </a:bodyPr>
          <a:lstStyle/>
          <a:p>
            <a:pPr algn="ctr"/>
            <a:r>
              <a:rPr sz="1800" b="1">
                <a:solidFill>
                  <a:srgbClr val="FFFFFF"/>
                </a:solidFill>
                <a:latin typeface="Arial"/>
              </a:rPr>
              <a:t>Method</a:t>
            </a:r>
          </a:p>
        </p:txBody>
      </p:sp>
      <p:sp>
        <p:nvSpPr>
          <p:cNvPr id="11" name="TextBox 10"/>
          <p:cNvSpPr txBox="1"/>
          <p:nvPr/>
        </p:nvSpPr>
        <p:spPr>
          <a:xfrm>
            <a:off x="4626864" y="1664208"/>
            <a:ext cx="914400" cy="256032"/>
          </a:xfrm>
          <a:prstGeom prst="rect">
            <a:avLst/>
          </a:prstGeom>
          <a:noFill/>
        </p:spPr>
        <p:txBody>
          <a:bodyPr wrap="none" lIns="73152" rIns="73152" tIns="27432" bIns="27432">
            <a:spAutoFit/>
          </a:bodyPr>
          <a:lstStyle/>
          <a:p>
            <a:pPr algn="ctr"/>
            <a:r>
              <a:rPr sz="1800" b="1">
                <a:solidFill>
                  <a:srgbClr val="FFFFFF"/>
                </a:solidFill>
                <a:latin typeface="Arial"/>
              </a:rPr>
              <a:t>Purpose</a:t>
            </a:r>
          </a:p>
        </p:txBody>
      </p:sp>
      <p:sp>
        <p:nvSpPr>
          <p:cNvPr id="12" name="Rectangle 11"/>
          <p:cNvSpPr/>
          <p:nvPr/>
        </p:nvSpPr>
        <p:spPr>
          <a:xfrm>
            <a:off x="329184" y="2176272"/>
            <a:ext cx="7132320" cy="713232"/>
          </a:xfrm>
          <a:prstGeom prst="rect">
            <a:avLst/>
          </a:prstGeom>
          <a:solidFill>
            <a:srgbClr val="FFFFFF"/>
          </a:solidFill>
          <a:ln w="8890">
            <a:solidFill>
              <a:srgbClr val="BEC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3209544" y="2176272"/>
            <a:ext cx="0" cy="713232"/>
          </a:xfrm>
          <a:prstGeom prst="line">
            <a:avLst/>
          </a:prstGeom>
          <a:ln w="10160">
            <a:solidFill>
              <a:srgbClr val="BECDD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2104" y="2377440"/>
            <a:ext cx="2011680" cy="256032"/>
          </a:xfrm>
          <a:prstGeom prst="rect">
            <a:avLst/>
          </a:prstGeom>
          <a:noFill/>
        </p:spPr>
        <p:txBody>
          <a:bodyPr wrap="none" lIns="73152" rIns="73152" tIns="27432" bIns="27432">
            <a:spAutoFit/>
          </a:bodyPr>
          <a:lstStyle/>
          <a:p>
            <a:pPr algn="ctr"/>
            <a:r>
              <a:rPr sz="1600" b="1">
                <a:solidFill>
                  <a:srgbClr val="000000"/>
                </a:solidFill>
                <a:latin typeface="Arial"/>
              </a:rPr>
              <a:t>No Aug + Two-stage</a:t>
            </a:r>
          </a:p>
        </p:txBody>
      </p:sp>
      <p:sp>
        <p:nvSpPr>
          <p:cNvPr id="15" name="TextBox 14"/>
          <p:cNvSpPr txBox="1"/>
          <p:nvPr/>
        </p:nvSpPr>
        <p:spPr>
          <a:xfrm>
            <a:off x="3621024" y="2340864"/>
            <a:ext cx="3383280" cy="347472"/>
          </a:xfrm>
          <a:prstGeom prst="rect">
            <a:avLst/>
          </a:prstGeom>
          <a:noFill/>
        </p:spPr>
        <p:txBody>
          <a:bodyPr wrap="none" lIns="73152" rIns="73152" tIns="27432" bIns="27432">
            <a:spAutoFit/>
          </a:bodyPr>
          <a:lstStyle/>
          <a:p>
            <a:r>
              <a:rPr sz="1600" b="0">
                <a:solidFill>
                  <a:srgbClr val="000000"/>
                </a:solidFill>
                <a:latin typeface="Arial"/>
              </a:rPr>
              <a:t>Baseline without SMILES augmentation</a:t>
            </a:r>
          </a:p>
        </p:txBody>
      </p:sp>
      <p:sp>
        <p:nvSpPr>
          <p:cNvPr id="16" name="Rectangle 15"/>
          <p:cNvSpPr/>
          <p:nvPr/>
        </p:nvSpPr>
        <p:spPr>
          <a:xfrm>
            <a:off x="329184" y="2889504"/>
            <a:ext cx="7132320" cy="713232"/>
          </a:xfrm>
          <a:prstGeom prst="rect">
            <a:avLst/>
          </a:prstGeom>
          <a:solidFill>
            <a:srgbClr val="F5F8FB"/>
          </a:solidFill>
          <a:ln w="8890">
            <a:solidFill>
              <a:srgbClr val="BEC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3209544" y="2889504"/>
            <a:ext cx="0" cy="713232"/>
          </a:xfrm>
          <a:prstGeom prst="line">
            <a:avLst/>
          </a:prstGeom>
          <a:ln w="10160">
            <a:solidFill>
              <a:srgbClr val="BECDD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32104" y="3090672"/>
            <a:ext cx="2011680" cy="256032"/>
          </a:xfrm>
          <a:prstGeom prst="rect">
            <a:avLst/>
          </a:prstGeom>
          <a:noFill/>
        </p:spPr>
        <p:txBody>
          <a:bodyPr wrap="none" lIns="73152" rIns="73152" tIns="27432" bIns="27432">
            <a:spAutoFit/>
          </a:bodyPr>
          <a:lstStyle/>
          <a:p>
            <a:pPr algn="ctr"/>
            <a:r>
              <a:rPr sz="1600" b="1">
                <a:solidFill>
                  <a:srgbClr val="000000"/>
                </a:solidFill>
                <a:latin typeface="Arial"/>
              </a:rPr>
              <a:t>Aug + Two-stage</a:t>
            </a:r>
          </a:p>
        </p:txBody>
      </p:sp>
      <p:sp>
        <p:nvSpPr>
          <p:cNvPr id="19" name="TextBox 18"/>
          <p:cNvSpPr txBox="1"/>
          <p:nvPr/>
        </p:nvSpPr>
        <p:spPr>
          <a:xfrm>
            <a:off x="3621024" y="3054096"/>
            <a:ext cx="3383280" cy="347472"/>
          </a:xfrm>
          <a:prstGeom prst="rect">
            <a:avLst/>
          </a:prstGeom>
          <a:noFill/>
        </p:spPr>
        <p:txBody>
          <a:bodyPr wrap="none" lIns="73152" rIns="73152" tIns="27432" bIns="27432">
            <a:spAutoFit/>
          </a:bodyPr>
          <a:lstStyle/>
          <a:p>
            <a:r>
              <a:rPr sz="1600" b="0">
                <a:solidFill>
                  <a:srgbClr val="000000"/>
                </a:solidFill>
                <a:latin typeface="Arial"/>
              </a:rPr>
              <a:t>Final method</a:t>
            </a:r>
          </a:p>
        </p:txBody>
      </p:sp>
      <p:sp>
        <p:nvSpPr>
          <p:cNvPr id="20" name="Rectangle 19"/>
          <p:cNvSpPr/>
          <p:nvPr/>
        </p:nvSpPr>
        <p:spPr>
          <a:xfrm>
            <a:off x="329184" y="3602736"/>
            <a:ext cx="7132320" cy="713232"/>
          </a:xfrm>
          <a:prstGeom prst="rect">
            <a:avLst/>
          </a:prstGeom>
          <a:solidFill>
            <a:srgbClr val="FFFFFF"/>
          </a:solidFill>
          <a:ln w="8890">
            <a:solidFill>
              <a:srgbClr val="BEC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3209544" y="3602736"/>
            <a:ext cx="0" cy="713232"/>
          </a:xfrm>
          <a:prstGeom prst="line">
            <a:avLst/>
          </a:prstGeom>
          <a:ln w="10160">
            <a:solidFill>
              <a:srgbClr val="BECDD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32104" y="3803904"/>
            <a:ext cx="2011680" cy="256032"/>
          </a:xfrm>
          <a:prstGeom prst="rect">
            <a:avLst/>
          </a:prstGeom>
          <a:noFill/>
        </p:spPr>
        <p:txBody>
          <a:bodyPr wrap="none" lIns="73152" rIns="73152" tIns="27432" bIns="27432">
            <a:spAutoFit/>
          </a:bodyPr>
          <a:lstStyle/>
          <a:p>
            <a:pPr algn="ctr"/>
            <a:r>
              <a:rPr sz="1600" b="1">
                <a:solidFill>
                  <a:srgbClr val="000000"/>
                </a:solidFill>
                <a:latin typeface="Arial"/>
              </a:rPr>
              <a:t>Aug + Stage1-only</a:t>
            </a:r>
          </a:p>
        </p:txBody>
      </p:sp>
      <p:sp>
        <p:nvSpPr>
          <p:cNvPr id="23" name="TextBox 22"/>
          <p:cNvSpPr txBox="1"/>
          <p:nvPr/>
        </p:nvSpPr>
        <p:spPr>
          <a:xfrm>
            <a:off x="3621024" y="3767328"/>
            <a:ext cx="3383280" cy="347472"/>
          </a:xfrm>
          <a:prstGeom prst="rect">
            <a:avLst/>
          </a:prstGeom>
          <a:noFill/>
        </p:spPr>
        <p:txBody>
          <a:bodyPr wrap="none" lIns="73152" rIns="73152" tIns="27432" bIns="27432">
            <a:spAutoFit/>
          </a:bodyPr>
          <a:lstStyle/>
          <a:p>
            <a:r>
              <a:rPr sz="1600" b="0">
                <a:solidFill>
                  <a:srgbClr val="000000"/>
                </a:solidFill>
                <a:latin typeface="Arial"/>
              </a:rPr>
              <a:t>Tests whether frozen ChemBERTa
features are sufficient</a:t>
            </a:r>
          </a:p>
        </p:txBody>
      </p:sp>
      <p:sp>
        <p:nvSpPr>
          <p:cNvPr id="24" name="Rectangle 23"/>
          <p:cNvSpPr/>
          <p:nvPr/>
        </p:nvSpPr>
        <p:spPr>
          <a:xfrm>
            <a:off x="329184" y="4315968"/>
            <a:ext cx="7132320" cy="713232"/>
          </a:xfrm>
          <a:prstGeom prst="rect">
            <a:avLst/>
          </a:prstGeom>
          <a:solidFill>
            <a:srgbClr val="F5F8FB"/>
          </a:solidFill>
          <a:ln w="8890">
            <a:solidFill>
              <a:srgbClr val="BEC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3209544" y="4315968"/>
            <a:ext cx="0" cy="713232"/>
          </a:xfrm>
          <a:prstGeom prst="line">
            <a:avLst/>
          </a:prstGeom>
          <a:ln w="10160">
            <a:solidFill>
              <a:srgbClr val="BECDD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2104" y="4517136"/>
            <a:ext cx="2011680" cy="256032"/>
          </a:xfrm>
          <a:prstGeom prst="rect">
            <a:avLst/>
          </a:prstGeom>
          <a:noFill/>
        </p:spPr>
        <p:txBody>
          <a:bodyPr wrap="none" lIns="73152" rIns="73152" tIns="27432" bIns="27432">
            <a:spAutoFit/>
          </a:bodyPr>
          <a:lstStyle/>
          <a:p>
            <a:pPr algn="ctr"/>
            <a:r>
              <a:rPr sz="1600" b="1">
                <a:solidFill>
                  <a:srgbClr val="000000"/>
                </a:solidFill>
                <a:latin typeface="Arial"/>
              </a:rPr>
              <a:t>Aug + Stage2-only</a:t>
            </a:r>
          </a:p>
        </p:txBody>
      </p:sp>
      <p:sp>
        <p:nvSpPr>
          <p:cNvPr id="27" name="TextBox 26"/>
          <p:cNvSpPr txBox="1"/>
          <p:nvPr/>
        </p:nvSpPr>
        <p:spPr>
          <a:xfrm>
            <a:off x="3621024" y="4480560"/>
            <a:ext cx="3383280" cy="347472"/>
          </a:xfrm>
          <a:prstGeom prst="rect">
            <a:avLst/>
          </a:prstGeom>
          <a:noFill/>
        </p:spPr>
        <p:txBody>
          <a:bodyPr wrap="none" lIns="73152" rIns="73152" tIns="27432" bIns="27432">
            <a:spAutoFit/>
          </a:bodyPr>
          <a:lstStyle/>
          <a:p>
            <a:r>
              <a:rPr sz="1600" b="0">
                <a:solidFill>
                  <a:srgbClr val="000000"/>
                </a:solidFill>
                <a:latin typeface="Arial"/>
              </a:rPr>
              <a:t>Tests whether Stage 1 warm-up is useful</a:t>
            </a:r>
          </a:p>
        </p:txBody>
      </p:sp>
      <p:sp>
        <p:nvSpPr>
          <p:cNvPr id="28" name="Rounded Rectangle 27"/>
          <p:cNvSpPr/>
          <p:nvPr/>
        </p:nvSpPr>
        <p:spPr>
          <a:xfrm>
            <a:off x="7699248" y="1508760"/>
            <a:ext cx="4187952" cy="3337560"/>
          </a:xfrm>
          <a:prstGeom prst="roundRect">
            <a:avLst/>
          </a:prstGeom>
          <a:solidFill>
            <a:srgbClr val="FFFFFF"/>
          </a:solidFill>
          <a:ln w="15240">
            <a:solidFill>
              <a:srgbClr val="0037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36992" y="1965960"/>
            <a:ext cx="91440" cy="9144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7888" y="1892807"/>
            <a:ext cx="3017520" cy="438912"/>
          </a:xfrm>
          <a:prstGeom prst="rect">
            <a:avLst/>
          </a:prstGeom>
          <a:noFill/>
        </p:spPr>
        <p:txBody>
          <a:bodyPr wrap="none" lIns="73152" rIns="73152" tIns="27432" bIns="27432">
            <a:spAutoFit/>
          </a:bodyPr>
          <a:lstStyle/>
          <a:p>
            <a:r>
              <a:rPr sz="1550" b="1">
                <a:solidFill>
                  <a:srgbClr val="000000"/>
                </a:solidFill>
                <a:latin typeface="Arial"/>
              </a:rPr>
              <a:t>3 seeds x 5 folds = 15 runs per method</a:t>
            </a:r>
          </a:p>
        </p:txBody>
      </p:sp>
      <p:sp>
        <p:nvSpPr>
          <p:cNvPr id="31" name="Oval 30"/>
          <p:cNvSpPr/>
          <p:nvPr/>
        </p:nvSpPr>
        <p:spPr>
          <a:xfrm>
            <a:off x="7936992" y="2715768"/>
            <a:ext cx="91440" cy="9144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2642615"/>
            <a:ext cx="3017520" cy="438912"/>
          </a:xfrm>
          <a:prstGeom prst="rect">
            <a:avLst/>
          </a:prstGeom>
          <a:noFill/>
        </p:spPr>
        <p:txBody>
          <a:bodyPr wrap="none" lIns="73152" rIns="73152" tIns="27432" bIns="27432">
            <a:spAutoFit/>
          </a:bodyPr>
          <a:lstStyle/>
          <a:p>
            <a:r>
              <a:rPr sz="1550" b="0">
                <a:solidFill>
                  <a:srgbClr val="000000"/>
                </a:solidFill>
                <a:latin typeface="Arial"/>
              </a:rPr>
              <a:t>No Aug vs Aug: effect of SMILES
augmentation</a:t>
            </a:r>
          </a:p>
        </p:txBody>
      </p:sp>
      <p:sp>
        <p:nvSpPr>
          <p:cNvPr id="33" name="Oval 32"/>
          <p:cNvSpPr/>
          <p:nvPr/>
        </p:nvSpPr>
        <p:spPr>
          <a:xfrm>
            <a:off x="7936992" y="3465576"/>
            <a:ext cx="91440" cy="9144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7888" y="3392424"/>
            <a:ext cx="3017520" cy="438912"/>
          </a:xfrm>
          <a:prstGeom prst="rect">
            <a:avLst/>
          </a:prstGeom>
          <a:noFill/>
        </p:spPr>
        <p:txBody>
          <a:bodyPr wrap="none" lIns="73152" rIns="73152" tIns="27432" bIns="27432">
            <a:spAutoFit/>
          </a:bodyPr>
          <a:lstStyle/>
          <a:p>
            <a:r>
              <a:rPr sz="1550" b="0">
                <a:solidFill>
                  <a:srgbClr val="000000"/>
                </a:solidFill>
                <a:latin typeface="Arial"/>
              </a:rPr>
              <a:t>Stage1-only vs Two-stage: need for
encoder adaptation</a:t>
            </a:r>
          </a:p>
        </p:txBody>
      </p:sp>
      <p:sp>
        <p:nvSpPr>
          <p:cNvPr id="35" name="Oval 34"/>
          <p:cNvSpPr/>
          <p:nvPr/>
        </p:nvSpPr>
        <p:spPr>
          <a:xfrm>
            <a:off x="7936992" y="4215383"/>
            <a:ext cx="91440" cy="9144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47888" y="4142231"/>
            <a:ext cx="3017520" cy="438912"/>
          </a:xfrm>
          <a:prstGeom prst="rect">
            <a:avLst/>
          </a:prstGeom>
          <a:noFill/>
        </p:spPr>
        <p:txBody>
          <a:bodyPr wrap="none" lIns="73152" rIns="73152" tIns="27432" bIns="27432">
            <a:spAutoFit/>
          </a:bodyPr>
          <a:lstStyle/>
          <a:p>
            <a:r>
              <a:rPr sz="1550" b="0">
                <a:solidFill>
                  <a:srgbClr val="000000"/>
                </a:solidFill>
                <a:latin typeface="Arial"/>
              </a:rPr>
              <a:t>Stage2-only vs Two-stage: role of
Stage 1 warm-up</a:t>
            </a:r>
          </a:p>
        </p:txBody>
      </p:sp>
      <p:sp>
        <p:nvSpPr>
          <p:cNvPr id="37" name="Rounded Rectangle 36"/>
          <p:cNvSpPr/>
          <p:nvPr/>
        </p:nvSpPr>
        <p:spPr>
          <a:xfrm>
            <a:off x="1783080" y="5148072"/>
            <a:ext cx="8641080" cy="621792"/>
          </a:xfrm>
          <a:prstGeom prst="roundRect">
            <a:avLst/>
          </a:prstGeom>
          <a:solidFill>
            <a:srgbClr val="FFFFFF"/>
          </a:solidFill>
          <a:ln w="12700">
            <a:solidFill>
              <a:srgbClr val="00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103120" y="5257800"/>
            <a:ext cx="411480" cy="411480"/>
          </a:xfrm>
          <a:prstGeom prst="ellipse">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205715" y="5328666"/>
            <a:ext cx="215432" cy="194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2252624" y="5476341"/>
            <a:ext cx="121615"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269998" y="5507614"/>
            <a:ext cx="86867"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697480" y="5321808"/>
            <a:ext cx="7498079" cy="292608"/>
          </a:xfrm>
          <a:prstGeom prst="rect">
            <a:avLst/>
          </a:prstGeom>
          <a:noFill/>
        </p:spPr>
        <p:txBody>
          <a:bodyPr wrap="none" lIns="73152" rIns="73152" tIns="27432" bIns="27432">
            <a:spAutoFit/>
          </a:bodyPr>
          <a:lstStyle/>
          <a:p>
            <a:r>
              <a:rPr sz="1900" b="1">
                <a:solidFill>
                  <a:srgbClr val="000000"/>
                </a:solidFill>
                <a:latin typeface="Arial"/>
              </a:rPr>
              <a:t>These controlled comparisons test why each training component matters.</a:t>
            </a:r>
          </a:p>
        </p:txBody>
      </p:sp>
      <p:sp>
        <p:nvSpPr>
          <p:cNvPr id="43" name="Rectangle 42"/>
          <p:cNvSpPr/>
          <p:nvPr/>
        </p:nvSpPr>
        <p:spPr>
          <a:xfrm>
            <a:off x="0" y="6519672"/>
            <a:ext cx="12191695" cy="338328"/>
          </a:xfrm>
          <a:prstGeom prst="rect">
            <a:avLst/>
          </a:prstGeom>
          <a:solidFill>
            <a:srgbClr val="00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777472" y="6565392"/>
            <a:ext cx="256032" cy="164592"/>
          </a:xfrm>
          <a:prstGeom prst="rect">
            <a:avLst/>
          </a:prstGeom>
          <a:noFill/>
        </p:spPr>
        <p:txBody>
          <a:bodyPr wrap="none" lIns="73152" rIns="73152" tIns="27432" bIns="27432">
            <a:spAutoFit/>
          </a:bodyPr>
          <a:lstStyle/>
          <a:p>
            <a:r>
              <a:rPr sz="1200">
                <a:latin typeface="Arial"/>
              </a:rPr>
              <a:t>12</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3872</TotalTime>
  <Words>2330</Words>
  <Application>Microsoft Macintosh PowerPoint</Application>
  <PresentationFormat>Widescreen</PresentationFormat>
  <Paragraphs>397</Paragraphs>
  <Slides>26</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等线</vt:lpstr>
      <vt:lpstr>微软雅黑</vt:lpstr>
      <vt:lpstr>Aptos</vt:lpstr>
      <vt:lpstr>Aptos Display</vt:lpstr>
      <vt:lpstr>Arial</vt:lpstr>
      <vt:lpstr>Segoe UI Black</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Ashley Han</dc:creator>
  <cp:lastModifiedBy>ng~ A</cp:lastModifiedBy>
  <cp:revision>145</cp:revision>
  <dcterms:created xsi:type="dcterms:W3CDTF">2025-04-14T12:12:00Z</dcterms:created>
  <dcterms:modified xsi:type="dcterms:W3CDTF">2026-05-03T06:14:26Z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742FDEFD3AEF45099E1530B2236E706E_12</vt:lpwstr>
  </property>
  <property fmtid="{D5CDD505-2E9C-101B-9397-08002B2CF9AE}" pid="3" name="KSOProductBuildVer">
    <vt:lpwstr>2052-12.1.0.20784</vt:lpwstr>
  </property>
</Properties>
</file>