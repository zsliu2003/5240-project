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8" r:id="rId2"/>
    <p:sldId id="282" r:id="rId3"/>
    <p:sldId id="281" r:id="rId4"/>
    <p:sldId id="306" r:id="rId5"/>
    <p:sldId id="283" r:id="rId6"/>
    <p:sldId id="307" r:id="rId7"/>
    <p:sldId id="297" r:id="rId8"/>
    <p:sldId id="308" r:id="rId9"/>
    <p:sldId id="277" r:id="rId10"/>
    <p:sldId id="270" r:id="rId11"/>
    <p:sldId id="284" r:id="rId12"/>
    <p:sldId id="276" r:id="rId13"/>
    <p:sldId id="280" r:id="rId14"/>
    <p:sldId id="285" r:id="rId15"/>
    <p:sldId id="309" r:id="rId16"/>
    <p:sldId id="286" r:id="rId17"/>
    <p:sldId id="294" r:id="rId18"/>
    <p:sldId id="295" r:id="rId19"/>
    <p:sldId id="296" r:id="rId20"/>
    <p:sldId id="310" r:id="rId21"/>
    <p:sldId id="301" r:id="rId22"/>
    <p:sldId id="302" r:id="rId23"/>
    <p:sldId id="303" r:id="rId24"/>
    <p:sldId id="304" r:id="rId25"/>
    <p:sldId id="305" r:id="rId26"/>
    <p:sldId id="28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55A49C-C301-03F7-B5C1-ECD9E54A1DAE}" name="ZHANG Yalan" initials="YZ" userId="S::yzhangsc@connect.ust.hk::9bb24526-2742-48f0-b4a6-8946a69a2f95" providerId="AD"/>
  <p188:author id="{B3F5D2A7-ABC3-DE06-E694-EA39F4CD0499}" name="XIE Lifang" initials="LX" userId="S::lxiebd@connect.ust.hk::f22349e5-96f7-43fb-a8ae-4b93c0dfab60" providerId="AD"/>
  <p188:author id="{4F45C2CF-5AEA-E614-3B41-E89D03DB55EC}" name="ZHANG Yalan" initials="ZY" userId="ZHANG Yal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706"/>
    <a:srgbClr val="7C3AED"/>
    <a:srgbClr val="059669"/>
    <a:srgbClr val="FFD451"/>
    <a:srgbClr val="FFCDCD"/>
    <a:srgbClr val="AED29F"/>
    <a:srgbClr val="A5C1E5"/>
    <a:srgbClr val="FFD991"/>
    <a:srgbClr val="D0D0D0"/>
    <a:srgbClr val="F7AB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5"/>
    <p:restoredTop sz="96048" autoAdjust="0"/>
  </p:normalViewPr>
  <p:slideViewPr>
    <p:cSldViewPr snapToGrid="0">
      <p:cViewPr>
        <p:scale>
          <a:sx n="113" d="100"/>
          <a:sy n="113" d="100"/>
        </p:scale>
        <p:origin x="2416"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18B53-0452-416E-9595-03BD95690B68}" type="datetimeFigureOut">
              <a:rPr lang="en-US" smtClean="0"/>
              <a:t>5/3/26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24F22-AC36-4F1B-B78D-11CE21608D0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Hello everyone. Today our group will present our work on using machine learning to accelerate the discovery of molecular additives for perovskite solar cell interfaces. Our aim is to outline a simplified, data-driven workflow that can rapidly identify promising molecules for passivation.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1</a:t>
            </a:fld>
            <a:endParaRPr lang="en-US"/>
          </a:p>
        </p:txBody>
      </p:sp>
    </p:spTree>
    <p:extLst>
      <p:ext uri="{BB962C8B-B14F-4D97-AF65-F5344CB8AC3E}">
        <p14:creationId xmlns:p14="http://schemas.microsoft.com/office/powerpoint/2010/main" val="315683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2</a:t>
            </a:fld>
            <a:endParaRPr lang="en-US"/>
          </a:p>
        </p:txBody>
      </p:sp>
    </p:spTree>
    <p:extLst>
      <p:ext uri="{BB962C8B-B14F-4D97-AF65-F5344CB8AC3E}">
        <p14:creationId xmlns:p14="http://schemas.microsoft.com/office/powerpoint/2010/main" val="3535982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Although perovskite solar cells have achieved remarkable efficiency, surface defects remain a major source of non-radiative losses and instability. Introducing small functional molecules at the interface is an effective strategy to suppress these defects, but the experimental screening is inefficient. Machine learning allows us to learn the relationship between molecular properties and binding energy, enabling fast selection of candidates. </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3</a:t>
            </a:fld>
            <a:endParaRPr lang="en-US"/>
          </a:p>
        </p:txBody>
      </p:sp>
    </p:spTree>
    <p:extLst>
      <p:ext uri="{BB962C8B-B14F-4D97-AF65-F5344CB8AC3E}">
        <p14:creationId xmlns:p14="http://schemas.microsoft.com/office/powerpoint/2010/main" val="359355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3294B-8C5E-D3E2-7864-988E1C5351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A52EC8-7E59-73E3-91ED-C17A19BF93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40C6E3-BC69-4A98-7495-BB0012A6C7F7}"/>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846662C-35F2-7E19-0D77-4584F0C8F700}"/>
              </a:ext>
            </a:extLst>
          </p:cNvPr>
          <p:cNvSpPr>
            <a:spLocks noGrp="1"/>
          </p:cNvSpPr>
          <p:nvPr>
            <p:ph type="sldNum" sz="quarter" idx="5"/>
          </p:nvPr>
        </p:nvSpPr>
        <p:spPr/>
        <p:txBody>
          <a:bodyPr/>
          <a:lstStyle/>
          <a:p>
            <a:fld id="{B7924F22-AC36-4F1B-B78D-11CE21608D0F}" type="slidenum">
              <a:rPr lang="en-US" smtClean="0"/>
              <a:t>4</a:t>
            </a:fld>
            <a:endParaRPr lang="en-US"/>
          </a:p>
        </p:txBody>
      </p:sp>
    </p:spTree>
    <p:extLst>
      <p:ext uri="{BB962C8B-B14F-4D97-AF65-F5344CB8AC3E}">
        <p14:creationId xmlns:p14="http://schemas.microsoft.com/office/powerpoint/2010/main" val="963841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The purpose of this workflow is to move efficiently from millions of possible compounds to a small, realistic set of high-value additives. To achieve that, we designed a tiered filtering strategy. Starting from roughly five million molecules in PubChem, we filtered by charge state, chemical constraints, atomic composition, molecular weight, and hydrogen-bonding ability. Each step removes unqualified molecules, gradually shrinking the search space while enriching promising candidates for interface engineering and device testing.</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5</a:t>
            </a:fld>
            <a:endParaRPr lang="en-US"/>
          </a:p>
        </p:txBody>
      </p:sp>
    </p:spTree>
    <p:extLst>
      <p:ext uri="{BB962C8B-B14F-4D97-AF65-F5344CB8AC3E}">
        <p14:creationId xmlns:p14="http://schemas.microsoft.com/office/powerpoint/2010/main" val="124285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A2B8-11AD-6D9F-EC69-0A784DCF5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DE82C4-15CF-E707-D595-7BDB708C2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44B12B-6329-190F-F4C9-2E1BCD14EF40}"/>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On this slide, we visualize the feature distribution and design space of our candidate passivation molecules.</a:t>
            </a:r>
          </a:p>
          <a:p>
            <a:r>
              <a:rPr lang="en" altLang="zh-CN" sz="1200" kern="1200" dirty="0">
                <a:solidFill>
                  <a:schemeClr val="tx1"/>
                </a:solidFill>
                <a:effectLst/>
                <a:latin typeface="+mn-lt"/>
                <a:ea typeface="+mn-ea"/>
                <a:cs typeface="+mn-cs"/>
              </a:rPr>
              <a:t>Figure 1 shows molecular size. Most molecules are </a:t>
            </a:r>
            <a:r>
              <a:rPr lang="en" altLang="zh-CN" sz="1200" b="1" kern="1200" dirty="0">
                <a:solidFill>
                  <a:schemeClr val="tx1"/>
                </a:solidFill>
                <a:effectLst/>
                <a:latin typeface="+mn-lt"/>
                <a:ea typeface="+mn-ea"/>
                <a:cs typeface="+mn-cs"/>
              </a:rPr>
              <a:t>small to medium-sized</a:t>
            </a:r>
            <a:r>
              <a:rPr lang="en" altLang="zh-CN" sz="1200" kern="1200" dirty="0">
                <a:solidFill>
                  <a:schemeClr val="tx1"/>
                </a:solidFill>
                <a:effectLst/>
                <a:latin typeface="+mn-lt"/>
                <a:ea typeface="+mn-ea"/>
                <a:cs typeface="+mn-cs"/>
              </a:rPr>
              <a:t>, with exact mass mainly between about </a:t>
            </a:r>
            <a:r>
              <a:rPr lang="en" altLang="zh-CN" sz="1200" b="1" kern="1200" dirty="0">
                <a:solidFill>
                  <a:schemeClr val="tx1"/>
                </a:solidFill>
                <a:effectLst/>
                <a:latin typeface="+mn-lt"/>
                <a:ea typeface="+mn-ea"/>
                <a:cs typeface="+mn-cs"/>
              </a:rPr>
              <a:t>50 and 100 Daltons</a:t>
            </a:r>
            <a:r>
              <a:rPr lang="en" altLang="zh-CN" sz="1200" kern="1200" dirty="0">
                <a:solidFill>
                  <a:schemeClr val="tx1"/>
                </a:solidFill>
                <a:effectLst/>
                <a:latin typeface="+mn-lt"/>
                <a:ea typeface="+mn-ea"/>
                <a:cs typeface="+mn-cs"/>
              </a:rPr>
              <a:t>, which is suitable for forming compact passivation layers.</a:t>
            </a:r>
          </a:p>
          <a:p>
            <a:r>
              <a:rPr lang="en" altLang="zh-CN" sz="1200" kern="1200" dirty="0">
                <a:solidFill>
                  <a:schemeClr val="tx1"/>
                </a:solidFill>
                <a:effectLst/>
                <a:latin typeface="+mn-lt"/>
                <a:ea typeface="+mn-ea"/>
                <a:cs typeface="+mn-cs"/>
              </a:rPr>
              <a:t>Figure 2 shows hydrogen-bond donors and acceptors. Most molecules have </a:t>
            </a:r>
            <a:r>
              <a:rPr lang="en" altLang="zh-CN" sz="1200" b="1" kern="1200" dirty="0">
                <a:solidFill>
                  <a:schemeClr val="tx1"/>
                </a:solidFill>
                <a:effectLst/>
                <a:latin typeface="+mn-lt"/>
                <a:ea typeface="+mn-ea"/>
                <a:cs typeface="+mn-cs"/>
              </a:rPr>
              <a:t>one or two acceptor sites but almost no classical donors</a:t>
            </a:r>
            <a:r>
              <a:rPr lang="en" altLang="zh-CN" sz="1200" kern="1200" dirty="0">
                <a:solidFill>
                  <a:schemeClr val="tx1"/>
                </a:solidFill>
                <a:effectLst/>
                <a:latin typeface="+mn-lt"/>
                <a:ea typeface="+mn-ea"/>
                <a:cs typeface="+mn-cs"/>
              </a:rPr>
              <a:t>, reflecting a design bias towards </a:t>
            </a:r>
            <a:r>
              <a:rPr lang="en" altLang="zh-CN" sz="1200" b="1" kern="1200" dirty="0">
                <a:solidFill>
                  <a:schemeClr val="tx1"/>
                </a:solidFill>
                <a:effectLst/>
                <a:latin typeface="+mn-lt"/>
                <a:ea typeface="+mn-ea"/>
                <a:cs typeface="+mn-cs"/>
              </a:rPr>
              <a:t>neutral Lewis-base ligands</a:t>
            </a:r>
            <a:r>
              <a:rPr lang="en" altLang="zh-CN" sz="1200" kern="1200" dirty="0">
                <a:solidFill>
                  <a:schemeClr val="tx1"/>
                </a:solidFill>
                <a:effectLst/>
                <a:latin typeface="+mn-lt"/>
                <a:ea typeface="+mn-ea"/>
                <a:cs typeface="+mn-cs"/>
              </a:rPr>
              <a:t> that coordinate under-coordinated lead ions without introducing many protic groups.</a:t>
            </a:r>
          </a:p>
          <a:p>
            <a:r>
              <a:rPr lang="en" altLang="zh-CN" sz="1200" kern="1200" dirty="0">
                <a:solidFill>
                  <a:schemeClr val="tx1"/>
                </a:solidFill>
                <a:effectLst/>
                <a:latin typeface="+mn-lt"/>
                <a:ea typeface="+mn-ea"/>
                <a:cs typeface="+mn-cs"/>
              </a:rPr>
              <a:t>Figure 3 plots </a:t>
            </a:r>
            <a:r>
              <a:rPr lang="en" altLang="zh-CN" sz="1200" b="1" kern="1200" dirty="0">
                <a:solidFill>
                  <a:schemeClr val="tx1"/>
                </a:solidFill>
                <a:effectLst/>
                <a:latin typeface="+mn-lt"/>
                <a:ea typeface="+mn-ea"/>
                <a:cs typeface="+mn-cs"/>
              </a:rPr>
              <a:t>exact mass</a:t>
            </a:r>
            <a:r>
              <a:rPr lang="en" altLang="zh-CN" sz="1200" kern="1200" dirty="0">
                <a:solidFill>
                  <a:schemeClr val="tx1"/>
                </a:solidFill>
                <a:effectLst/>
                <a:latin typeface="+mn-lt"/>
                <a:ea typeface="+mn-ea"/>
                <a:cs typeface="+mn-cs"/>
              </a:rPr>
              <a:t> against </a:t>
            </a:r>
            <a:r>
              <a:rPr lang="en" altLang="zh-CN" sz="1200" b="1" kern="1200" dirty="0">
                <a:solidFill>
                  <a:schemeClr val="tx1"/>
                </a:solidFill>
                <a:effectLst/>
                <a:latin typeface="+mn-lt"/>
                <a:ea typeface="+mn-ea"/>
                <a:cs typeface="+mn-cs"/>
              </a:rPr>
              <a:t>topological polar surface area</a:t>
            </a:r>
            <a:r>
              <a:rPr lang="en" altLang="zh-CN" sz="1200" kern="1200" dirty="0">
                <a:solidFill>
                  <a:schemeClr val="tx1"/>
                </a:solidFill>
                <a:effectLst/>
                <a:latin typeface="+mn-lt"/>
                <a:ea typeface="+mn-ea"/>
                <a:cs typeface="+mn-cs"/>
              </a:rPr>
              <a:t>. These axes define a </a:t>
            </a:r>
            <a:r>
              <a:rPr lang="en" altLang="zh-CN" sz="1200" b="1" kern="1200" dirty="0">
                <a:solidFill>
                  <a:schemeClr val="tx1"/>
                </a:solidFill>
                <a:effectLst/>
                <a:latin typeface="+mn-lt"/>
                <a:ea typeface="+mn-ea"/>
                <a:cs typeface="+mn-cs"/>
              </a:rPr>
              <a:t>size–polarity design space</a:t>
            </a:r>
            <a:r>
              <a:rPr lang="en" altLang="zh-CN" sz="1200" kern="1200" dirty="0">
                <a:solidFill>
                  <a:schemeClr val="tx1"/>
                </a:solidFill>
                <a:effectLst/>
                <a:latin typeface="+mn-lt"/>
                <a:ea typeface="+mn-ea"/>
                <a:cs typeface="+mn-cs"/>
              </a:rPr>
              <a:t>. We cover both non-polar and moderately polar molecules across a range of sizes, so the model can learn how binding energy depends on a combination of </a:t>
            </a:r>
            <a:r>
              <a:rPr lang="en" altLang="zh-CN" sz="1200" b="1" kern="1200" dirty="0">
                <a:solidFill>
                  <a:schemeClr val="tx1"/>
                </a:solidFill>
                <a:effectLst/>
                <a:latin typeface="+mn-lt"/>
                <a:ea typeface="+mn-ea"/>
                <a:cs typeface="+mn-cs"/>
              </a:rPr>
              <a:t>contact area and polarity</a:t>
            </a:r>
            <a:r>
              <a:rPr lang="en" altLang="zh-CN" sz="1200" kern="1200" dirty="0">
                <a:solidFill>
                  <a:schemeClr val="tx1"/>
                </a:solidFill>
                <a:effectLst/>
                <a:latin typeface="+mn-lt"/>
                <a:ea typeface="+mn-ea"/>
                <a:cs typeface="+mn-cs"/>
              </a:rPr>
              <a:t> at the perovskite interface.</a:t>
            </a:r>
          </a:p>
          <a:p>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22D87D0-9B18-F08C-2484-86B001C30835}"/>
              </a:ext>
            </a:extLst>
          </p:cNvPr>
          <p:cNvSpPr>
            <a:spLocks noGrp="1"/>
          </p:cNvSpPr>
          <p:nvPr>
            <p:ph type="sldNum" sz="quarter" idx="5"/>
          </p:nvPr>
        </p:nvSpPr>
        <p:spPr/>
        <p:txBody>
          <a:bodyPr/>
          <a:lstStyle/>
          <a:p>
            <a:fld id="{B7924F22-AC36-4F1B-B78D-11CE21608D0F}" type="slidenum">
              <a:rPr lang="en-US" smtClean="0"/>
              <a:t>6</a:t>
            </a:fld>
            <a:endParaRPr lang="en-US"/>
          </a:p>
        </p:txBody>
      </p:sp>
    </p:spTree>
    <p:extLst>
      <p:ext uri="{BB962C8B-B14F-4D97-AF65-F5344CB8AC3E}">
        <p14:creationId xmlns:p14="http://schemas.microsoft.com/office/powerpoint/2010/main" val="2007467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9A616-C6BF-3ABD-1480-D7B1ACAA4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FBCD70-EF41-3768-B0CF-5174607891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833DC1-65E7-2159-F3B8-4F40863F3901}"/>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F9C30E8-8DA6-8E2D-0D01-556BFEA81135}"/>
              </a:ext>
            </a:extLst>
          </p:cNvPr>
          <p:cNvSpPr>
            <a:spLocks noGrp="1"/>
          </p:cNvSpPr>
          <p:nvPr>
            <p:ph type="sldNum" sz="quarter" idx="5"/>
          </p:nvPr>
        </p:nvSpPr>
        <p:spPr/>
        <p:txBody>
          <a:bodyPr/>
          <a:lstStyle/>
          <a:p>
            <a:fld id="{B7924F22-AC36-4F1B-B78D-11CE21608D0F}" type="slidenum">
              <a:rPr lang="en-US" smtClean="0"/>
              <a:t>7</a:t>
            </a:fld>
            <a:endParaRPr lang="en-US"/>
          </a:p>
        </p:txBody>
      </p:sp>
    </p:spTree>
    <p:extLst>
      <p:ext uri="{BB962C8B-B14F-4D97-AF65-F5344CB8AC3E}">
        <p14:creationId xmlns:p14="http://schemas.microsoft.com/office/powerpoint/2010/main" val="166638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CCDC-AB87-98B8-4F7B-EB5C20F73D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B6174A-4F0A-6C66-4AEA-9D88CB2C8A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650EF0-681C-E70A-FD72-C849A4CF2E12}"/>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1B5D944-56F8-EAC3-2AFF-66D7279EE1A6}"/>
              </a:ext>
            </a:extLst>
          </p:cNvPr>
          <p:cNvSpPr>
            <a:spLocks noGrp="1"/>
          </p:cNvSpPr>
          <p:nvPr>
            <p:ph type="sldNum" sz="quarter" idx="5"/>
          </p:nvPr>
        </p:nvSpPr>
        <p:spPr/>
        <p:txBody>
          <a:bodyPr/>
          <a:lstStyle/>
          <a:p>
            <a:fld id="{B7924F22-AC36-4F1B-B78D-11CE21608D0F}" type="slidenum">
              <a:rPr lang="en-US" smtClean="0"/>
              <a:t>8</a:t>
            </a:fld>
            <a:endParaRPr lang="en-US"/>
          </a:p>
        </p:txBody>
      </p:sp>
    </p:spTree>
    <p:extLst>
      <p:ext uri="{BB962C8B-B14F-4D97-AF65-F5344CB8AC3E}">
        <p14:creationId xmlns:p14="http://schemas.microsoft.com/office/powerpoint/2010/main" val="349410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7A2B8-11AD-6D9F-EC69-0A784DCF5E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DE82C4-15CF-E707-D595-7BDB708C2C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44B12B-6329-190F-F4C9-2E1BCD14EF40}"/>
              </a:ext>
            </a:extLst>
          </p:cNvPr>
          <p:cNvSpPr>
            <a:spLocks noGrp="1"/>
          </p:cNvSpPr>
          <p:nvPr>
            <p:ph type="body" idx="1"/>
          </p:nvPr>
        </p:nvSpPr>
        <p:spPr/>
        <p:txBody>
          <a:bodyPr/>
          <a:lstStyle/>
          <a:p>
            <a:endParaRPr lang="e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22D87D0-9B18-F08C-2484-86B001C30835}"/>
              </a:ext>
            </a:extLst>
          </p:cNvPr>
          <p:cNvSpPr>
            <a:spLocks noGrp="1"/>
          </p:cNvSpPr>
          <p:nvPr>
            <p:ph type="sldNum" sz="quarter" idx="5"/>
          </p:nvPr>
        </p:nvSpPr>
        <p:spPr/>
        <p:txBody>
          <a:bodyPr/>
          <a:lstStyle/>
          <a:p>
            <a:fld id="{B7924F22-AC36-4F1B-B78D-11CE21608D0F}" type="slidenum">
              <a:rPr lang="en-US" smtClean="0"/>
              <a:t>9</a:t>
            </a:fld>
            <a:endParaRPr lang="en-US"/>
          </a:p>
        </p:txBody>
      </p:sp>
    </p:spTree>
    <p:extLst>
      <p:ext uri="{BB962C8B-B14F-4D97-AF65-F5344CB8AC3E}">
        <p14:creationId xmlns:p14="http://schemas.microsoft.com/office/powerpoint/2010/main" val="2007467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HK"/>
          </a:p>
        </p:txBody>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7924F22-AC36-4F1B-B78D-11CE21608D0F}"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7005-5889-9BBD-6A83-BE818300AF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80A9B-E1E9-8270-0163-A2EA764D988B}"/>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02E5A3B6-4F13-FDB4-255B-B00686F7A870}"/>
              </a:ext>
            </a:extLst>
          </p:cNvPr>
          <p:cNvSpPr>
            <a:spLocks noGrp="1"/>
          </p:cNvSpPr>
          <p:nvPr>
            <p:ph type="body" idx="1"/>
          </p:nvPr>
        </p:nvSpPr>
        <p:spPr/>
        <p:txBody>
          <a:bodyPr/>
          <a:lstStyle/>
          <a:p>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C7D36F1-16FF-18D4-A681-B3E2341FB194}"/>
              </a:ext>
            </a:extLst>
          </p:cNvPr>
          <p:cNvSpPr>
            <a:spLocks noGrp="1"/>
          </p:cNvSpPr>
          <p:nvPr>
            <p:ph type="sldNum" sz="quarter" idx="5"/>
          </p:nvPr>
        </p:nvSpPr>
        <p:spPr/>
        <p:txBody>
          <a:bodyPr/>
          <a:lstStyle/>
          <a:p>
            <a:fld id="{B7924F22-AC36-4F1B-B78D-11CE21608D0F}" type="slidenum">
              <a:rPr lang="en-US" smtClean="0"/>
              <a:t>11</a:t>
            </a:fld>
            <a:endParaRPr lang="en-US"/>
          </a:p>
        </p:txBody>
      </p:sp>
    </p:spTree>
    <p:extLst>
      <p:ext uri="{BB962C8B-B14F-4D97-AF65-F5344CB8AC3E}">
        <p14:creationId xmlns:p14="http://schemas.microsoft.com/office/powerpoint/2010/main" val="179038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39B0-939D-B770-82F9-534A9EE57A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297349-A3B9-6532-4AE3-9C81E6539840}"/>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BB840C73-214C-2CEC-1632-299076582006}"/>
              </a:ext>
            </a:extLst>
          </p:cNvPr>
          <p:cNvSpPr>
            <a:spLocks noGrp="1"/>
          </p:cNvSpPr>
          <p:nvPr>
            <p:ph type="body" idx="1"/>
          </p:nvPr>
        </p:nvSpPr>
        <p:spPr/>
        <p:txBody>
          <a:bodyPr/>
          <a:lstStyle/>
          <a:p>
            <a:pPr rtl="0" fontAlgn="base"/>
            <a:endParaRPr lang="en-US" altLang="zh-CN" sz="18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D9D990A-8DCC-DC4B-41A0-D976FA52B194}"/>
              </a:ext>
            </a:extLst>
          </p:cNvPr>
          <p:cNvSpPr>
            <a:spLocks noGrp="1"/>
          </p:cNvSpPr>
          <p:nvPr>
            <p:ph type="sldNum" sz="quarter" idx="5"/>
          </p:nvPr>
        </p:nvSpPr>
        <p:spPr/>
        <p:txBody>
          <a:bodyPr/>
          <a:lstStyle/>
          <a:p>
            <a:fld id="{B7924F22-AC36-4F1B-B78D-11CE21608D0F}" type="slidenum">
              <a:rPr lang="en-US" smtClean="0"/>
              <a:t>12</a:t>
            </a:fld>
            <a:endParaRPr lang="en-US"/>
          </a:p>
        </p:txBody>
      </p:sp>
    </p:spTree>
    <p:extLst>
      <p:ext uri="{BB962C8B-B14F-4D97-AF65-F5344CB8AC3E}">
        <p14:creationId xmlns:p14="http://schemas.microsoft.com/office/powerpoint/2010/main" val="1885259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91A4-A9AD-A49E-AE97-10D0BEAB7A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3E722D-C298-E416-AA1D-7882CE7D4F8F}"/>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7B9A246B-68E3-355F-DDF5-CA0B8FAA5648}"/>
              </a:ext>
            </a:extLst>
          </p:cNvPr>
          <p:cNvSpPr>
            <a:spLocks noGrp="1"/>
          </p:cNvSpPr>
          <p:nvPr>
            <p:ph type="body" idx="1"/>
          </p:nvPr>
        </p:nvSpPr>
        <p:spPr/>
        <p:txBody>
          <a:bodyPr/>
          <a:lstStyle/>
          <a:p>
            <a:pPr rtl="0" fontAlgn="base"/>
            <a:endParaRPr lang="zh-CN" altLang="zh-CN" sz="18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FE8C163-6A4C-D48A-CF98-E56143B1F212}"/>
              </a:ext>
            </a:extLst>
          </p:cNvPr>
          <p:cNvSpPr>
            <a:spLocks noGrp="1"/>
          </p:cNvSpPr>
          <p:nvPr>
            <p:ph type="sldNum" sz="quarter" idx="5"/>
          </p:nvPr>
        </p:nvSpPr>
        <p:spPr/>
        <p:txBody>
          <a:bodyPr/>
          <a:lstStyle/>
          <a:p>
            <a:fld id="{B7924F22-AC36-4F1B-B78D-11CE21608D0F}" type="slidenum">
              <a:rPr lang="en-US" smtClean="0"/>
              <a:t>13</a:t>
            </a:fld>
            <a:endParaRPr lang="en-US"/>
          </a:p>
        </p:txBody>
      </p:sp>
    </p:spTree>
    <p:extLst>
      <p:ext uri="{BB962C8B-B14F-4D97-AF65-F5344CB8AC3E}">
        <p14:creationId xmlns:p14="http://schemas.microsoft.com/office/powerpoint/2010/main" val="1719617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6CC3-ECAD-F791-AC29-5EDFF683B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118826-D586-FB4F-0447-5796F95D9827}"/>
              </a:ext>
            </a:extLst>
          </p:cNvPr>
          <p:cNvSpPr>
            <a:spLocks noGrp="1" noRot="1" noChangeAspect="1"/>
          </p:cNvSpPr>
          <p:nvPr>
            <p:ph type="sldImg"/>
          </p:nvPr>
        </p:nvSpPr>
        <p:spPr/>
        <p:txBody>
          <a:bodyPr/>
          <a:lstStyle/>
          <a:p>
            <a:endParaRPr lang="en-HK"/>
          </a:p>
        </p:txBody>
      </p:sp>
      <p:sp>
        <p:nvSpPr>
          <p:cNvPr id="3" name="备注占位符 2">
            <a:extLst>
              <a:ext uri="{FF2B5EF4-FFF2-40B4-BE49-F238E27FC236}">
                <a16:creationId xmlns:a16="http://schemas.microsoft.com/office/drawing/2014/main" id="{2128AC5E-3353-775E-2EFF-1D3C67C7B8CE}"/>
              </a:ext>
            </a:extLst>
          </p:cNvPr>
          <p:cNvSpPr>
            <a:spLocks noGrp="1"/>
          </p:cNvSpPr>
          <p:nvPr>
            <p:ph type="body" idx="1"/>
          </p:nvPr>
        </p:nvSpPr>
        <p:spPr/>
        <p:txBody>
          <a:bodyPr/>
          <a:lstStyle/>
          <a:p>
            <a:endParaRPr lang="en-US" altLang="zh-CN" sz="1800" dirty="0"/>
          </a:p>
        </p:txBody>
      </p:sp>
      <p:sp>
        <p:nvSpPr>
          <p:cNvPr id="4" name="灯片编号占位符 3">
            <a:extLst>
              <a:ext uri="{FF2B5EF4-FFF2-40B4-BE49-F238E27FC236}">
                <a16:creationId xmlns:a16="http://schemas.microsoft.com/office/drawing/2014/main" id="{A71E646B-82D3-7B8E-47B8-306771C8BE6F}"/>
              </a:ext>
            </a:extLst>
          </p:cNvPr>
          <p:cNvSpPr>
            <a:spLocks noGrp="1"/>
          </p:cNvSpPr>
          <p:nvPr>
            <p:ph type="sldNum" sz="quarter" idx="5"/>
          </p:nvPr>
        </p:nvSpPr>
        <p:spPr/>
        <p:txBody>
          <a:bodyPr/>
          <a:lstStyle/>
          <a:p>
            <a:fld id="{B7924F22-AC36-4F1B-B78D-11CE21608D0F}" type="slidenum">
              <a:rPr lang="en-US" smtClean="0"/>
              <a:t>14</a:t>
            </a:fld>
            <a:endParaRPr lang="en-US"/>
          </a:p>
        </p:txBody>
      </p:sp>
    </p:spTree>
    <p:extLst>
      <p:ext uri="{BB962C8B-B14F-4D97-AF65-F5344CB8AC3E}">
        <p14:creationId xmlns:p14="http://schemas.microsoft.com/office/powerpoint/2010/main" val="2067465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F942-0E60-ACD6-5A41-41BE18AF4B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ACFEF8-9C88-DFAC-C07B-9492D86368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65CF0F-C556-88DD-54F1-D647AD7E435A}"/>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364474E-F29C-D52D-38E0-85FF50AE8344}"/>
              </a:ext>
            </a:extLst>
          </p:cNvPr>
          <p:cNvSpPr>
            <a:spLocks noGrp="1"/>
          </p:cNvSpPr>
          <p:nvPr>
            <p:ph type="sldNum" sz="quarter" idx="5"/>
          </p:nvPr>
        </p:nvSpPr>
        <p:spPr/>
        <p:txBody>
          <a:bodyPr/>
          <a:lstStyle/>
          <a:p>
            <a:fld id="{B7924F22-AC36-4F1B-B78D-11CE21608D0F}" type="slidenum">
              <a:rPr lang="en-US" smtClean="0"/>
              <a:t>15</a:t>
            </a:fld>
            <a:endParaRPr lang="en-US"/>
          </a:p>
        </p:txBody>
      </p:sp>
    </p:spTree>
    <p:extLst>
      <p:ext uri="{BB962C8B-B14F-4D97-AF65-F5344CB8AC3E}">
        <p14:creationId xmlns:p14="http://schemas.microsoft.com/office/powerpoint/2010/main" val="764206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16</a:t>
            </a:fld>
            <a:endParaRPr lang="en-US"/>
          </a:p>
        </p:txBody>
      </p:sp>
    </p:spTree>
    <p:extLst>
      <p:ext uri="{BB962C8B-B14F-4D97-AF65-F5344CB8AC3E}">
        <p14:creationId xmlns:p14="http://schemas.microsoft.com/office/powerpoint/2010/main" val="1233285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17</a:t>
            </a:fld>
            <a:endParaRPr lang="en-US"/>
          </a:p>
        </p:txBody>
      </p:sp>
    </p:spTree>
    <p:extLst>
      <p:ext uri="{BB962C8B-B14F-4D97-AF65-F5344CB8AC3E}">
        <p14:creationId xmlns:p14="http://schemas.microsoft.com/office/powerpoint/2010/main" val="3326749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AB526-07FE-F87D-9A6D-CFEA50A2B6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E3FD10-D76F-B8B3-F32E-91DFEDE5A0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880EAA-FBD8-532C-C423-FE0CF0410C4D}"/>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Our workflow begins with an initial search across a large molecule database, followed by high-throughput calculations to estimate binding potential. We then perform Gaussian-based quantum calculations to extract electronic descriptors, which are used as inputs. After training, the model highlights top candidates for further electronic analysis and final experimental validation.</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075CD42-4D56-747C-637C-3C8178821CC3}"/>
              </a:ext>
            </a:extLst>
          </p:cNvPr>
          <p:cNvSpPr>
            <a:spLocks noGrp="1"/>
          </p:cNvSpPr>
          <p:nvPr>
            <p:ph type="sldNum" sz="quarter" idx="5"/>
          </p:nvPr>
        </p:nvSpPr>
        <p:spPr/>
        <p:txBody>
          <a:bodyPr/>
          <a:lstStyle/>
          <a:p>
            <a:fld id="{B7924F22-AC36-4F1B-B78D-11CE21608D0F}" type="slidenum">
              <a:rPr lang="en-US" smtClean="0"/>
              <a:t>20</a:t>
            </a:fld>
            <a:endParaRPr lang="en-US"/>
          </a:p>
        </p:txBody>
      </p:sp>
    </p:spTree>
    <p:extLst>
      <p:ext uri="{BB962C8B-B14F-4D97-AF65-F5344CB8AC3E}">
        <p14:creationId xmlns:p14="http://schemas.microsoft.com/office/powerpoint/2010/main" val="2898785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分析了效果最好的模型预测的结果绝对误差大于</a:t>
            </a:r>
            <a:r>
              <a:rPr lang="en-HK" altLang="zh-CN" dirty="0"/>
              <a:t>0.2</a:t>
            </a:r>
            <a:r>
              <a:rPr lang="zh-CN" altLang="en-US" dirty="0"/>
              <a:t>的</a:t>
            </a:r>
            <a:r>
              <a:rPr lang="en-HK" altLang="zh-CN" dirty="0"/>
              <a:t>Special Case</a:t>
            </a:r>
            <a:r>
              <a:rPr lang="zh-CN" altLang="en-US" dirty="0"/>
              <a:t>进行分析。</a:t>
            </a:r>
            <a:endParaRPr lang="en-HK" altLang="zh-CN" dirty="0"/>
          </a:p>
          <a:p>
            <a:pPr marL="285750" indent="-285750">
              <a:buFont typeface="Arial" panose="020B0604020202020204" pitchFamily="34" charset="0"/>
              <a:buChar char="•"/>
            </a:pPr>
            <a:r>
              <a:rPr lang="en-HK" dirty="0"/>
              <a:t>Ionic pairs,</a:t>
            </a:r>
            <a:r>
              <a:rPr lang="zh-CN" altLang="en-US" dirty="0"/>
              <a:t> </a:t>
            </a:r>
            <a:r>
              <a:rPr lang="en-HK" dirty="0"/>
              <a:t>Highly charged, non-neutral structures </a:t>
            </a:r>
          </a:p>
          <a:p>
            <a:pPr marL="285750" indent="-285750">
              <a:buFont typeface="Arial" panose="020B0604020202020204" pitchFamily="34" charset="0"/>
              <a:buChar char="•"/>
            </a:pPr>
            <a:endParaRPr lang="en-HK" dirty="0"/>
          </a:p>
          <a:p>
            <a:pPr marL="285750" indent="-285750">
              <a:buFont typeface="Arial" panose="020B0604020202020204" pitchFamily="34" charset="0"/>
              <a:buChar char="•"/>
            </a:pPr>
            <a:r>
              <a:rPr lang="en-HK" dirty="0"/>
              <a:t>Presence of atypical chemical elements/groups (e.g., boron-based anions, halogens</a:t>
            </a:r>
            <a:r>
              <a:rPr lang="zh-CN" altLang="en-US" dirty="0"/>
              <a:t>：</a:t>
            </a:r>
            <a:r>
              <a:rPr lang="en-HK" dirty="0"/>
              <a:t>[O-]I、[BH3-]I)</a:t>
            </a:r>
          </a:p>
          <a:p>
            <a:endParaRPr lang="en-HK" altLang="zh-CN" dirty="0"/>
          </a:p>
          <a:p>
            <a:endParaRPr lang="en-HK" dirty="0"/>
          </a:p>
        </p:txBody>
      </p:sp>
      <p:sp>
        <p:nvSpPr>
          <p:cNvPr id="4" name="灯片编号占位符 3"/>
          <p:cNvSpPr>
            <a:spLocks noGrp="1"/>
          </p:cNvSpPr>
          <p:nvPr>
            <p:ph type="sldNum" sz="quarter" idx="5"/>
          </p:nvPr>
        </p:nvSpPr>
        <p:spPr/>
        <p:txBody>
          <a:bodyPr/>
          <a:lstStyle/>
          <a:p>
            <a:fld id="{B7924F22-AC36-4F1B-B78D-11CE21608D0F}" type="slidenum">
              <a:rPr lang="en-US" smtClean="0"/>
              <a:t>21</a:t>
            </a:fld>
            <a:endParaRPr lang="en-US"/>
          </a:p>
        </p:txBody>
      </p:sp>
    </p:spTree>
    <p:extLst>
      <p:ext uri="{BB962C8B-B14F-4D97-AF65-F5344CB8AC3E}">
        <p14:creationId xmlns:p14="http://schemas.microsoft.com/office/powerpoint/2010/main" val="2864309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1A322-6767-453D-69C8-FA879215B2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CA25A8-0614-F3C8-9053-76CF6A43CA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4793CE-1CE7-9712-BA44-93B1C8FD0317}"/>
              </a:ext>
            </a:extLst>
          </p:cNvPr>
          <p:cNvSpPr>
            <a:spLocks noGrp="1"/>
          </p:cNvSpPr>
          <p:nvPr>
            <p:ph type="body" idx="1"/>
          </p:nvPr>
        </p:nvSpPr>
        <p:spPr/>
        <p:txBody>
          <a:bodyPr/>
          <a:lstStyle/>
          <a:p>
            <a:r>
              <a:rPr lang="zh-CN" altLang="en-US" dirty="0"/>
              <a:t>分析了效果最好的模型预测的结果绝对误差大于</a:t>
            </a:r>
            <a:r>
              <a:rPr lang="en-HK" altLang="zh-CN" dirty="0"/>
              <a:t>0.2</a:t>
            </a:r>
            <a:r>
              <a:rPr lang="zh-CN" altLang="en-US" dirty="0"/>
              <a:t>的</a:t>
            </a:r>
            <a:r>
              <a:rPr lang="en-HK" altLang="zh-CN" dirty="0"/>
              <a:t>Special Case</a:t>
            </a:r>
            <a:r>
              <a:rPr lang="zh-CN" altLang="en-US" dirty="0"/>
              <a:t>进行分析。</a:t>
            </a:r>
            <a:endParaRPr lang="en-HK" altLang="zh-CN" dirty="0"/>
          </a:p>
          <a:p>
            <a:endParaRPr lang="en-HK" dirty="0"/>
          </a:p>
        </p:txBody>
      </p:sp>
      <p:sp>
        <p:nvSpPr>
          <p:cNvPr id="4" name="灯片编号占位符 3">
            <a:extLst>
              <a:ext uri="{FF2B5EF4-FFF2-40B4-BE49-F238E27FC236}">
                <a16:creationId xmlns:a16="http://schemas.microsoft.com/office/drawing/2014/main" id="{7DCDEEDD-1A49-4112-72C0-59D506689E02}"/>
              </a:ext>
            </a:extLst>
          </p:cNvPr>
          <p:cNvSpPr>
            <a:spLocks noGrp="1"/>
          </p:cNvSpPr>
          <p:nvPr>
            <p:ph type="sldNum" sz="quarter" idx="5"/>
          </p:nvPr>
        </p:nvSpPr>
        <p:spPr/>
        <p:txBody>
          <a:bodyPr/>
          <a:lstStyle/>
          <a:p>
            <a:fld id="{B7924F22-AC36-4F1B-B78D-11CE21608D0F}" type="slidenum">
              <a:rPr lang="en-US" smtClean="0"/>
              <a:t>22</a:t>
            </a:fld>
            <a:endParaRPr lang="en-US"/>
          </a:p>
        </p:txBody>
      </p:sp>
    </p:spTree>
    <p:extLst>
      <p:ext uri="{BB962C8B-B14F-4D97-AF65-F5344CB8AC3E}">
        <p14:creationId xmlns:p14="http://schemas.microsoft.com/office/powerpoint/2010/main" val="291412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924F22-AC36-4F1B-B78D-11CE21608D0F}" type="slidenum">
              <a:rPr lang="en-US" smtClean="0"/>
              <a:t>26</a:t>
            </a:fld>
            <a:endParaRPr lang="en-US"/>
          </a:p>
        </p:txBody>
      </p:sp>
    </p:spTree>
    <p:extLst>
      <p:ext uri="{BB962C8B-B14F-4D97-AF65-F5344CB8AC3E}">
        <p14:creationId xmlns:p14="http://schemas.microsoft.com/office/powerpoint/2010/main" val="2902943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25873">
              <a:srgbClr val="FFFFFF"/>
            </a:gs>
            <a:gs pos="100000">
              <a:srgbClr val="FFB100"/>
            </a:gs>
            <a:gs pos="49000">
              <a:srgbClr val="FFFFFF"/>
            </a:gs>
            <a:gs pos="0">
              <a:schemeClr val="bg1"/>
            </a:gs>
            <a:gs pos="70000">
              <a:schemeClr val="bg1">
                <a:alpha val="50000"/>
              </a:schemeClr>
            </a:gs>
          </a:gsLst>
          <a:lin ang="10800000" scaled="1"/>
        </a:gradFill>
        <a:effectLst/>
      </p:bgPr>
    </p:bg>
    <p:spTree>
      <p:nvGrpSpPr>
        <p:cNvPr id="1" name=""/>
        <p:cNvGrpSpPr/>
        <p:nvPr/>
      </p:nvGrpSpPr>
      <p:grpSpPr>
        <a:xfrm>
          <a:off x="0" y="0"/>
          <a:ext cx="0" cy="0"/>
          <a:chOff x="0" y="0"/>
          <a:chExt cx="0" cy="0"/>
        </a:xfrm>
      </p:grpSpPr>
      <p:pic>
        <p:nvPicPr>
          <p:cNvPr id="3" name="图片 2" descr="Monocrystalline-Solar-Panels_compressed"/>
          <p:cNvPicPr>
            <a:picLocks noChangeAspect="1"/>
          </p:cNvPicPr>
          <p:nvPr userDrawn="1"/>
        </p:nvPicPr>
        <p:blipFill>
          <a:blip r:embed="rId2"/>
          <a:stretch>
            <a:fillRect/>
          </a:stretch>
        </p:blipFill>
        <p:spPr>
          <a:xfrm>
            <a:off x="-97790" y="-16510"/>
            <a:ext cx="12285345" cy="6884035"/>
          </a:xfrm>
          <a:prstGeom prst="rect">
            <a:avLst/>
          </a:prstGeom>
        </p:spPr>
      </p:pic>
      <p:sp>
        <p:nvSpPr>
          <p:cNvPr id="14" name="矩形 13"/>
          <p:cNvSpPr/>
          <p:nvPr userDrawn="1"/>
        </p:nvSpPr>
        <p:spPr>
          <a:xfrm rot="10800000">
            <a:off x="-97155" y="-59690"/>
            <a:ext cx="9760585" cy="6977380"/>
          </a:xfrm>
          <a:prstGeom prst="rect">
            <a:avLst/>
          </a:prstGeom>
          <a:gradFill flip="none" rotWithShape="1">
            <a:gsLst>
              <a:gs pos="100000">
                <a:srgbClr val="E3E9F1"/>
              </a:gs>
              <a:gs pos="57000">
                <a:srgbClr val="E3E9F1">
                  <a:alpha val="95000"/>
                </a:srgbClr>
              </a:gs>
              <a:gs pos="0">
                <a:srgbClr val="E3E9F1">
                  <a:alpha val="0"/>
                </a:srgbClr>
              </a:gs>
              <a:gs pos="28718">
                <a:srgbClr val="E3E9F1">
                  <a:alpha val="8000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7F715E-B9BC-4920-AF97-2CBE5421FD71}" type="datetime1">
              <a:rPr lang="en-US" smtClean="0"/>
              <a:t>5/3/26</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a:xfrm>
            <a:off x="9355756" y="6356350"/>
            <a:ext cx="2743200" cy="365125"/>
          </a:xfrm>
        </p:spPr>
        <p:txBody>
          <a:bodyPr/>
          <a:lstStyle>
            <a:lvl1pPr>
              <a:defRPr>
                <a:latin typeface="Segoe UI Black" panose="020B0A02040204020203" pitchFamily="34" charset="0"/>
              </a:defRPr>
            </a:lvl1pPr>
          </a:lstStyle>
          <a:p>
            <a:fld id="{5A846D4C-743D-4A62-AF1E-2CABDD37274B}" type="slidenum">
              <a:rPr lang="en-US" smtClean="0"/>
              <a:t>‹#›</a:t>
            </a:fld>
            <a:endParaRPr lang="en-US"/>
          </a:p>
        </p:txBody>
      </p:sp>
      <p:sp>
        <p:nvSpPr>
          <p:cNvPr id="8" name="矩形 7"/>
          <p:cNvSpPr/>
          <p:nvPr userDrawn="1"/>
        </p:nvSpPr>
        <p:spPr>
          <a:xfrm>
            <a:off x="0" y="269507"/>
            <a:ext cx="273652" cy="644885"/>
          </a:xfrm>
          <a:prstGeom prst="rect">
            <a:avLst/>
          </a:prstGeom>
          <a:solidFill>
            <a:srgbClr val="FFB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图片 10" descr="蓝色的标志&#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86762" y="288392"/>
            <a:ext cx="2512194" cy="607114"/>
          </a:xfrm>
          <a:prstGeom prst="rect">
            <a:avLst/>
          </a:prstGeom>
        </p:spPr>
      </p:pic>
      <p:sp>
        <p:nvSpPr>
          <p:cNvPr id="5" name="矩形 4"/>
          <p:cNvSpPr/>
          <p:nvPr userDrawn="1"/>
        </p:nvSpPr>
        <p:spPr>
          <a:xfrm>
            <a:off x="1" y="0"/>
            <a:ext cx="12192000" cy="136525"/>
          </a:xfrm>
          <a:prstGeom prst="rect">
            <a:avLst/>
          </a:prstGeom>
          <a:solidFill>
            <a:srgbClr val="0038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35243350-28A3-4E9B-8585-9E3E5C9FF4B6}"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F6FAACB-29B3-4E00-9D22-59E10261C081}"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38B5EB14-0563-4280-8D48-313A4772812E}"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1987BB1F-A91B-4738-887E-53B2D9EAA4D7}" type="datetime1">
              <a:rPr lang="en-US" smtClean="0"/>
              <a:t>5/3/26</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A205A857-6E48-48CD-85CA-7A5FEE1815B6}" type="datetime1">
              <a:rPr lang="en-US" smtClean="0"/>
              <a:t>5/3/26</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8A3D1D0-CE50-42E2-B3B4-191C4C680BA1}"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744BA-D99B-47EE-B781-6879D8BD01B7}" type="datetime1">
              <a:rPr lang="en-US" smtClean="0"/>
              <a:t>5/3/26</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59640CBA-2D95-4C76-878F-FDA7AA21CCFB}"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688BC8E1-45D7-4A99-B4D4-D0AC2DC7D69D}" type="datetime1">
              <a:rPr lang="en-US" smtClean="0"/>
              <a:t>5/3/26</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5A846D4C-743D-4A62-AF1E-2CABDD37274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9B5F7D-8FAF-452F-95ED-71D77532267E}" type="datetime1">
              <a:rPr lang="en-US" smtClean="0"/>
              <a:t>5/3/26</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846D4C-743D-4A62-AF1E-2CABDD37274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DCF3894-F3A4-7A66-993E-0F8CED1E9AF5}"/>
              </a:ext>
            </a:extLst>
          </p:cNvPr>
          <p:cNvSpPr txBox="1"/>
          <p:nvPr/>
        </p:nvSpPr>
        <p:spPr>
          <a:xfrm>
            <a:off x="100094" y="1751906"/>
            <a:ext cx="7265324" cy="2677656"/>
          </a:xfrm>
          <a:prstGeom prst="rect">
            <a:avLst/>
          </a:prstGeom>
          <a:noFill/>
        </p:spPr>
        <p:txBody>
          <a:bodyPr wrap="square" rtlCol="0">
            <a:spAutoFit/>
          </a:bodyPr>
          <a:lstStyle/>
          <a:p>
            <a:pPr algn="ctr"/>
            <a:r>
              <a:rPr lang="en-US" altLang="zh-CN" sz="4200" b="1" dirty="0">
                <a:latin typeface="Arial" panose="020B0604020202020204" pitchFamily="34" charset="0"/>
                <a:ea typeface="Arial Unicode MS" panose="020B0604020202020204" pitchFamily="34" charset="-122"/>
                <a:cs typeface="Arial" panose="020B0604020202020204" pitchFamily="34" charset="0"/>
              </a:rPr>
              <a:t>Using Deep Learning to accelerate molecular additive design for perovskite interface</a:t>
            </a:r>
            <a:endParaRPr lang="en-GB" sz="4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F2255F58-060B-1A0E-131E-1C2A702E688A}"/>
              </a:ext>
            </a:extLst>
          </p:cNvPr>
          <p:cNvSpPr txBox="1"/>
          <p:nvPr/>
        </p:nvSpPr>
        <p:spPr>
          <a:xfrm>
            <a:off x="870559" y="4493028"/>
            <a:ext cx="5724394" cy="1322863"/>
          </a:xfrm>
          <a:prstGeom prst="rect">
            <a:avLst/>
          </a:prstGeom>
          <a:noFill/>
        </p:spPr>
        <p:txBody>
          <a:bodyPr wrap="square" rtlCol="0">
            <a:spAutoFit/>
          </a:bodyPr>
          <a:lstStyle/>
          <a:p>
            <a:pPr algn="ctr">
              <a:lnSpc>
                <a:spcPct val="150000"/>
              </a:lnSpc>
            </a:pPr>
            <a:r>
              <a:rPr lang="en-US" altLang="zh-CN" sz="2800" dirty="0"/>
              <a:t>Group 9</a:t>
            </a:r>
          </a:p>
          <a:p>
            <a:pPr algn="ctr">
              <a:lnSpc>
                <a:spcPct val="150000"/>
              </a:lnSpc>
            </a:pPr>
            <a:r>
              <a:rPr lang="en-US" altLang="zh-CN" sz="2800" dirty="0"/>
              <a:t>May. 5</a:t>
            </a:r>
            <a:r>
              <a:rPr lang="en-US" altLang="zh-CN" sz="2800" baseline="30000" dirty="0"/>
              <a:t>th</a:t>
            </a:r>
            <a:r>
              <a:rPr lang="en-US" altLang="zh-CN" sz="2800" dirty="0"/>
              <a:t>, 2026</a:t>
            </a:r>
            <a:endParaRPr lang="en-GB" sz="2800" dirty="0"/>
          </a:p>
        </p:txBody>
      </p:sp>
      <p:pic>
        <p:nvPicPr>
          <p:cNvPr id="6" name="图片 5" descr="文本&#10;&#10;AI 生成的内容可能不正确。">
            <a:extLst>
              <a:ext uri="{FF2B5EF4-FFF2-40B4-BE49-F238E27FC236}">
                <a16:creationId xmlns:a16="http://schemas.microsoft.com/office/drawing/2014/main" id="{E9A65F4A-56AA-721B-4915-0F439A6D2894}"/>
              </a:ext>
            </a:extLst>
          </p:cNvPr>
          <p:cNvPicPr>
            <a:picLocks noChangeAspect="1"/>
          </p:cNvPicPr>
          <p:nvPr/>
        </p:nvPicPr>
        <p:blipFill>
          <a:blip r:embed="rId3" cstate="print">
            <a:extLst>
              <a:ext uri="{28A0092B-C50C-407E-A947-70E740481C1C}">
                <a14:useLocalDpi xmlns:a14="http://schemas.microsoft.com/office/drawing/2010/main" val="0"/>
              </a:ext>
            </a:extLst>
          </a:blip>
          <a:srcRect l="9923" t="27981" r="7524" b="26774"/>
          <a:stretch>
            <a:fillRect/>
          </a:stretch>
        </p:blipFill>
        <p:spPr>
          <a:xfrm>
            <a:off x="175365" y="90131"/>
            <a:ext cx="2605413" cy="951978"/>
          </a:xfrm>
          <a:prstGeom prst="rect">
            <a:avLst/>
          </a:prstGeom>
        </p:spPr>
      </p:pic>
    </p:spTree>
    <p:extLst>
      <p:ext uri="{BB962C8B-B14F-4D97-AF65-F5344CB8AC3E}">
        <p14:creationId xmlns:p14="http://schemas.microsoft.com/office/powerpoint/2010/main" val="2322594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8BB248-3214-F0A1-F323-29249B432AB9}"/>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579E15B2-A7E1-D157-4757-BD31B7CA13A4}"/>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241DEC0B-EFB5-D218-9BE6-D6CF8A40B607}"/>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rPr>
              <a:t>   </a:t>
            </a:r>
            <a:r>
              <a:rPr lang="en-US" altLang="zh-CN" sz="2800" b="1" dirty="0">
                <a:solidFill>
                  <a:schemeClr val="accent1"/>
                </a:solidFill>
                <a:ea typeface="Segoe UI Black" panose="020B0A02040204020203" pitchFamily="34" charset="0"/>
              </a:rPr>
              <a:t>Background and data processing</a:t>
            </a:r>
            <a:endParaRPr lang="en-US" altLang="zh-CN" sz="2800" b="1" dirty="0">
              <a:solidFill>
                <a:schemeClr val="accent1"/>
              </a:solidFill>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391415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B79DDA5-765D-CAEF-140F-8F01F6FD6D13}"/>
              </a:ext>
            </a:extLst>
          </p:cNvPr>
          <p:cNvSpPr>
            <a:spLocks noGrp="1"/>
          </p:cNvSpPr>
          <p:nvPr>
            <p:ph type="sldNum" sz="quarter" idx="12"/>
          </p:nvPr>
        </p:nvSpPr>
        <p:spPr/>
        <p:txBody>
          <a:bodyPr/>
          <a:lstStyle/>
          <a:p>
            <a:fld id="{5A846D4C-743D-4A62-AF1E-2CABDD37274B}" type="slidenum">
              <a:rPr lang="en-US" smtClean="0"/>
              <a:t>3</a:t>
            </a:fld>
            <a:endParaRPr lang="en-US" dirty="0"/>
          </a:p>
        </p:txBody>
      </p:sp>
      <p:sp>
        <p:nvSpPr>
          <p:cNvPr id="4" name="文本框 3">
            <a:extLst>
              <a:ext uri="{FF2B5EF4-FFF2-40B4-BE49-F238E27FC236}">
                <a16:creationId xmlns:a16="http://schemas.microsoft.com/office/drawing/2014/main" id="{166D49F3-EFAB-8924-03B2-0579BD35E577}"/>
              </a:ext>
            </a:extLst>
          </p:cNvPr>
          <p:cNvSpPr txBox="1"/>
          <p:nvPr/>
        </p:nvSpPr>
        <p:spPr>
          <a:xfrm>
            <a:off x="273652" y="6461664"/>
            <a:ext cx="6093912" cy="338554"/>
          </a:xfrm>
          <a:prstGeom prst="rect">
            <a:avLst/>
          </a:prstGeom>
          <a:noFill/>
        </p:spPr>
        <p:txBody>
          <a:bodyPr wrap="square">
            <a:spAutoFit/>
          </a:bodyPr>
          <a:lstStyle/>
          <a:p>
            <a:r>
              <a:rPr lang="sv-SE" altLang="zh-CN" sz="1600" dirty="0"/>
              <a:t> </a:t>
            </a:r>
            <a:r>
              <a:rPr lang="sv-SE" altLang="zh-CN" sz="1600" i="1" dirty="0"/>
              <a:t>Nat. Mater.</a:t>
            </a:r>
            <a:r>
              <a:rPr lang="sv-SE" altLang="zh-CN" sz="1600" dirty="0"/>
              <a:t> </a:t>
            </a:r>
            <a:r>
              <a:rPr lang="sv-SE" altLang="zh-CN" sz="1600" b="1" dirty="0"/>
              <a:t>22</a:t>
            </a:r>
            <a:r>
              <a:rPr lang="sv-SE" altLang="zh-CN" sz="1600" dirty="0"/>
              <a:t>, 1507–1514 (2023).</a:t>
            </a:r>
            <a:endParaRPr lang="en-GB" sz="1600" dirty="0"/>
          </a:p>
        </p:txBody>
      </p:sp>
      <p:sp>
        <p:nvSpPr>
          <p:cNvPr id="3" name="文本框 2">
            <a:extLst>
              <a:ext uri="{FF2B5EF4-FFF2-40B4-BE49-F238E27FC236}">
                <a16:creationId xmlns:a16="http://schemas.microsoft.com/office/drawing/2014/main" id="{C735FB94-346E-8BD5-BB7A-CB04AB4C6811}"/>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Introduction</a:t>
            </a:r>
          </a:p>
        </p:txBody>
      </p:sp>
      <p:pic>
        <p:nvPicPr>
          <p:cNvPr id="14" name="图片 13">
            <a:extLst>
              <a:ext uri="{FF2B5EF4-FFF2-40B4-BE49-F238E27FC236}">
                <a16:creationId xmlns:a16="http://schemas.microsoft.com/office/drawing/2014/main" id="{87EE4D29-CC80-67E0-D632-ECB6BBE9A9CD}"/>
              </a:ext>
            </a:extLst>
          </p:cNvPr>
          <p:cNvPicPr>
            <a:picLocks noChangeAspect="1"/>
          </p:cNvPicPr>
          <p:nvPr/>
        </p:nvPicPr>
        <p:blipFill>
          <a:blip r:embed="rId3">
            <a:extLst>
              <a:ext uri="{28A0092B-C50C-407E-A947-70E740481C1C}">
                <a14:useLocalDpi xmlns:a14="http://schemas.microsoft.com/office/drawing/2010/main" val="0"/>
              </a:ext>
            </a:extLst>
          </a:blip>
          <a:srcRect l="2595" t="13053" r="2122" b="6783"/>
          <a:stretch>
            <a:fillRect/>
          </a:stretch>
        </p:blipFill>
        <p:spPr>
          <a:xfrm>
            <a:off x="4460632" y="3126713"/>
            <a:ext cx="7409792" cy="3400435"/>
          </a:xfrm>
          <a:prstGeom prst="rect">
            <a:avLst/>
          </a:prstGeom>
        </p:spPr>
      </p:pic>
      <p:pic>
        <p:nvPicPr>
          <p:cNvPr id="9" name="图片 8">
            <a:extLst>
              <a:ext uri="{FF2B5EF4-FFF2-40B4-BE49-F238E27FC236}">
                <a16:creationId xmlns:a16="http://schemas.microsoft.com/office/drawing/2014/main" id="{8F72A4AD-71A8-DBC8-F88C-F40FCA491AB8}"/>
              </a:ext>
            </a:extLst>
          </p:cNvPr>
          <p:cNvPicPr>
            <a:picLocks noChangeAspect="1"/>
          </p:cNvPicPr>
          <p:nvPr/>
        </p:nvPicPr>
        <p:blipFill>
          <a:blip r:embed="rId4"/>
          <a:stretch>
            <a:fillRect/>
          </a:stretch>
        </p:blipFill>
        <p:spPr>
          <a:xfrm>
            <a:off x="385067" y="3429000"/>
            <a:ext cx="3960000" cy="2828572"/>
          </a:xfrm>
          <a:prstGeom prst="rect">
            <a:avLst/>
          </a:prstGeom>
        </p:spPr>
      </p:pic>
      <p:pic>
        <p:nvPicPr>
          <p:cNvPr id="10" name="图片 9" descr="手机屏幕截图&#10;&#10;AI 生成的内容可能不正确。">
            <a:extLst>
              <a:ext uri="{FF2B5EF4-FFF2-40B4-BE49-F238E27FC236}">
                <a16:creationId xmlns:a16="http://schemas.microsoft.com/office/drawing/2014/main" id="{642FDF79-8820-20DD-FBF2-5A49C83DD6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067" y="994929"/>
            <a:ext cx="3960000" cy="2116125"/>
          </a:xfrm>
          <a:prstGeom prst="rect">
            <a:avLst/>
          </a:prstGeom>
        </p:spPr>
      </p:pic>
      <p:sp>
        <p:nvSpPr>
          <p:cNvPr id="15" name="文本框 14">
            <a:extLst>
              <a:ext uri="{FF2B5EF4-FFF2-40B4-BE49-F238E27FC236}">
                <a16:creationId xmlns:a16="http://schemas.microsoft.com/office/drawing/2014/main" id="{7AC29741-1FC0-2EAC-526D-68EB776029A3}"/>
              </a:ext>
            </a:extLst>
          </p:cNvPr>
          <p:cNvSpPr txBox="1"/>
          <p:nvPr/>
        </p:nvSpPr>
        <p:spPr>
          <a:xfrm>
            <a:off x="5540262" y="2598859"/>
            <a:ext cx="5070763" cy="477054"/>
          </a:xfrm>
          <a:prstGeom prst="rect">
            <a:avLst/>
          </a:prstGeom>
          <a:noFill/>
        </p:spPr>
        <p:txBody>
          <a:bodyPr wrap="square" rtlCol="0">
            <a:spAutoFit/>
          </a:bodyPr>
          <a:lstStyle/>
          <a:p>
            <a:pPr algn="ctr"/>
            <a:r>
              <a:rPr lang="en-US" altLang="zh-CN" sz="2400" dirty="0">
                <a:solidFill>
                  <a:schemeClr val="tx1">
                    <a:lumMod val="65000"/>
                    <a:lumOff val="35000"/>
                  </a:schemeClr>
                </a:solidFill>
              </a:rPr>
              <a:t>DFT Calculation Workflow</a:t>
            </a:r>
          </a:p>
        </p:txBody>
      </p:sp>
      <p:sp>
        <p:nvSpPr>
          <p:cNvPr id="16" name="文本框 15">
            <a:extLst>
              <a:ext uri="{FF2B5EF4-FFF2-40B4-BE49-F238E27FC236}">
                <a16:creationId xmlns:a16="http://schemas.microsoft.com/office/drawing/2014/main" id="{978CD278-8C28-062B-E525-8C6E726DD227}"/>
              </a:ext>
            </a:extLst>
          </p:cNvPr>
          <p:cNvSpPr txBox="1"/>
          <p:nvPr/>
        </p:nvSpPr>
        <p:spPr>
          <a:xfrm>
            <a:off x="269502" y="3085361"/>
            <a:ext cx="4075565" cy="369332"/>
          </a:xfrm>
          <a:prstGeom prst="rect">
            <a:avLst/>
          </a:prstGeom>
          <a:noFill/>
        </p:spPr>
        <p:txBody>
          <a:bodyPr wrap="square" rtlCol="0">
            <a:spAutoFit/>
          </a:bodyPr>
          <a:lstStyle/>
          <a:p>
            <a:pPr algn="ctr"/>
            <a:r>
              <a:rPr lang="en-US" altLang="zh-CN" dirty="0"/>
              <a:t>Schematic of perovskite solar cell</a:t>
            </a:r>
          </a:p>
        </p:txBody>
      </p:sp>
      <p:grpSp>
        <p:nvGrpSpPr>
          <p:cNvPr id="17" name="组合 16">
            <a:extLst>
              <a:ext uri="{FF2B5EF4-FFF2-40B4-BE49-F238E27FC236}">
                <a16:creationId xmlns:a16="http://schemas.microsoft.com/office/drawing/2014/main" id="{072F7A77-1F44-DB54-F7CF-A2713862D999}"/>
              </a:ext>
            </a:extLst>
          </p:cNvPr>
          <p:cNvGrpSpPr/>
          <p:nvPr/>
        </p:nvGrpSpPr>
        <p:grpSpPr>
          <a:xfrm>
            <a:off x="4774130" y="1620899"/>
            <a:ext cx="6977390" cy="612000"/>
            <a:chOff x="1918842" y="1747486"/>
            <a:chExt cx="6977390" cy="612000"/>
          </a:xfrm>
        </p:grpSpPr>
        <p:sp>
          <p:nvSpPr>
            <p:cNvPr id="18" name="矩形: 圆角 17">
              <a:extLst>
                <a:ext uri="{FF2B5EF4-FFF2-40B4-BE49-F238E27FC236}">
                  <a16:creationId xmlns:a16="http://schemas.microsoft.com/office/drawing/2014/main" id="{E1AFE326-FE1A-7589-7181-D937481C2207}"/>
                </a:ext>
              </a:extLst>
            </p:cNvPr>
            <p:cNvSpPr/>
            <p:nvPr/>
          </p:nvSpPr>
          <p:spPr>
            <a:xfrm>
              <a:off x="1918842" y="1747486"/>
              <a:ext cx="1169727"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Candidate molecular</a:t>
              </a:r>
              <a:endParaRPr lang="zh-CN" altLang="en-US" sz="1400" dirty="0">
                <a:solidFill>
                  <a:schemeClr val="tx1"/>
                </a:solidFill>
              </a:endParaRPr>
            </a:p>
          </p:txBody>
        </p:sp>
        <p:sp>
          <p:nvSpPr>
            <p:cNvPr id="19" name="矩形: 圆角 18">
              <a:extLst>
                <a:ext uri="{FF2B5EF4-FFF2-40B4-BE49-F238E27FC236}">
                  <a16:creationId xmlns:a16="http://schemas.microsoft.com/office/drawing/2014/main" id="{07FD1B44-C08D-F0B4-6025-ED98AC89E3BA}"/>
                </a:ext>
              </a:extLst>
            </p:cNvPr>
            <p:cNvSpPr/>
            <p:nvPr/>
          </p:nvSpPr>
          <p:spPr>
            <a:xfrm>
              <a:off x="3858454" y="1747486"/>
              <a:ext cx="1169728"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DFT Calculation</a:t>
              </a:r>
              <a:endParaRPr lang="zh-CN" altLang="en-US" sz="1400" dirty="0">
                <a:solidFill>
                  <a:schemeClr val="tx1"/>
                </a:solidFill>
              </a:endParaRPr>
            </a:p>
          </p:txBody>
        </p:sp>
        <p:sp>
          <p:nvSpPr>
            <p:cNvPr id="20" name="矩形: 圆角 19">
              <a:extLst>
                <a:ext uri="{FF2B5EF4-FFF2-40B4-BE49-F238E27FC236}">
                  <a16:creationId xmlns:a16="http://schemas.microsoft.com/office/drawing/2014/main" id="{E4B0CFC8-5D3C-2BDF-1A6E-74648232A078}"/>
                </a:ext>
              </a:extLst>
            </p:cNvPr>
            <p:cNvSpPr/>
            <p:nvPr/>
          </p:nvSpPr>
          <p:spPr>
            <a:xfrm>
              <a:off x="5869090" y="1747486"/>
              <a:ext cx="116972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Binding energy</a:t>
              </a:r>
              <a:endParaRPr lang="zh-CN" altLang="en-US" sz="1400" dirty="0">
                <a:solidFill>
                  <a:schemeClr val="tx1"/>
                </a:solidFill>
              </a:endParaRPr>
            </a:p>
          </p:txBody>
        </p:sp>
        <p:sp>
          <p:nvSpPr>
            <p:cNvPr id="21" name="矩形: 圆角 20">
              <a:extLst>
                <a:ext uri="{FF2B5EF4-FFF2-40B4-BE49-F238E27FC236}">
                  <a16:creationId xmlns:a16="http://schemas.microsoft.com/office/drawing/2014/main" id="{983A5178-7D53-E3A7-9244-FE8B413BF380}"/>
                </a:ext>
              </a:extLst>
            </p:cNvPr>
            <p:cNvSpPr/>
            <p:nvPr/>
          </p:nvSpPr>
          <p:spPr>
            <a:xfrm>
              <a:off x="7826666" y="1747486"/>
              <a:ext cx="1069566"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chemeClr val="tx1"/>
                  </a:solidFill>
                </a:rPr>
                <a:t>Screening</a:t>
              </a:r>
              <a:endParaRPr lang="zh-CN" altLang="en-US" sz="1400" dirty="0">
                <a:solidFill>
                  <a:schemeClr val="tx1"/>
                </a:solidFill>
              </a:endParaRPr>
            </a:p>
          </p:txBody>
        </p:sp>
        <p:sp>
          <p:nvSpPr>
            <p:cNvPr id="22" name="箭头: 右 21">
              <a:extLst>
                <a:ext uri="{FF2B5EF4-FFF2-40B4-BE49-F238E27FC236}">
                  <a16:creationId xmlns:a16="http://schemas.microsoft.com/office/drawing/2014/main" id="{D8BB64BD-C153-3712-2827-E78CEEE002EF}"/>
                </a:ext>
              </a:extLst>
            </p:cNvPr>
            <p:cNvSpPr/>
            <p:nvPr/>
          </p:nvSpPr>
          <p:spPr>
            <a:xfrm>
              <a:off x="3233517"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18A474C3-FDC4-BCAD-B9A7-17EB0D6E201A}"/>
                </a:ext>
              </a:extLst>
            </p:cNvPr>
            <p:cNvSpPr/>
            <p:nvPr/>
          </p:nvSpPr>
          <p:spPr>
            <a:xfrm>
              <a:off x="5208642"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1251B0C-B904-D7B9-0042-B5EBB64E008B}"/>
                </a:ext>
              </a:extLst>
            </p:cNvPr>
            <p:cNvSpPr/>
            <p:nvPr/>
          </p:nvSpPr>
          <p:spPr>
            <a:xfrm>
              <a:off x="7166218" y="1891209"/>
              <a:ext cx="479988" cy="284924"/>
            </a:xfrm>
            <a:prstGeom prst="rightArrow">
              <a:avLst>
                <a:gd name="adj1" fmla="val 66406"/>
                <a:gd name="adj2" fmla="val 50000"/>
              </a:avLst>
            </a:prstGeom>
            <a:solidFill>
              <a:srgbClr val="F8CBAD"/>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4646AAD-46C8-55C5-1C18-A2463488CE0F}"/>
              </a:ext>
            </a:extLst>
          </p:cNvPr>
          <p:cNvSpPr txBox="1"/>
          <p:nvPr/>
        </p:nvSpPr>
        <p:spPr>
          <a:xfrm>
            <a:off x="4696492" y="1037809"/>
            <a:ext cx="2303471" cy="400110"/>
          </a:xfrm>
          <a:prstGeom prst="rect">
            <a:avLst/>
          </a:prstGeom>
          <a:noFill/>
        </p:spPr>
        <p:txBody>
          <a:bodyPr wrap="square" rtlCol="0">
            <a:spAutoFit/>
          </a:bodyPr>
          <a:lstStyle/>
          <a:p>
            <a:r>
              <a:rPr lang="en-US" altLang="zh-CN" sz="2000" b="1" dirty="0">
                <a:solidFill>
                  <a:schemeClr val="tx1">
                    <a:lumMod val="65000"/>
                    <a:lumOff val="35000"/>
                  </a:schemeClr>
                </a:solidFill>
              </a:rPr>
              <a:t>Traditional route</a:t>
            </a:r>
          </a:p>
        </p:txBody>
      </p:sp>
    </p:spTree>
    <p:extLst>
      <p:ext uri="{BB962C8B-B14F-4D97-AF65-F5344CB8AC3E}">
        <p14:creationId xmlns:p14="http://schemas.microsoft.com/office/powerpoint/2010/main" val="1173504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0656-428F-ECB1-369A-580174CFB2E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8D82DA-80C7-3B3E-18A8-7ABD24223C48}"/>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46BF762D-5F58-28BF-3B36-0484805F44DF}"/>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Objective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pic>
        <p:nvPicPr>
          <p:cNvPr id="63" name="图片 62">
            <a:extLst>
              <a:ext uri="{FF2B5EF4-FFF2-40B4-BE49-F238E27FC236}">
                <a16:creationId xmlns:a16="http://schemas.microsoft.com/office/drawing/2014/main" id="{919182E2-4781-88BE-4C86-331087ED7E48}"/>
              </a:ext>
            </a:extLst>
          </p:cNvPr>
          <p:cNvPicPr>
            <a:picLocks noChangeAspect="1"/>
          </p:cNvPicPr>
          <p:nvPr/>
        </p:nvPicPr>
        <p:blipFill>
          <a:blip r:embed="rId3"/>
          <a:stretch>
            <a:fillRect/>
          </a:stretch>
        </p:blipFill>
        <p:spPr>
          <a:xfrm>
            <a:off x="757856" y="879383"/>
            <a:ext cx="10858632" cy="3584667"/>
          </a:xfrm>
          <a:prstGeom prst="rect">
            <a:avLst/>
          </a:prstGeom>
        </p:spPr>
      </p:pic>
      <p:sp>
        <p:nvSpPr>
          <p:cNvPr id="7168" name="文本框 7167">
            <a:extLst>
              <a:ext uri="{FF2B5EF4-FFF2-40B4-BE49-F238E27FC236}">
                <a16:creationId xmlns:a16="http://schemas.microsoft.com/office/drawing/2014/main" id="{E1B8E37A-726F-DC7A-A810-79CC7DACDC33}"/>
              </a:ext>
            </a:extLst>
          </p:cNvPr>
          <p:cNvSpPr txBox="1"/>
          <p:nvPr/>
        </p:nvSpPr>
        <p:spPr>
          <a:xfrm>
            <a:off x="273652" y="1054142"/>
            <a:ext cx="2928779" cy="400110"/>
          </a:xfrm>
          <a:prstGeom prst="rect">
            <a:avLst/>
          </a:prstGeom>
          <a:noFill/>
        </p:spPr>
        <p:txBody>
          <a:bodyPr wrap="square" rtlCol="0">
            <a:spAutoFit/>
          </a:bodyPr>
          <a:lstStyle/>
          <a:p>
            <a:r>
              <a:rPr lang="en-US" altLang="zh-CN" sz="2000" b="1" dirty="0">
                <a:solidFill>
                  <a:schemeClr val="tx1">
                    <a:lumMod val="65000"/>
                    <a:lumOff val="35000"/>
                  </a:schemeClr>
                </a:solidFill>
              </a:rPr>
              <a:t> ML-assisted route</a:t>
            </a:r>
          </a:p>
        </p:txBody>
      </p:sp>
      <p:sp>
        <p:nvSpPr>
          <p:cNvPr id="5155" name="Shape 7">
            <a:extLst>
              <a:ext uri="{FF2B5EF4-FFF2-40B4-BE49-F238E27FC236}">
                <a16:creationId xmlns:a16="http://schemas.microsoft.com/office/drawing/2014/main" id="{33586C9D-E25F-68B7-C9E3-652C51670F21}"/>
              </a:ext>
            </a:extLst>
          </p:cNvPr>
          <p:cNvSpPr/>
          <p:nvPr/>
        </p:nvSpPr>
        <p:spPr>
          <a:xfrm>
            <a:off x="2415968" y="5559885"/>
            <a:ext cx="566928" cy="384048"/>
          </a:xfrm>
          <a:prstGeom prst="rightArrow">
            <a:avLst/>
          </a:prstGeom>
          <a:solidFill>
            <a:srgbClr val="B0BCDF"/>
          </a:solidFill>
          <a:ln w="12700">
            <a:solidFill>
              <a:srgbClr val="B0BCDF"/>
            </a:solidFill>
            <a:prstDash val="solid"/>
          </a:ln>
          <a:effectLst>
            <a:outerShdw blurRad="50800" dist="38100" dir="2700000" algn="tl" rotWithShape="0">
              <a:prstClr val="black">
                <a:alpha val="40000"/>
              </a:prstClr>
            </a:outerShdw>
          </a:effectLst>
        </p:spPr>
        <p:txBody>
          <a:bodyPr/>
          <a:lstStyle/>
          <a:p>
            <a:endParaRPr lang="zh-CN" altLang="en-US"/>
          </a:p>
        </p:txBody>
      </p:sp>
      <p:sp>
        <p:nvSpPr>
          <p:cNvPr id="5159" name="文本框 5158">
            <a:extLst>
              <a:ext uri="{FF2B5EF4-FFF2-40B4-BE49-F238E27FC236}">
                <a16:creationId xmlns:a16="http://schemas.microsoft.com/office/drawing/2014/main" id="{75B42A72-BD14-9DA8-FE04-4BA8621BA7A7}"/>
              </a:ext>
            </a:extLst>
          </p:cNvPr>
          <p:cNvSpPr txBox="1"/>
          <p:nvPr/>
        </p:nvSpPr>
        <p:spPr>
          <a:xfrm>
            <a:off x="323436" y="4464050"/>
            <a:ext cx="4185064" cy="400110"/>
          </a:xfrm>
          <a:prstGeom prst="rect">
            <a:avLst/>
          </a:prstGeom>
          <a:noFill/>
        </p:spPr>
        <p:txBody>
          <a:bodyPr wrap="square" rtlCol="0">
            <a:spAutoFit/>
          </a:bodyPr>
          <a:lstStyle/>
          <a:p>
            <a:r>
              <a:rPr lang="en-US" altLang="zh-CN" sz="2000" b="1" dirty="0">
                <a:solidFill>
                  <a:schemeClr val="tx1">
                    <a:lumMod val="65000"/>
                    <a:lumOff val="35000"/>
                  </a:schemeClr>
                </a:solidFill>
              </a:rPr>
              <a:t>Supervised Learning Formulation</a:t>
            </a:r>
          </a:p>
        </p:txBody>
      </p:sp>
      <p:sp>
        <p:nvSpPr>
          <p:cNvPr id="5160" name="矩形: 圆角 5159">
            <a:extLst>
              <a:ext uri="{FF2B5EF4-FFF2-40B4-BE49-F238E27FC236}">
                <a16:creationId xmlns:a16="http://schemas.microsoft.com/office/drawing/2014/main" id="{A6E3090B-1A1B-60F5-45C9-0339A8AEFBA0}"/>
              </a:ext>
            </a:extLst>
          </p:cNvPr>
          <p:cNvSpPr/>
          <p:nvPr/>
        </p:nvSpPr>
        <p:spPr>
          <a:xfrm>
            <a:off x="3201156" y="5224978"/>
            <a:ext cx="3233937" cy="1053861"/>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600" b="1" dirty="0">
                <a:solidFill>
                  <a:schemeClr val="tx1"/>
                </a:solidFill>
              </a:rPr>
              <a:t>MODEL Objective</a:t>
            </a:r>
          </a:p>
          <a:p>
            <a:pPr algn="ctr">
              <a:spcAft>
                <a:spcPts val="600"/>
              </a:spcAft>
            </a:pPr>
            <a:r>
              <a:rPr lang="en-US" altLang="zh-CN" sz="1600" dirty="0">
                <a:solidFill>
                  <a:schemeClr val="tx1"/>
                </a:solidFill>
              </a:rPr>
              <a:t>learn f(SMILES) -&gt; binding energy</a:t>
            </a:r>
          </a:p>
        </p:txBody>
      </p:sp>
      <p:sp>
        <p:nvSpPr>
          <p:cNvPr id="5163" name="矩形: 圆角 5162">
            <a:extLst>
              <a:ext uri="{FF2B5EF4-FFF2-40B4-BE49-F238E27FC236}">
                <a16:creationId xmlns:a16="http://schemas.microsoft.com/office/drawing/2014/main" id="{1D9B40AF-2298-D139-690D-9B8E5DAC1BF1}"/>
              </a:ext>
            </a:extLst>
          </p:cNvPr>
          <p:cNvSpPr/>
          <p:nvPr/>
        </p:nvSpPr>
        <p:spPr>
          <a:xfrm>
            <a:off x="664492" y="5086459"/>
            <a:ext cx="151670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INPUT</a:t>
            </a:r>
            <a:r>
              <a:rPr lang="zh-CN" altLang="en-US" sz="1400" b="1" dirty="0">
                <a:solidFill>
                  <a:schemeClr val="tx1"/>
                </a:solidFill>
              </a:rPr>
              <a:t> </a:t>
            </a:r>
            <a:r>
              <a:rPr lang="en-US" altLang="zh-CN" sz="1400" b="1" dirty="0">
                <a:solidFill>
                  <a:schemeClr val="tx1"/>
                </a:solidFill>
              </a:rPr>
              <a:t>‘X’</a:t>
            </a:r>
          </a:p>
          <a:p>
            <a:pPr algn="ctr"/>
            <a:r>
              <a:rPr lang="en-US" altLang="zh-CN" sz="1400" dirty="0">
                <a:solidFill>
                  <a:schemeClr val="tx1"/>
                </a:solidFill>
              </a:rPr>
              <a:t>SMILES string</a:t>
            </a:r>
          </a:p>
        </p:txBody>
      </p:sp>
      <p:sp>
        <p:nvSpPr>
          <p:cNvPr id="5164" name="矩形: 圆角 5163">
            <a:extLst>
              <a:ext uri="{FF2B5EF4-FFF2-40B4-BE49-F238E27FC236}">
                <a16:creationId xmlns:a16="http://schemas.microsoft.com/office/drawing/2014/main" id="{62EB11EE-1034-75F7-F787-50884F2FD763}"/>
              </a:ext>
            </a:extLst>
          </p:cNvPr>
          <p:cNvSpPr/>
          <p:nvPr/>
        </p:nvSpPr>
        <p:spPr>
          <a:xfrm>
            <a:off x="664491" y="5848621"/>
            <a:ext cx="1516709" cy="612000"/>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LABEL</a:t>
            </a:r>
            <a:r>
              <a:rPr lang="zh-CN" altLang="en-US" sz="1400" b="1" dirty="0">
                <a:solidFill>
                  <a:schemeClr val="tx1"/>
                </a:solidFill>
              </a:rPr>
              <a:t> </a:t>
            </a:r>
            <a:r>
              <a:rPr lang="en-US" altLang="zh-CN" sz="1400" b="1" dirty="0">
                <a:solidFill>
                  <a:schemeClr val="tx1"/>
                </a:solidFill>
              </a:rPr>
              <a:t>‘Y’</a:t>
            </a:r>
          </a:p>
          <a:p>
            <a:pPr algn="ctr"/>
            <a:r>
              <a:rPr lang="en-US" altLang="zh-CN" sz="1400" dirty="0">
                <a:solidFill>
                  <a:schemeClr val="tx1"/>
                </a:solidFill>
              </a:rPr>
              <a:t>Binding energy</a:t>
            </a:r>
          </a:p>
        </p:txBody>
      </p:sp>
      <p:grpSp>
        <p:nvGrpSpPr>
          <p:cNvPr id="7232" name="组合 7231">
            <a:extLst>
              <a:ext uri="{FF2B5EF4-FFF2-40B4-BE49-F238E27FC236}">
                <a16:creationId xmlns:a16="http://schemas.microsoft.com/office/drawing/2014/main" id="{9CBFC35B-BD98-9349-0F2A-E7FEB62A9205}"/>
              </a:ext>
            </a:extLst>
          </p:cNvPr>
          <p:cNvGrpSpPr/>
          <p:nvPr/>
        </p:nvGrpSpPr>
        <p:grpSpPr>
          <a:xfrm>
            <a:off x="6653353" y="5181559"/>
            <a:ext cx="1645920" cy="1097280"/>
            <a:chOff x="6978316" y="4354322"/>
            <a:chExt cx="1645920" cy="1097280"/>
          </a:xfrm>
        </p:grpSpPr>
        <p:sp>
          <p:nvSpPr>
            <p:cNvPr id="5172" name="Text 13">
              <a:extLst>
                <a:ext uri="{FF2B5EF4-FFF2-40B4-BE49-F238E27FC236}">
                  <a16:creationId xmlns:a16="http://schemas.microsoft.com/office/drawing/2014/main" id="{AEDCCE89-5E41-B4E1-FBC1-0041B8D68EBC}"/>
                </a:ext>
              </a:extLst>
            </p:cNvPr>
            <p:cNvSpPr/>
            <p:nvPr/>
          </p:nvSpPr>
          <p:spPr>
            <a:xfrm>
              <a:off x="6978316" y="4354322"/>
              <a:ext cx="1645920" cy="219456"/>
            </a:xfrm>
            <a:prstGeom prst="rect">
              <a:avLst/>
            </a:prstGeom>
            <a:noFill/>
            <a:ln/>
          </p:spPr>
          <p:txBody>
            <a:bodyPr wrap="square" lIns="0" tIns="0" rIns="0" bIns="0" rtlCol="0" anchor="ctr"/>
            <a:lstStyle/>
            <a:p>
              <a:pPr marL="0" indent="0" algn="ctr">
                <a:buNone/>
              </a:pPr>
              <a:r>
                <a:rPr lang="en-US" sz="1400" b="1" dirty="0">
                  <a:solidFill>
                    <a:srgbClr val="2563EB"/>
                  </a:solidFill>
                </a:rPr>
                <a:t>Loss</a:t>
              </a:r>
              <a:endParaRPr lang="en-US" sz="1400" dirty="0"/>
            </a:p>
          </p:txBody>
        </p:sp>
        <p:sp>
          <p:nvSpPr>
            <p:cNvPr id="5173" name="Text 14">
              <a:extLst>
                <a:ext uri="{FF2B5EF4-FFF2-40B4-BE49-F238E27FC236}">
                  <a16:creationId xmlns:a16="http://schemas.microsoft.com/office/drawing/2014/main" id="{4EF39B3A-F784-7F12-86E7-AFAB3ABE97C3}"/>
                </a:ext>
              </a:extLst>
            </p:cNvPr>
            <p:cNvSpPr/>
            <p:nvPr/>
          </p:nvSpPr>
          <p:spPr>
            <a:xfrm>
              <a:off x="6978316" y="4665218"/>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MSE</a:t>
              </a:r>
              <a:endParaRPr lang="en-US" sz="2300" dirty="0"/>
            </a:p>
          </p:txBody>
        </p:sp>
        <p:sp>
          <p:nvSpPr>
            <p:cNvPr id="5174" name="Text 15">
              <a:extLst>
                <a:ext uri="{FF2B5EF4-FFF2-40B4-BE49-F238E27FC236}">
                  <a16:creationId xmlns:a16="http://schemas.microsoft.com/office/drawing/2014/main" id="{F1590FB7-4A9A-1854-6473-2E54638C7EFB}"/>
                </a:ext>
              </a:extLst>
            </p:cNvPr>
            <p:cNvSpPr/>
            <p:nvPr/>
          </p:nvSpPr>
          <p:spPr>
            <a:xfrm>
              <a:off x="6978316" y="5195570"/>
              <a:ext cx="1645920" cy="256032"/>
            </a:xfrm>
            <a:prstGeom prst="rect">
              <a:avLst/>
            </a:prstGeom>
            <a:noFill/>
            <a:ln/>
          </p:spPr>
          <p:txBody>
            <a:bodyPr wrap="square" lIns="0" tIns="0" rIns="0" bIns="0" rtlCol="0" anchor="ctr"/>
            <a:lstStyle/>
            <a:p>
              <a:pPr marL="0" indent="0" algn="ctr">
                <a:buNone/>
              </a:pPr>
              <a:r>
                <a:rPr lang="en-US" sz="1200" dirty="0">
                  <a:solidFill>
                    <a:srgbClr val="516070"/>
                  </a:solidFill>
                </a:rPr>
                <a:t>on normalized y</a:t>
              </a:r>
              <a:endParaRPr lang="en-US" sz="1200" dirty="0"/>
            </a:p>
          </p:txBody>
        </p:sp>
      </p:grpSp>
      <p:grpSp>
        <p:nvGrpSpPr>
          <p:cNvPr id="7233" name="组合 7232">
            <a:extLst>
              <a:ext uri="{FF2B5EF4-FFF2-40B4-BE49-F238E27FC236}">
                <a16:creationId xmlns:a16="http://schemas.microsoft.com/office/drawing/2014/main" id="{FEDCF220-7E75-53A8-F042-3DC93F07572B}"/>
              </a:ext>
            </a:extLst>
          </p:cNvPr>
          <p:cNvGrpSpPr/>
          <p:nvPr/>
        </p:nvGrpSpPr>
        <p:grpSpPr>
          <a:xfrm>
            <a:off x="7810915" y="5181559"/>
            <a:ext cx="1645920" cy="1097280"/>
            <a:chOff x="9538636" y="4354322"/>
            <a:chExt cx="1645920" cy="1097280"/>
          </a:xfrm>
        </p:grpSpPr>
        <p:sp>
          <p:nvSpPr>
            <p:cNvPr id="5175" name="Text 16">
              <a:extLst>
                <a:ext uri="{FF2B5EF4-FFF2-40B4-BE49-F238E27FC236}">
                  <a16:creationId xmlns:a16="http://schemas.microsoft.com/office/drawing/2014/main" id="{68B63E1B-F90B-3210-622B-3F84DD0016DB}"/>
                </a:ext>
              </a:extLst>
            </p:cNvPr>
            <p:cNvSpPr/>
            <p:nvPr/>
          </p:nvSpPr>
          <p:spPr>
            <a:xfrm>
              <a:off x="9538636" y="4354322"/>
              <a:ext cx="1645920" cy="219456"/>
            </a:xfrm>
            <a:prstGeom prst="rect">
              <a:avLst/>
            </a:prstGeom>
            <a:noFill/>
            <a:ln/>
          </p:spPr>
          <p:txBody>
            <a:bodyPr wrap="square" lIns="0" tIns="0" rIns="0" bIns="0" rtlCol="0" anchor="ctr"/>
            <a:lstStyle/>
            <a:p>
              <a:pPr marL="0" indent="0" algn="ctr">
                <a:buNone/>
              </a:pPr>
              <a:r>
                <a:rPr lang="en-US" sz="1400" b="1" dirty="0">
                  <a:solidFill>
                    <a:srgbClr val="16A34A"/>
                  </a:solidFill>
                </a:rPr>
                <a:t>Metric</a:t>
              </a:r>
              <a:endParaRPr lang="en-US" sz="1400" dirty="0"/>
            </a:p>
          </p:txBody>
        </p:sp>
        <p:sp>
          <p:nvSpPr>
            <p:cNvPr id="5176" name="Text 17">
              <a:extLst>
                <a:ext uri="{FF2B5EF4-FFF2-40B4-BE49-F238E27FC236}">
                  <a16:creationId xmlns:a16="http://schemas.microsoft.com/office/drawing/2014/main" id="{E995897A-746C-4B6B-0489-80D742FE5053}"/>
                </a:ext>
              </a:extLst>
            </p:cNvPr>
            <p:cNvSpPr/>
            <p:nvPr/>
          </p:nvSpPr>
          <p:spPr>
            <a:xfrm>
              <a:off x="9538636" y="4665218"/>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RMSE</a:t>
              </a:r>
              <a:endParaRPr lang="en-US" sz="2300" dirty="0"/>
            </a:p>
          </p:txBody>
        </p:sp>
        <p:sp>
          <p:nvSpPr>
            <p:cNvPr id="5177" name="Text 18">
              <a:extLst>
                <a:ext uri="{FF2B5EF4-FFF2-40B4-BE49-F238E27FC236}">
                  <a16:creationId xmlns:a16="http://schemas.microsoft.com/office/drawing/2014/main" id="{D806E128-9F18-3773-DF11-5853B2CCB12B}"/>
                </a:ext>
              </a:extLst>
            </p:cNvPr>
            <p:cNvSpPr/>
            <p:nvPr/>
          </p:nvSpPr>
          <p:spPr>
            <a:xfrm>
              <a:off x="9538636" y="5195570"/>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lower is better</a:t>
              </a:r>
              <a:endParaRPr lang="en-US" sz="1300" dirty="0"/>
            </a:p>
          </p:txBody>
        </p:sp>
      </p:grpSp>
      <p:grpSp>
        <p:nvGrpSpPr>
          <p:cNvPr id="7234" name="组合 7233">
            <a:extLst>
              <a:ext uri="{FF2B5EF4-FFF2-40B4-BE49-F238E27FC236}">
                <a16:creationId xmlns:a16="http://schemas.microsoft.com/office/drawing/2014/main" id="{4FEB2C57-80C7-D28E-8018-44EE07EF53F2}"/>
              </a:ext>
            </a:extLst>
          </p:cNvPr>
          <p:cNvGrpSpPr/>
          <p:nvPr/>
        </p:nvGrpSpPr>
        <p:grpSpPr>
          <a:xfrm>
            <a:off x="8968477" y="5181559"/>
            <a:ext cx="1645920" cy="1097280"/>
            <a:chOff x="8908256" y="5098694"/>
            <a:chExt cx="1645920" cy="1097280"/>
          </a:xfrm>
        </p:grpSpPr>
        <p:sp>
          <p:nvSpPr>
            <p:cNvPr id="5178" name="Text 19">
              <a:extLst>
                <a:ext uri="{FF2B5EF4-FFF2-40B4-BE49-F238E27FC236}">
                  <a16:creationId xmlns:a16="http://schemas.microsoft.com/office/drawing/2014/main" id="{4FBE5EC5-B57A-4F22-876B-FE32A584BA7C}"/>
                </a:ext>
              </a:extLst>
            </p:cNvPr>
            <p:cNvSpPr/>
            <p:nvPr/>
          </p:nvSpPr>
          <p:spPr>
            <a:xfrm>
              <a:off x="8908256" y="5098694"/>
              <a:ext cx="1645920" cy="219456"/>
            </a:xfrm>
            <a:prstGeom prst="rect">
              <a:avLst/>
            </a:prstGeom>
            <a:noFill/>
            <a:ln/>
          </p:spPr>
          <p:txBody>
            <a:bodyPr wrap="square" lIns="0" tIns="0" rIns="0" bIns="0" rtlCol="0" anchor="ctr"/>
            <a:lstStyle/>
            <a:p>
              <a:pPr marL="0" indent="0" algn="ctr">
                <a:buNone/>
              </a:pPr>
              <a:r>
                <a:rPr lang="en-US" sz="1400" b="1" dirty="0">
                  <a:solidFill>
                    <a:srgbClr val="D97706"/>
                  </a:solidFill>
                </a:rPr>
                <a:t>Metric</a:t>
              </a:r>
              <a:endParaRPr lang="en-US" sz="1400" dirty="0"/>
            </a:p>
          </p:txBody>
        </p:sp>
        <p:sp>
          <p:nvSpPr>
            <p:cNvPr id="5179" name="Text 20">
              <a:extLst>
                <a:ext uri="{FF2B5EF4-FFF2-40B4-BE49-F238E27FC236}">
                  <a16:creationId xmlns:a16="http://schemas.microsoft.com/office/drawing/2014/main" id="{32CFC7BC-D7A6-D5DC-3D12-79DE2843710E}"/>
                </a:ext>
              </a:extLst>
            </p:cNvPr>
            <p:cNvSpPr/>
            <p:nvPr/>
          </p:nvSpPr>
          <p:spPr>
            <a:xfrm>
              <a:off x="8908256" y="5409590"/>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MAE</a:t>
              </a:r>
              <a:endParaRPr lang="en-US" sz="2300" dirty="0"/>
            </a:p>
          </p:txBody>
        </p:sp>
        <p:sp>
          <p:nvSpPr>
            <p:cNvPr id="5180" name="Text 21">
              <a:extLst>
                <a:ext uri="{FF2B5EF4-FFF2-40B4-BE49-F238E27FC236}">
                  <a16:creationId xmlns:a16="http://schemas.microsoft.com/office/drawing/2014/main" id="{DF6CBAC7-CB27-BCBB-5353-F8DD25E4C0B6}"/>
                </a:ext>
              </a:extLst>
            </p:cNvPr>
            <p:cNvSpPr/>
            <p:nvPr/>
          </p:nvSpPr>
          <p:spPr>
            <a:xfrm>
              <a:off x="8908256" y="5939942"/>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robust error</a:t>
              </a:r>
              <a:endParaRPr lang="en-US" sz="1300" dirty="0"/>
            </a:p>
          </p:txBody>
        </p:sp>
      </p:grpSp>
      <p:grpSp>
        <p:nvGrpSpPr>
          <p:cNvPr id="7235" name="组合 7234">
            <a:extLst>
              <a:ext uri="{FF2B5EF4-FFF2-40B4-BE49-F238E27FC236}">
                <a16:creationId xmlns:a16="http://schemas.microsoft.com/office/drawing/2014/main" id="{98F66EDE-9571-51D8-339E-18B5BD05530F}"/>
              </a:ext>
            </a:extLst>
          </p:cNvPr>
          <p:cNvGrpSpPr/>
          <p:nvPr/>
        </p:nvGrpSpPr>
        <p:grpSpPr>
          <a:xfrm>
            <a:off x="10126039" y="5175318"/>
            <a:ext cx="1645920" cy="1097280"/>
            <a:chOff x="9970568" y="5096094"/>
            <a:chExt cx="1645920" cy="1097280"/>
          </a:xfrm>
        </p:grpSpPr>
        <p:sp>
          <p:nvSpPr>
            <p:cNvPr id="5181" name="Text 22">
              <a:extLst>
                <a:ext uri="{FF2B5EF4-FFF2-40B4-BE49-F238E27FC236}">
                  <a16:creationId xmlns:a16="http://schemas.microsoft.com/office/drawing/2014/main" id="{27FB113D-BBA9-A926-C4D0-C365EBA70451}"/>
                </a:ext>
              </a:extLst>
            </p:cNvPr>
            <p:cNvSpPr/>
            <p:nvPr/>
          </p:nvSpPr>
          <p:spPr>
            <a:xfrm>
              <a:off x="9970568" y="5096094"/>
              <a:ext cx="1645920" cy="219456"/>
            </a:xfrm>
            <a:prstGeom prst="rect">
              <a:avLst/>
            </a:prstGeom>
            <a:noFill/>
            <a:ln/>
          </p:spPr>
          <p:txBody>
            <a:bodyPr wrap="square" lIns="0" tIns="0" rIns="0" bIns="0" rtlCol="0" anchor="ctr"/>
            <a:lstStyle/>
            <a:p>
              <a:pPr marL="0" indent="0" algn="ctr">
                <a:buNone/>
              </a:pPr>
              <a:r>
                <a:rPr lang="en-US" sz="1400" b="1" dirty="0">
                  <a:solidFill>
                    <a:srgbClr val="7C3AED"/>
                  </a:solidFill>
                </a:rPr>
                <a:t>Metric</a:t>
              </a:r>
              <a:endParaRPr lang="en-US" sz="1400" dirty="0"/>
            </a:p>
          </p:txBody>
        </p:sp>
        <p:sp>
          <p:nvSpPr>
            <p:cNvPr id="5182" name="Text 23">
              <a:extLst>
                <a:ext uri="{FF2B5EF4-FFF2-40B4-BE49-F238E27FC236}">
                  <a16:creationId xmlns:a16="http://schemas.microsoft.com/office/drawing/2014/main" id="{79F75FED-C219-7A78-2446-F2332A5F4DA7}"/>
                </a:ext>
              </a:extLst>
            </p:cNvPr>
            <p:cNvSpPr/>
            <p:nvPr/>
          </p:nvSpPr>
          <p:spPr>
            <a:xfrm>
              <a:off x="9970568" y="5406990"/>
              <a:ext cx="1645920" cy="457200"/>
            </a:xfrm>
            <a:prstGeom prst="rect">
              <a:avLst/>
            </a:prstGeom>
            <a:noFill/>
            <a:ln/>
          </p:spPr>
          <p:txBody>
            <a:bodyPr wrap="square" lIns="0" tIns="0" rIns="0" bIns="0" rtlCol="0" anchor="ctr"/>
            <a:lstStyle/>
            <a:p>
              <a:pPr marL="0" indent="0" algn="ctr">
                <a:buNone/>
              </a:pPr>
              <a:r>
                <a:rPr lang="en-US" sz="2300" b="1" dirty="0">
                  <a:solidFill>
                    <a:srgbClr val="14213D"/>
                  </a:solidFill>
                </a:rPr>
                <a:t>R²</a:t>
              </a:r>
              <a:endParaRPr lang="en-US" sz="2300" dirty="0"/>
            </a:p>
          </p:txBody>
        </p:sp>
        <p:sp>
          <p:nvSpPr>
            <p:cNvPr id="5183" name="Text 24">
              <a:extLst>
                <a:ext uri="{FF2B5EF4-FFF2-40B4-BE49-F238E27FC236}">
                  <a16:creationId xmlns:a16="http://schemas.microsoft.com/office/drawing/2014/main" id="{2D6E4C7E-021B-48FA-AB3E-9B6A6B2EF56D}"/>
                </a:ext>
              </a:extLst>
            </p:cNvPr>
            <p:cNvSpPr/>
            <p:nvPr/>
          </p:nvSpPr>
          <p:spPr>
            <a:xfrm>
              <a:off x="9970568" y="5937342"/>
              <a:ext cx="1645920" cy="256032"/>
            </a:xfrm>
            <a:prstGeom prst="rect">
              <a:avLst/>
            </a:prstGeom>
            <a:noFill/>
            <a:ln/>
          </p:spPr>
          <p:txBody>
            <a:bodyPr wrap="square" lIns="0" tIns="0" rIns="0" bIns="0" rtlCol="0" anchor="ctr"/>
            <a:lstStyle/>
            <a:p>
              <a:pPr marL="0" indent="0" algn="ctr">
                <a:buNone/>
              </a:pPr>
              <a:r>
                <a:rPr lang="en-US" sz="1300" dirty="0">
                  <a:solidFill>
                    <a:srgbClr val="516070"/>
                  </a:solidFill>
                </a:rPr>
                <a:t>higher is better</a:t>
              </a:r>
              <a:endParaRPr lang="en-US" sz="1300" dirty="0"/>
            </a:p>
          </p:txBody>
        </p:sp>
      </p:grpSp>
      <p:pic>
        <p:nvPicPr>
          <p:cNvPr id="7236" name="图片 7235">
            <a:extLst>
              <a:ext uri="{FF2B5EF4-FFF2-40B4-BE49-F238E27FC236}">
                <a16:creationId xmlns:a16="http://schemas.microsoft.com/office/drawing/2014/main" id="{BBC999CE-EDA7-28CF-6B98-F1D5AFE716AE}"/>
              </a:ext>
            </a:extLst>
          </p:cNvPr>
          <p:cNvPicPr>
            <a:picLocks noChangeAspect="1"/>
          </p:cNvPicPr>
          <p:nvPr/>
        </p:nvPicPr>
        <p:blipFill>
          <a:blip r:embed="rId4"/>
          <a:stretch>
            <a:fillRect/>
          </a:stretch>
        </p:blipFill>
        <p:spPr>
          <a:xfrm>
            <a:off x="7901533" y="3850666"/>
            <a:ext cx="1889904" cy="1349931"/>
          </a:xfrm>
          <a:prstGeom prst="rect">
            <a:avLst/>
          </a:prstGeom>
        </p:spPr>
      </p:pic>
      <p:sp>
        <p:nvSpPr>
          <p:cNvPr id="7237" name="箭头: 右 7236">
            <a:extLst>
              <a:ext uri="{FF2B5EF4-FFF2-40B4-BE49-F238E27FC236}">
                <a16:creationId xmlns:a16="http://schemas.microsoft.com/office/drawing/2014/main" id="{A63FBF8B-456A-E39C-6C3B-7879B2BB25DA}"/>
              </a:ext>
            </a:extLst>
          </p:cNvPr>
          <p:cNvSpPr/>
          <p:nvPr/>
        </p:nvSpPr>
        <p:spPr>
          <a:xfrm rot="5400000">
            <a:off x="10127925" y="3702679"/>
            <a:ext cx="529474" cy="358543"/>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38" name="矩形: 圆角 7237">
            <a:extLst>
              <a:ext uri="{FF2B5EF4-FFF2-40B4-BE49-F238E27FC236}">
                <a16:creationId xmlns:a16="http://schemas.microsoft.com/office/drawing/2014/main" id="{CB58635C-708C-50F8-00E8-9C657E188E75}"/>
              </a:ext>
            </a:extLst>
          </p:cNvPr>
          <p:cNvSpPr/>
          <p:nvPr/>
        </p:nvSpPr>
        <p:spPr>
          <a:xfrm>
            <a:off x="9464898" y="4282278"/>
            <a:ext cx="1855528" cy="509848"/>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Predicate DFT result </a:t>
            </a:r>
            <a:endParaRPr lang="zh-CN" altLang="en-US" sz="1400" dirty="0">
              <a:solidFill>
                <a:schemeClr val="tx1"/>
              </a:solidFill>
            </a:endParaRPr>
          </a:p>
        </p:txBody>
      </p:sp>
      <p:sp>
        <p:nvSpPr>
          <p:cNvPr id="7239" name="箭头: 右 7238">
            <a:extLst>
              <a:ext uri="{FF2B5EF4-FFF2-40B4-BE49-F238E27FC236}">
                <a16:creationId xmlns:a16="http://schemas.microsoft.com/office/drawing/2014/main" id="{17DBBBFE-95C4-46D3-AC44-C78EA044924C}"/>
              </a:ext>
            </a:extLst>
          </p:cNvPr>
          <p:cNvSpPr/>
          <p:nvPr/>
        </p:nvSpPr>
        <p:spPr>
          <a:xfrm rot="10800000">
            <a:off x="7453266" y="4357930"/>
            <a:ext cx="529474" cy="358543"/>
          </a:xfrm>
          <a:prstGeom prst="rightArrow">
            <a:avLst>
              <a:gd name="adj1" fmla="val 66406"/>
              <a:gd name="adj2" fmla="val 50000"/>
            </a:avLst>
          </a:prstGeom>
          <a:solidFill>
            <a:srgbClr val="B0BCDF"/>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0" name="矩形: 圆角 7239">
            <a:extLst>
              <a:ext uri="{FF2B5EF4-FFF2-40B4-BE49-F238E27FC236}">
                <a16:creationId xmlns:a16="http://schemas.microsoft.com/office/drawing/2014/main" id="{DD82FC53-1720-3D1B-203E-01A9303E50CF}"/>
              </a:ext>
            </a:extLst>
          </p:cNvPr>
          <p:cNvSpPr/>
          <p:nvPr/>
        </p:nvSpPr>
        <p:spPr>
          <a:xfrm>
            <a:off x="5628214" y="4269541"/>
            <a:ext cx="1706738" cy="562002"/>
          </a:xfrm>
          <a:prstGeom prst="roundRect">
            <a:avLst/>
          </a:prstGeom>
          <a:solidFill>
            <a:srgbClr val="F5F5F5"/>
          </a:solidFill>
          <a:ln>
            <a:no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Find candidate materials</a:t>
            </a:r>
            <a:endParaRPr lang="zh-CN" altLang="en-US" sz="1400" dirty="0">
              <a:solidFill>
                <a:schemeClr val="tx1"/>
              </a:solidFill>
            </a:endParaRPr>
          </a:p>
        </p:txBody>
      </p:sp>
    </p:spTree>
    <p:extLst>
      <p:ext uri="{BB962C8B-B14F-4D97-AF65-F5344CB8AC3E}">
        <p14:creationId xmlns:p14="http://schemas.microsoft.com/office/powerpoint/2010/main" val="1203496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F3F73D-C2A8-CDCC-E4DB-3D8E70C9AF46}"/>
              </a:ext>
            </a:extLst>
          </p:cNvPr>
          <p:cNvSpPr>
            <a:spLocks noGrp="1"/>
          </p:cNvSpPr>
          <p:nvPr>
            <p:ph type="sldNum" sz="quarter" idx="12"/>
          </p:nvPr>
        </p:nvSpPr>
        <p:spPr/>
        <p:txBody>
          <a:bodyPr/>
          <a:lstStyle/>
          <a:p>
            <a:fld id="{5A846D4C-743D-4A62-AF1E-2CABDD37274B}" type="slidenum">
              <a:rPr lang="en-US" smtClean="0"/>
              <a:t>5</a:t>
            </a:fld>
            <a:endParaRPr lang="en-US" dirty="0"/>
          </a:p>
        </p:txBody>
      </p:sp>
      <p:grpSp>
        <p:nvGrpSpPr>
          <p:cNvPr id="10" name="组合 9">
            <a:extLst>
              <a:ext uri="{FF2B5EF4-FFF2-40B4-BE49-F238E27FC236}">
                <a16:creationId xmlns:a16="http://schemas.microsoft.com/office/drawing/2014/main" id="{0F73AFE1-C19A-0F43-7402-9D300EEEE185}"/>
              </a:ext>
            </a:extLst>
          </p:cNvPr>
          <p:cNvGrpSpPr/>
          <p:nvPr/>
        </p:nvGrpSpPr>
        <p:grpSpPr>
          <a:xfrm>
            <a:off x="1099152" y="2214373"/>
            <a:ext cx="3316918" cy="4050180"/>
            <a:chOff x="5014913" y="1911349"/>
            <a:chExt cx="2776537" cy="3390338"/>
          </a:xfrm>
        </p:grpSpPr>
        <p:sp>
          <p:nvSpPr>
            <p:cNvPr id="4" name="梯形 3">
              <a:extLst>
                <a:ext uri="{FF2B5EF4-FFF2-40B4-BE49-F238E27FC236}">
                  <a16:creationId xmlns:a16="http://schemas.microsoft.com/office/drawing/2014/main" id="{29A2C667-0FE7-34BE-72A6-15D0B33425D1}"/>
                </a:ext>
              </a:extLst>
            </p:cNvPr>
            <p:cNvSpPr/>
            <p:nvPr/>
          </p:nvSpPr>
          <p:spPr>
            <a:xfrm flipV="1">
              <a:off x="5014913" y="1911349"/>
              <a:ext cx="2776537" cy="504000"/>
            </a:xfrm>
            <a:prstGeom prst="trapezoid">
              <a:avLst>
                <a:gd name="adj" fmla="val 39879"/>
              </a:avLst>
            </a:prstGeom>
            <a:solidFill>
              <a:srgbClr val="F7AB8C"/>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梯形 4">
              <a:extLst>
                <a:ext uri="{FF2B5EF4-FFF2-40B4-BE49-F238E27FC236}">
                  <a16:creationId xmlns:a16="http://schemas.microsoft.com/office/drawing/2014/main" id="{D3BAF84B-FE9B-C1EE-2B8F-95637414A80E}"/>
                </a:ext>
              </a:extLst>
            </p:cNvPr>
            <p:cNvSpPr/>
            <p:nvPr/>
          </p:nvSpPr>
          <p:spPr>
            <a:xfrm flipV="1">
              <a:off x="5217320" y="2415347"/>
              <a:ext cx="2375296" cy="504000"/>
            </a:xfrm>
            <a:prstGeom prst="trapezoid">
              <a:avLst>
                <a:gd name="adj" fmla="val 39879"/>
              </a:avLst>
            </a:prstGeom>
            <a:solidFill>
              <a:srgbClr val="D0D0D0"/>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梯形 5">
              <a:extLst>
                <a:ext uri="{FF2B5EF4-FFF2-40B4-BE49-F238E27FC236}">
                  <a16:creationId xmlns:a16="http://schemas.microsoft.com/office/drawing/2014/main" id="{8D2B6B4C-4D8E-0C27-24CB-DF1F5A93697F}"/>
                </a:ext>
              </a:extLst>
            </p:cNvPr>
            <p:cNvSpPr/>
            <p:nvPr/>
          </p:nvSpPr>
          <p:spPr>
            <a:xfrm flipV="1">
              <a:off x="5424488" y="2919347"/>
              <a:ext cx="1964531" cy="504000"/>
            </a:xfrm>
            <a:prstGeom prst="trapezoid">
              <a:avLst>
                <a:gd name="adj" fmla="val 39879"/>
              </a:avLst>
            </a:prstGeom>
            <a:solidFill>
              <a:srgbClr val="FFD99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梯形 6">
              <a:extLst>
                <a:ext uri="{FF2B5EF4-FFF2-40B4-BE49-F238E27FC236}">
                  <a16:creationId xmlns:a16="http://schemas.microsoft.com/office/drawing/2014/main" id="{318F36FF-A269-E09A-44AD-E75440E47FCA}"/>
                </a:ext>
              </a:extLst>
            </p:cNvPr>
            <p:cNvSpPr/>
            <p:nvPr/>
          </p:nvSpPr>
          <p:spPr>
            <a:xfrm flipV="1">
              <a:off x="5634433" y="3434654"/>
              <a:ext cx="1549797" cy="504000"/>
            </a:xfrm>
            <a:prstGeom prst="trapezoid">
              <a:avLst>
                <a:gd name="adj" fmla="val 39879"/>
              </a:avLst>
            </a:prstGeom>
            <a:solidFill>
              <a:srgbClr val="A5C1E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a:extLst>
                <a:ext uri="{FF2B5EF4-FFF2-40B4-BE49-F238E27FC236}">
                  <a16:creationId xmlns:a16="http://schemas.microsoft.com/office/drawing/2014/main" id="{65F4CC04-148A-2F73-3734-ED03AC98176F}"/>
                </a:ext>
              </a:extLst>
            </p:cNvPr>
            <p:cNvSpPr/>
            <p:nvPr/>
          </p:nvSpPr>
          <p:spPr>
            <a:xfrm flipV="1">
              <a:off x="5837433" y="3940437"/>
              <a:ext cx="1139034" cy="504000"/>
            </a:xfrm>
            <a:prstGeom prst="trapezoid">
              <a:avLst>
                <a:gd name="adj" fmla="val 39879"/>
              </a:avLst>
            </a:prstGeom>
            <a:solidFill>
              <a:srgbClr val="AED29F"/>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a:extLst>
                <a:ext uri="{FF2B5EF4-FFF2-40B4-BE49-F238E27FC236}">
                  <a16:creationId xmlns:a16="http://schemas.microsoft.com/office/drawing/2014/main" id="{7892AA58-3BC0-D1EB-E7BF-37A5464E0A74}"/>
                </a:ext>
              </a:extLst>
            </p:cNvPr>
            <p:cNvSpPr/>
            <p:nvPr/>
          </p:nvSpPr>
          <p:spPr>
            <a:xfrm flipV="1">
              <a:off x="6048375" y="4444437"/>
              <a:ext cx="723900" cy="857250"/>
            </a:xfrm>
            <a:prstGeom prst="triangle">
              <a:avLst/>
            </a:prstGeom>
            <a:solidFill>
              <a:srgbClr val="FFCDCD"/>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8B1AA6D9-7B3C-1A0A-4488-F3F166085F1E}"/>
              </a:ext>
            </a:extLst>
          </p:cNvPr>
          <p:cNvSpPr txBox="1"/>
          <p:nvPr/>
        </p:nvSpPr>
        <p:spPr>
          <a:xfrm>
            <a:off x="2165769" y="2303461"/>
            <a:ext cx="1233635" cy="430887"/>
          </a:xfrm>
          <a:prstGeom prst="rect">
            <a:avLst/>
          </a:prstGeom>
          <a:noFill/>
        </p:spPr>
        <p:txBody>
          <a:bodyPr wrap="square" rtlCol="0">
            <a:spAutoFit/>
          </a:bodyPr>
          <a:lstStyle/>
          <a:p>
            <a:pPr algn="ctr"/>
            <a:r>
              <a:rPr lang="en-US" altLang="zh-CN" sz="2200" dirty="0"/>
              <a:t>5 million</a:t>
            </a:r>
            <a:endParaRPr lang="zh-CN" altLang="en-US" sz="2200" dirty="0"/>
          </a:p>
        </p:txBody>
      </p:sp>
      <p:sp>
        <p:nvSpPr>
          <p:cNvPr id="12" name="文本框 11">
            <a:extLst>
              <a:ext uri="{FF2B5EF4-FFF2-40B4-BE49-F238E27FC236}">
                <a16:creationId xmlns:a16="http://schemas.microsoft.com/office/drawing/2014/main" id="{C7C1B714-470F-70C1-6603-A7E9A9F2FC44}"/>
              </a:ext>
            </a:extLst>
          </p:cNvPr>
          <p:cNvSpPr txBox="1"/>
          <p:nvPr/>
        </p:nvSpPr>
        <p:spPr>
          <a:xfrm>
            <a:off x="2338118" y="2905552"/>
            <a:ext cx="888937" cy="430887"/>
          </a:xfrm>
          <a:prstGeom prst="rect">
            <a:avLst/>
          </a:prstGeom>
          <a:noFill/>
        </p:spPr>
        <p:txBody>
          <a:bodyPr wrap="square" rtlCol="0">
            <a:spAutoFit/>
          </a:bodyPr>
          <a:lstStyle/>
          <a:p>
            <a:pPr algn="ctr"/>
            <a:r>
              <a:rPr lang="en-US" altLang="zh-CN" sz="2200" dirty="0"/>
              <a:t>8,027</a:t>
            </a:r>
            <a:endParaRPr lang="zh-CN" altLang="en-US" sz="2200" dirty="0"/>
          </a:p>
        </p:txBody>
      </p:sp>
      <p:sp>
        <p:nvSpPr>
          <p:cNvPr id="13" name="文本框 12">
            <a:extLst>
              <a:ext uri="{FF2B5EF4-FFF2-40B4-BE49-F238E27FC236}">
                <a16:creationId xmlns:a16="http://schemas.microsoft.com/office/drawing/2014/main" id="{24A7B13D-25F2-9953-9457-346DCA549060}"/>
              </a:ext>
            </a:extLst>
          </p:cNvPr>
          <p:cNvSpPr txBox="1"/>
          <p:nvPr/>
        </p:nvSpPr>
        <p:spPr>
          <a:xfrm>
            <a:off x="2338118" y="3542857"/>
            <a:ext cx="888937" cy="430887"/>
          </a:xfrm>
          <a:prstGeom prst="rect">
            <a:avLst/>
          </a:prstGeom>
          <a:noFill/>
        </p:spPr>
        <p:txBody>
          <a:bodyPr wrap="square" rtlCol="0">
            <a:spAutoFit/>
          </a:bodyPr>
          <a:lstStyle/>
          <a:p>
            <a:pPr algn="ctr"/>
            <a:r>
              <a:rPr lang="en-US" altLang="zh-CN" sz="2200" dirty="0"/>
              <a:t>7,169</a:t>
            </a:r>
            <a:endParaRPr lang="zh-CN" altLang="en-US" sz="2200" dirty="0"/>
          </a:p>
        </p:txBody>
      </p:sp>
      <p:sp>
        <p:nvSpPr>
          <p:cNvPr id="14" name="文本框 11">
            <a:extLst>
              <a:ext uri="{FF2B5EF4-FFF2-40B4-BE49-F238E27FC236}">
                <a16:creationId xmlns:a16="http://schemas.microsoft.com/office/drawing/2014/main" id="{C7C1B714-470F-70C1-6603-A7E9A9F2FC44}"/>
              </a:ext>
            </a:extLst>
          </p:cNvPr>
          <p:cNvSpPr txBox="1"/>
          <p:nvPr/>
        </p:nvSpPr>
        <p:spPr>
          <a:xfrm>
            <a:off x="2451102" y="4099194"/>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650</a:t>
            </a:r>
            <a:endParaRPr lang="zh-CN" altLang="en-US" sz="2200" dirty="0"/>
          </a:p>
        </p:txBody>
      </p:sp>
      <p:sp>
        <p:nvSpPr>
          <p:cNvPr id="15" name="文本框 11">
            <a:extLst>
              <a:ext uri="{FF2B5EF4-FFF2-40B4-BE49-F238E27FC236}">
                <a16:creationId xmlns:a16="http://schemas.microsoft.com/office/drawing/2014/main" id="{C7C1B714-470F-70C1-6603-A7E9A9F2FC44}"/>
              </a:ext>
            </a:extLst>
          </p:cNvPr>
          <p:cNvSpPr txBox="1"/>
          <p:nvPr/>
        </p:nvSpPr>
        <p:spPr>
          <a:xfrm>
            <a:off x="2451102" y="4730547"/>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572</a:t>
            </a:r>
            <a:endParaRPr lang="zh-CN" altLang="en-US" sz="2200" dirty="0"/>
          </a:p>
        </p:txBody>
      </p:sp>
      <p:sp>
        <p:nvSpPr>
          <p:cNvPr id="16" name="文本框 11">
            <a:extLst>
              <a:ext uri="{FF2B5EF4-FFF2-40B4-BE49-F238E27FC236}">
                <a16:creationId xmlns:a16="http://schemas.microsoft.com/office/drawing/2014/main" id="{C7C1B714-470F-70C1-6603-A7E9A9F2FC44}"/>
              </a:ext>
            </a:extLst>
          </p:cNvPr>
          <p:cNvSpPr txBox="1"/>
          <p:nvPr/>
        </p:nvSpPr>
        <p:spPr>
          <a:xfrm>
            <a:off x="2451102" y="5332856"/>
            <a:ext cx="66296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dirty="0"/>
              <a:t>207</a:t>
            </a:r>
            <a:endParaRPr lang="zh-CN" altLang="en-US" sz="2200" dirty="0"/>
          </a:p>
        </p:txBody>
      </p:sp>
      <p:sp>
        <p:nvSpPr>
          <p:cNvPr id="17" name="矩形 16">
            <a:extLst>
              <a:ext uri="{FF2B5EF4-FFF2-40B4-BE49-F238E27FC236}">
                <a16:creationId xmlns:a16="http://schemas.microsoft.com/office/drawing/2014/main" id="{F1304A84-8C13-B688-4D94-7E0BD361048F}"/>
              </a:ext>
            </a:extLst>
          </p:cNvPr>
          <p:cNvSpPr/>
          <p:nvPr/>
        </p:nvSpPr>
        <p:spPr>
          <a:xfrm>
            <a:off x="5438423" y="2303461"/>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PubChem database</a:t>
            </a:r>
            <a:endParaRPr lang="zh-CN" altLang="en-US" sz="2000" dirty="0">
              <a:solidFill>
                <a:sysClr val="windowText" lastClr="000000"/>
              </a:solidFill>
            </a:endParaRPr>
          </a:p>
        </p:txBody>
      </p:sp>
      <p:cxnSp>
        <p:nvCxnSpPr>
          <p:cNvPr id="19" name="直接箭头连接符 18">
            <a:extLst>
              <a:ext uri="{FF2B5EF4-FFF2-40B4-BE49-F238E27FC236}">
                <a16:creationId xmlns:a16="http://schemas.microsoft.com/office/drawing/2014/main" id="{C8DE3D15-A81F-5AA4-07E7-D420328D384C}"/>
              </a:ext>
            </a:extLst>
          </p:cNvPr>
          <p:cNvCxnSpPr>
            <a:cxnSpLocks/>
          </p:cNvCxnSpPr>
          <p:nvPr/>
        </p:nvCxnSpPr>
        <p:spPr>
          <a:xfrm>
            <a:off x="4592282" y="2529892"/>
            <a:ext cx="551593"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1" name="矩形 20">
            <a:extLst>
              <a:ext uri="{FF2B5EF4-FFF2-40B4-BE49-F238E27FC236}">
                <a16:creationId xmlns:a16="http://schemas.microsoft.com/office/drawing/2014/main" id="{A7329A31-5C5C-8BA1-0B99-50A608853D26}"/>
              </a:ext>
            </a:extLst>
          </p:cNvPr>
          <p:cNvSpPr/>
          <p:nvPr/>
        </p:nvSpPr>
        <p:spPr>
          <a:xfrm>
            <a:off x="5438423" y="2905552"/>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Charge = -1 anions</a:t>
            </a:r>
            <a:endParaRPr lang="zh-CN" altLang="en-US" sz="2000" dirty="0">
              <a:solidFill>
                <a:sysClr val="windowText" lastClr="000000"/>
              </a:solidFill>
            </a:endParaRPr>
          </a:p>
        </p:txBody>
      </p:sp>
      <p:cxnSp>
        <p:nvCxnSpPr>
          <p:cNvPr id="22" name="直接箭头连接符 21">
            <a:extLst>
              <a:ext uri="{FF2B5EF4-FFF2-40B4-BE49-F238E27FC236}">
                <a16:creationId xmlns:a16="http://schemas.microsoft.com/office/drawing/2014/main" id="{BCFB413C-8EFF-D253-DBCB-B4A35AF6F797}"/>
              </a:ext>
            </a:extLst>
          </p:cNvPr>
          <p:cNvCxnSpPr>
            <a:cxnSpLocks/>
          </p:cNvCxnSpPr>
          <p:nvPr/>
        </p:nvCxnSpPr>
        <p:spPr>
          <a:xfrm>
            <a:off x="4353300" y="3131983"/>
            <a:ext cx="79057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B9EEEF2E-780C-7B9C-581A-24968285AA92}"/>
              </a:ext>
            </a:extLst>
          </p:cNvPr>
          <p:cNvSpPr/>
          <p:nvPr/>
        </p:nvSpPr>
        <p:spPr>
          <a:xfrm>
            <a:off x="5438422" y="3497103"/>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Exist as Li/Na/K salts</a:t>
            </a:r>
            <a:endParaRPr lang="zh-CN" altLang="en-US" sz="2000" dirty="0">
              <a:solidFill>
                <a:sysClr val="windowText" lastClr="000000"/>
              </a:solidFill>
            </a:endParaRPr>
          </a:p>
        </p:txBody>
      </p:sp>
      <p:cxnSp>
        <p:nvCxnSpPr>
          <p:cNvPr id="25" name="直接箭头连接符 24">
            <a:extLst>
              <a:ext uri="{FF2B5EF4-FFF2-40B4-BE49-F238E27FC236}">
                <a16:creationId xmlns:a16="http://schemas.microsoft.com/office/drawing/2014/main" id="{D35593FE-3318-3EDC-2504-C21EDB664D55}"/>
              </a:ext>
            </a:extLst>
          </p:cNvPr>
          <p:cNvCxnSpPr>
            <a:cxnSpLocks/>
          </p:cNvCxnSpPr>
          <p:nvPr/>
        </p:nvCxnSpPr>
        <p:spPr>
          <a:xfrm>
            <a:off x="4103269" y="3723534"/>
            <a:ext cx="104060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7640FCDC-1ABB-B632-DD3B-3B253FE38D53}"/>
              </a:ext>
            </a:extLst>
          </p:cNvPr>
          <p:cNvSpPr/>
          <p:nvPr/>
        </p:nvSpPr>
        <p:spPr>
          <a:xfrm>
            <a:off x="5438423" y="4099194"/>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2&lt; non-hydrogen atoms &lt;5</a:t>
            </a:r>
            <a:endParaRPr lang="zh-CN" altLang="en-US" sz="2000" dirty="0">
              <a:solidFill>
                <a:sysClr val="windowText" lastClr="000000"/>
              </a:solidFill>
            </a:endParaRPr>
          </a:p>
        </p:txBody>
      </p:sp>
      <p:cxnSp>
        <p:nvCxnSpPr>
          <p:cNvPr id="27" name="直接箭头连接符 26">
            <a:extLst>
              <a:ext uri="{FF2B5EF4-FFF2-40B4-BE49-F238E27FC236}">
                <a16:creationId xmlns:a16="http://schemas.microsoft.com/office/drawing/2014/main" id="{12442389-E0D2-7FE1-8F02-046D7225A7F3}"/>
              </a:ext>
            </a:extLst>
          </p:cNvPr>
          <p:cNvCxnSpPr>
            <a:cxnSpLocks/>
          </p:cNvCxnSpPr>
          <p:nvPr/>
        </p:nvCxnSpPr>
        <p:spPr>
          <a:xfrm>
            <a:off x="3869906" y="4314637"/>
            <a:ext cx="1273969" cy="1098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2" name="矩形 31">
            <a:extLst>
              <a:ext uri="{FF2B5EF4-FFF2-40B4-BE49-F238E27FC236}">
                <a16:creationId xmlns:a16="http://schemas.microsoft.com/office/drawing/2014/main" id="{6C50554A-3E27-5300-6760-26553746F18E}"/>
              </a:ext>
            </a:extLst>
          </p:cNvPr>
          <p:cNvSpPr/>
          <p:nvPr/>
        </p:nvSpPr>
        <p:spPr>
          <a:xfrm>
            <a:off x="5438422" y="4776172"/>
            <a:ext cx="4415565"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Molecular weight &lt; 70</a:t>
            </a:r>
            <a:endParaRPr lang="zh-CN" altLang="en-US" sz="2000" dirty="0">
              <a:solidFill>
                <a:sysClr val="windowText" lastClr="000000"/>
              </a:solidFill>
            </a:endParaRPr>
          </a:p>
        </p:txBody>
      </p:sp>
      <p:cxnSp>
        <p:nvCxnSpPr>
          <p:cNvPr id="33" name="直接箭头连接符 32">
            <a:extLst>
              <a:ext uri="{FF2B5EF4-FFF2-40B4-BE49-F238E27FC236}">
                <a16:creationId xmlns:a16="http://schemas.microsoft.com/office/drawing/2014/main" id="{E2D232E3-6261-F72C-B7FF-E231814F6331}"/>
              </a:ext>
            </a:extLst>
          </p:cNvPr>
          <p:cNvCxnSpPr>
            <a:cxnSpLocks/>
          </p:cNvCxnSpPr>
          <p:nvPr/>
        </p:nvCxnSpPr>
        <p:spPr>
          <a:xfrm>
            <a:off x="3586538" y="5002603"/>
            <a:ext cx="1557337"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960E557E-79DD-C9D0-ECF5-5CF41C00E474}"/>
              </a:ext>
            </a:extLst>
          </p:cNvPr>
          <p:cNvSpPr/>
          <p:nvPr/>
        </p:nvSpPr>
        <p:spPr>
          <a:xfrm>
            <a:off x="5438423" y="5406841"/>
            <a:ext cx="4415564" cy="4308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ysClr val="windowText" lastClr="000000"/>
                </a:solidFill>
              </a:rPr>
              <a:t>Hydrogen Bond Acceptor Count </a:t>
            </a:r>
            <a:r>
              <a:rPr lang="zh-CN" altLang="en-US" sz="2000" dirty="0">
                <a:solidFill>
                  <a:sysClr val="windowText" lastClr="000000"/>
                </a:solidFill>
              </a:rPr>
              <a:t>≠ </a:t>
            </a:r>
            <a:r>
              <a:rPr lang="en-US" altLang="zh-CN" sz="2000" dirty="0">
                <a:solidFill>
                  <a:sysClr val="windowText" lastClr="000000"/>
                </a:solidFill>
              </a:rPr>
              <a:t>0</a:t>
            </a:r>
            <a:endParaRPr lang="zh-CN" altLang="en-US" sz="2000" dirty="0">
              <a:solidFill>
                <a:sysClr val="windowText" lastClr="000000"/>
              </a:solidFill>
            </a:endParaRPr>
          </a:p>
        </p:txBody>
      </p:sp>
      <p:cxnSp>
        <p:nvCxnSpPr>
          <p:cNvPr id="35" name="直接箭头连接符 34">
            <a:extLst>
              <a:ext uri="{FF2B5EF4-FFF2-40B4-BE49-F238E27FC236}">
                <a16:creationId xmlns:a16="http://schemas.microsoft.com/office/drawing/2014/main" id="{81B697D6-D33C-4E89-F5A7-AD42895318F8}"/>
              </a:ext>
            </a:extLst>
          </p:cNvPr>
          <p:cNvCxnSpPr>
            <a:cxnSpLocks/>
          </p:cNvCxnSpPr>
          <p:nvPr/>
        </p:nvCxnSpPr>
        <p:spPr>
          <a:xfrm>
            <a:off x="3322219" y="5633272"/>
            <a:ext cx="1821656"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7" name="文本框 46">
            <a:extLst>
              <a:ext uri="{FF2B5EF4-FFF2-40B4-BE49-F238E27FC236}">
                <a16:creationId xmlns:a16="http://schemas.microsoft.com/office/drawing/2014/main" id="{D6BC03BF-A06D-649D-241F-EC22D6D170E2}"/>
              </a:ext>
            </a:extLst>
          </p:cNvPr>
          <p:cNvSpPr txBox="1"/>
          <p:nvPr/>
        </p:nvSpPr>
        <p:spPr>
          <a:xfrm>
            <a:off x="6768399" y="1688038"/>
            <a:ext cx="1755609" cy="369332"/>
          </a:xfrm>
          <a:prstGeom prst="rect">
            <a:avLst/>
          </a:prstGeom>
          <a:noFill/>
        </p:spPr>
        <p:txBody>
          <a:bodyPr wrap="none" rtlCol="0">
            <a:spAutoFit/>
          </a:bodyPr>
          <a:lstStyle/>
          <a:p>
            <a:r>
              <a:rPr lang="en-US" altLang="zh-CN" b="1" dirty="0"/>
              <a:t>Screening tiers</a:t>
            </a:r>
            <a:endParaRPr lang="zh-CN" altLang="en-US" b="1" dirty="0"/>
          </a:p>
        </p:txBody>
      </p:sp>
      <p:sp>
        <p:nvSpPr>
          <p:cNvPr id="48" name="文本框 47">
            <a:extLst>
              <a:ext uri="{FF2B5EF4-FFF2-40B4-BE49-F238E27FC236}">
                <a16:creationId xmlns:a16="http://schemas.microsoft.com/office/drawing/2014/main" id="{8BBAF6CC-C267-F0C9-F278-9616FFD42C93}"/>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Data screening</a:t>
            </a:r>
          </a:p>
        </p:txBody>
      </p:sp>
      <p:cxnSp>
        <p:nvCxnSpPr>
          <p:cNvPr id="49" name="直接连接符 48">
            <a:extLst>
              <a:ext uri="{FF2B5EF4-FFF2-40B4-BE49-F238E27FC236}">
                <a16:creationId xmlns:a16="http://schemas.microsoft.com/office/drawing/2014/main" id="{7E109FBC-0602-1522-2B53-02D524D2F519}"/>
              </a:ext>
            </a:extLst>
          </p:cNvPr>
          <p:cNvCxnSpPr>
            <a:cxnSpLocks/>
          </p:cNvCxnSpPr>
          <p:nvPr/>
        </p:nvCxnSpPr>
        <p:spPr>
          <a:xfrm>
            <a:off x="2684002" y="1458606"/>
            <a:ext cx="0" cy="704967"/>
          </a:xfrm>
          <a:prstGeom prst="line">
            <a:avLst/>
          </a:prstGeom>
          <a:ln w="38100">
            <a:solidFill>
              <a:srgbClr val="FFD991"/>
            </a:solidFill>
            <a:prstDash val="dash"/>
            <a:headEnd type="none"/>
            <a:tailEnd type="oval"/>
          </a:ln>
        </p:spPr>
        <p:style>
          <a:lnRef idx="2">
            <a:schemeClr val="accent1"/>
          </a:lnRef>
          <a:fillRef idx="0">
            <a:schemeClr val="accent1"/>
          </a:fillRef>
          <a:effectRef idx="1">
            <a:schemeClr val="accent1"/>
          </a:effectRef>
          <a:fontRef idx="minor">
            <a:schemeClr val="tx1"/>
          </a:fontRef>
        </p:style>
      </p:cxnSp>
      <p:cxnSp>
        <p:nvCxnSpPr>
          <p:cNvPr id="50" name="直接连接符 49">
            <a:extLst>
              <a:ext uri="{FF2B5EF4-FFF2-40B4-BE49-F238E27FC236}">
                <a16:creationId xmlns:a16="http://schemas.microsoft.com/office/drawing/2014/main" id="{0AD96E32-078E-FF20-8A22-6287FEA356E4}"/>
              </a:ext>
            </a:extLst>
          </p:cNvPr>
          <p:cNvCxnSpPr>
            <a:cxnSpLocks/>
          </p:cNvCxnSpPr>
          <p:nvPr/>
        </p:nvCxnSpPr>
        <p:spPr>
          <a:xfrm flipH="1">
            <a:off x="0" y="1377803"/>
            <a:ext cx="2684002" cy="0"/>
          </a:xfrm>
          <a:prstGeom prst="line">
            <a:avLst/>
          </a:prstGeom>
          <a:ln w="38100">
            <a:solidFill>
              <a:srgbClr val="FFD991"/>
            </a:solidFill>
            <a:prstDash val="dash"/>
          </a:ln>
        </p:spPr>
        <p:style>
          <a:lnRef idx="2">
            <a:schemeClr val="accent1"/>
          </a:lnRef>
          <a:fillRef idx="0">
            <a:schemeClr val="accent1"/>
          </a:fillRef>
          <a:effectRef idx="1">
            <a:schemeClr val="accent1"/>
          </a:effectRef>
          <a:fontRef idx="minor">
            <a:schemeClr val="tx1"/>
          </a:fontRef>
        </p:style>
      </p:cxnSp>
      <p:sp>
        <p:nvSpPr>
          <p:cNvPr id="56" name="矩形 55">
            <a:extLst>
              <a:ext uri="{FF2B5EF4-FFF2-40B4-BE49-F238E27FC236}">
                <a16:creationId xmlns:a16="http://schemas.microsoft.com/office/drawing/2014/main" id="{83E1EBFD-47A9-463E-CD66-04DDE91688C0}"/>
              </a:ext>
            </a:extLst>
          </p:cNvPr>
          <p:cNvSpPr/>
          <p:nvPr/>
        </p:nvSpPr>
        <p:spPr>
          <a:xfrm>
            <a:off x="10148535" y="2998405"/>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9" name="矩形 58">
            <a:extLst>
              <a:ext uri="{FF2B5EF4-FFF2-40B4-BE49-F238E27FC236}">
                <a16:creationId xmlns:a16="http://schemas.microsoft.com/office/drawing/2014/main" id="{09D7AA08-D62D-4A76-BE99-BB44F5CE5800}"/>
              </a:ext>
            </a:extLst>
          </p:cNvPr>
          <p:cNvSpPr/>
          <p:nvPr/>
        </p:nvSpPr>
        <p:spPr>
          <a:xfrm>
            <a:off x="10148534" y="3585130"/>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60" name="矩形 59">
            <a:extLst>
              <a:ext uri="{FF2B5EF4-FFF2-40B4-BE49-F238E27FC236}">
                <a16:creationId xmlns:a16="http://schemas.microsoft.com/office/drawing/2014/main" id="{BE5393DB-8C21-5ED6-8278-FB60B924B14A}"/>
              </a:ext>
            </a:extLst>
          </p:cNvPr>
          <p:cNvSpPr/>
          <p:nvPr/>
        </p:nvSpPr>
        <p:spPr>
          <a:xfrm>
            <a:off x="10148533" y="4192047"/>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61" name="矩形 60">
            <a:extLst>
              <a:ext uri="{FF2B5EF4-FFF2-40B4-BE49-F238E27FC236}">
                <a16:creationId xmlns:a16="http://schemas.microsoft.com/office/drawing/2014/main" id="{275EE152-B241-12C4-6079-C873E0E9BABA}"/>
              </a:ext>
            </a:extLst>
          </p:cNvPr>
          <p:cNvSpPr/>
          <p:nvPr/>
        </p:nvSpPr>
        <p:spPr>
          <a:xfrm>
            <a:off x="10148533" y="4869025"/>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62" name="矩形 61">
            <a:extLst>
              <a:ext uri="{FF2B5EF4-FFF2-40B4-BE49-F238E27FC236}">
                <a16:creationId xmlns:a16="http://schemas.microsoft.com/office/drawing/2014/main" id="{CC245FDF-61E4-BD3E-DEC0-5791DF64409C}"/>
              </a:ext>
            </a:extLst>
          </p:cNvPr>
          <p:cNvSpPr/>
          <p:nvPr/>
        </p:nvSpPr>
        <p:spPr>
          <a:xfrm>
            <a:off x="10148532" y="5478370"/>
            <a:ext cx="267155" cy="267155"/>
          </a:xfrm>
          <a:prstGeom prst="rect">
            <a:avLst/>
          </a:prstGeom>
          <a:solidFill>
            <a:srgbClr val="FFD45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Tree>
    <p:extLst>
      <p:ext uri="{BB962C8B-B14F-4D97-AF65-F5344CB8AC3E}">
        <p14:creationId xmlns:p14="http://schemas.microsoft.com/office/powerpoint/2010/main" val="3908341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E2839-9F09-F7AD-3DB8-CD12FD903C8E}"/>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86B3BE64-FD20-05A2-389B-852A402BEA8B}"/>
              </a:ext>
            </a:extLst>
          </p:cNvPr>
          <p:cNvPicPr>
            <a:picLocks noChangeAspect="1"/>
          </p:cNvPicPr>
          <p:nvPr/>
        </p:nvPicPr>
        <p:blipFill>
          <a:blip r:embed="rId3"/>
          <a:stretch>
            <a:fillRect/>
          </a:stretch>
        </p:blipFill>
        <p:spPr>
          <a:xfrm>
            <a:off x="5232990" y="1254778"/>
            <a:ext cx="4824564" cy="2456141"/>
          </a:xfrm>
          <a:prstGeom prst="rect">
            <a:avLst/>
          </a:prstGeom>
        </p:spPr>
      </p:pic>
      <p:pic>
        <p:nvPicPr>
          <p:cNvPr id="18" name="图片 17">
            <a:extLst>
              <a:ext uri="{FF2B5EF4-FFF2-40B4-BE49-F238E27FC236}">
                <a16:creationId xmlns:a16="http://schemas.microsoft.com/office/drawing/2014/main" id="{213BC207-0339-0AE6-F71C-212E78F01DF0}"/>
              </a:ext>
            </a:extLst>
          </p:cNvPr>
          <p:cNvPicPr>
            <a:picLocks noChangeAspect="1"/>
          </p:cNvPicPr>
          <p:nvPr/>
        </p:nvPicPr>
        <p:blipFill>
          <a:blip r:embed="rId4"/>
          <a:stretch>
            <a:fillRect/>
          </a:stretch>
        </p:blipFill>
        <p:spPr>
          <a:xfrm>
            <a:off x="186619" y="1687387"/>
            <a:ext cx="4680000" cy="3640000"/>
          </a:xfrm>
          <a:prstGeom prst="rect">
            <a:avLst/>
          </a:prstGeom>
        </p:spPr>
      </p:pic>
      <p:sp>
        <p:nvSpPr>
          <p:cNvPr id="22" name="灯片编号占位符 21">
            <a:extLst>
              <a:ext uri="{FF2B5EF4-FFF2-40B4-BE49-F238E27FC236}">
                <a16:creationId xmlns:a16="http://schemas.microsoft.com/office/drawing/2014/main" id="{D4D19D27-2D23-2D97-DD6A-B34A7B346A9A}"/>
              </a:ext>
            </a:extLst>
          </p:cNvPr>
          <p:cNvSpPr>
            <a:spLocks noGrp="1"/>
          </p:cNvSpPr>
          <p:nvPr>
            <p:ph type="sldNum" sz="quarter" idx="12"/>
          </p:nvPr>
        </p:nvSpPr>
        <p:spPr/>
        <p:txBody>
          <a:bodyPr/>
          <a:lstStyle/>
          <a:p>
            <a:fld id="{5A846D4C-743D-4A62-AF1E-2CABDD37274B}" type="slidenum">
              <a:rPr lang="en-US" smtClean="0"/>
              <a:t>6</a:t>
            </a:fld>
            <a:endParaRPr lang="en-US"/>
          </a:p>
        </p:txBody>
      </p:sp>
      <p:sp>
        <p:nvSpPr>
          <p:cNvPr id="23" name="文本框 22">
            <a:extLst>
              <a:ext uri="{FF2B5EF4-FFF2-40B4-BE49-F238E27FC236}">
                <a16:creationId xmlns:a16="http://schemas.microsoft.com/office/drawing/2014/main" id="{79C0A701-0700-7A8C-867F-A128E695314C}"/>
              </a:ext>
            </a:extLst>
          </p:cNvPr>
          <p:cNvSpPr txBox="1"/>
          <p:nvPr/>
        </p:nvSpPr>
        <p:spPr>
          <a:xfrm>
            <a:off x="273652" y="304514"/>
            <a:ext cx="8286454" cy="574869"/>
          </a:xfrm>
          <a:prstGeom prst="rect">
            <a:avLst/>
          </a:prstGeom>
        </p:spPr>
        <p:txBody>
          <a:bodyPr vert="horz" lIns="91440" tIns="45720" rIns="91440" bIns="45720" rtlCol="0" anchor="ctr">
            <a:normAutofit lnSpcReduction="10000"/>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Feature</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Distribution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and</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Design</a:t>
            </a:r>
            <a:r>
              <a:rPr lang="zh-CN" altLang="en-US" sz="3200" b="1" kern="1200" dirty="0">
                <a:solidFill>
                  <a:schemeClr val="tx1"/>
                </a:solidFill>
                <a:latin typeface="Segoe UI Black" panose="020B0A02040204020203" pitchFamily="34" charset="0"/>
                <a:ea typeface="Segoe UI Black" panose="020B0A02040204020203" pitchFamily="34" charset="0"/>
                <a:cs typeface="+mj-cs"/>
              </a:rPr>
              <a:t> </a:t>
            </a:r>
            <a:r>
              <a:rPr lang="en-US" altLang="zh-CN" sz="3200" b="1" kern="1200" dirty="0">
                <a:solidFill>
                  <a:schemeClr val="tx1"/>
                </a:solidFill>
                <a:latin typeface="Segoe UI Black" panose="020B0A02040204020203" pitchFamily="34" charset="0"/>
                <a:ea typeface="Segoe UI Black" panose="020B0A02040204020203" pitchFamily="34" charset="0"/>
                <a:cs typeface="+mj-cs"/>
              </a:rPr>
              <a:t>Space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54DEB8C3-867F-F794-A583-FE5AD30F90C3}"/>
              </a:ext>
            </a:extLst>
          </p:cNvPr>
          <p:cNvSpPr txBox="1"/>
          <p:nvPr/>
        </p:nvSpPr>
        <p:spPr>
          <a:xfrm>
            <a:off x="868525" y="1356845"/>
            <a:ext cx="3668036" cy="294824"/>
          </a:xfrm>
          <a:prstGeom prst="rect">
            <a:avLst/>
          </a:prstGeom>
          <a:noFill/>
        </p:spPr>
        <p:txBody>
          <a:bodyPr wrap="square">
            <a:spAutoFit/>
          </a:bodyPr>
          <a:lstStyle/>
          <a:p>
            <a:pPr algn="ctr">
              <a:lnSpc>
                <a:spcPct val="94000"/>
              </a:lnSpc>
              <a:spcBef>
                <a:spcPts val="600"/>
              </a:spcBef>
            </a:pPr>
            <a:r>
              <a:rPr lang="en-US" sz="1400" b="1" kern="50" spc="25" dirty="0">
                <a:latin typeface="微软雅黑" panose="020B0503020204020204" pitchFamily="34" charset="-122"/>
                <a:ea typeface="微软雅黑" panose="020B0503020204020204" pitchFamily="34" charset="-122"/>
              </a:rPr>
              <a:t>Figure</a:t>
            </a:r>
            <a:r>
              <a:rPr lang="en-US" sz="1400" b="1" kern="50" spc="25" dirty="0">
                <a:effectLst/>
                <a:latin typeface="微软雅黑" panose="020B0503020204020204" pitchFamily="34" charset="-122"/>
                <a:ea typeface="微软雅黑" panose="020B0503020204020204" pitchFamily="34" charset="-122"/>
              </a:rPr>
              <a:t> 1. </a:t>
            </a:r>
            <a:r>
              <a:rPr lang="en-US" sz="1400" kern="50" spc="25" dirty="0">
                <a:effectLst/>
                <a:latin typeface="微软雅黑" panose="020B0503020204020204" pitchFamily="34" charset="-122"/>
                <a:ea typeface="微软雅黑" panose="020B0503020204020204" pitchFamily="34" charset="-122"/>
              </a:rPr>
              <a:t>Distribution of molecular size</a:t>
            </a:r>
            <a:endParaRPr lang="en-US" sz="1400" dirty="0">
              <a:effectLst/>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EBCC0DD7-5268-7B0C-6F12-00F11719C17C}"/>
              </a:ext>
            </a:extLst>
          </p:cNvPr>
          <p:cNvSpPr txBox="1"/>
          <p:nvPr/>
        </p:nvSpPr>
        <p:spPr>
          <a:xfrm>
            <a:off x="5450719" y="1049068"/>
            <a:ext cx="4606835" cy="307777"/>
          </a:xfrm>
          <a:prstGeom prst="rect">
            <a:avLst/>
          </a:prstGeom>
          <a:noFill/>
        </p:spPr>
        <p:txBody>
          <a:bodyPr wrap="square">
            <a:spAutoFit/>
          </a:bodyPr>
          <a:lstStyle/>
          <a:p>
            <a:pPr>
              <a:buNone/>
            </a:pPr>
            <a:r>
              <a:rPr lang="en" altLang="zh-CN" sz="1400" b="1" kern="50" spc="25" dirty="0">
                <a:latin typeface="微软雅黑" panose="020B0503020204020204" pitchFamily="34" charset="-122"/>
                <a:ea typeface="微软雅黑" panose="020B0503020204020204" pitchFamily="34" charset="-122"/>
              </a:rPr>
              <a:t>Figure 2.</a:t>
            </a:r>
            <a:r>
              <a:rPr lang="en" altLang="zh-CN" sz="1400" kern="50" spc="25" dirty="0">
                <a:latin typeface="微软雅黑" panose="020B0503020204020204" pitchFamily="34" charset="-122"/>
                <a:ea typeface="微软雅黑" panose="020B0503020204020204" pitchFamily="34" charset="-122"/>
              </a:rPr>
              <a:t> Counts of H-bond donors and acceptors</a:t>
            </a:r>
          </a:p>
        </p:txBody>
      </p:sp>
      <p:pic>
        <p:nvPicPr>
          <p:cNvPr id="27" name="图片 26" descr="图表, 散点图&#10;&#10;AI 生成的内容可能不正确。">
            <a:extLst>
              <a:ext uri="{FF2B5EF4-FFF2-40B4-BE49-F238E27FC236}">
                <a16:creationId xmlns:a16="http://schemas.microsoft.com/office/drawing/2014/main" id="{52A53572-9F65-E072-4C84-DBA2C6156A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44324" y="4378901"/>
            <a:ext cx="5136063" cy="2307860"/>
          </a:xfrm>
          <a:prstGeom prst="rect">
            <a:avLst/>
          </a:prstGeom>
        </p:spPr>
      </p:pic>
      <p:sp>
        <p:nvSpPr>
          <p:cNvPr id="33" name="文本框 32">
            <a:extLst>
              <a:ext uri="{FF2B5EF4-FFF2-40B4-BE49-F238E27FC236}">
                <a16:creationId xmlns:a16="http://schemas.microsoft.com/office/drawing/2014/main" id="{9D6C71C7-9807-182A-53C7-FD0F878B8611}"/>
              </a:ext>
            </a:extLst>
          </p:cNvPr>
          <p:cNvSpPr txBox="1"/>
          <p:nvPr/>
        </p:nvSpPr>
        <p:spPr>
          <a:xfrm>
            <a:off x="5893051" y="4071124"/>
            <a:ext cx="3967835" cy="307777"/>
          </a:xfrm>
          <a:prstGeom prst="rect">
            <a:avLst/>
          </a:prstGeom>
          <a:noFill/>
        </p:spPr>
        <p:txBody>
          <a:bodyPr wrap="square">
            <a:spAutoFit/>
          </a:bodyPr>
          <a:lstStyle/>
          <a:p>
            <a:r>
              <a:rPr lang="en" altLang="zh-CN" sz="1400" b="1" kern="50" spc="25" dirty="0">
                <a:latin typeface="微软雅黑" panose="020B0503020204020204" pitchFamily="34" charset="-122"/>
                <a:ea typeface="微软雅黑" panose="020B0503020204020204" pitchFamily="34" charset="-122"/>
              </a:rPr>
              <a:t>Figure 3.</a:t>
            </a:r>
            <a:r>
              <a:rPr lang="en" altLang="zh-CN" sz="1400" kern="50" spc="25" dirty="0">
                <a:latin typeface="微软雅黑" panose="020B0503020204020204" pitchFamily="34" charset="-122"/>
                <a:ea typeface="微软雅黑" panose="020B0503020204020204" pitchFamily="34" charset="-122"/>
              </a:rPr>
              <a:t> Exact Mass vs. Polar Surface Area</a:t>
            </a:r>
          </a:p>
        </p:txBody>
      </p:sp>
      <p:grpSp>
        <p:nvGrpSpPr>
          <p:cNvPr id="53" name="组合 52">
            <a:extLst>
              <a:ext uri="{FF2B5EF4-FFF2-40B4-BE49-F238E27FC236}">
                <a16:creationId xmlns:a16="http://schemas.microsoft.com/office/drawing/2014/main" id="{53E578C2-5F0C-4D74-3AD6-6A9E36775AAB}"/>
              </a:ext>
            </a:extLst>
          </p:cNvPr>
          <p:cNvGrpSpPr/>
          <p:nvPr/>
        </p:nvGrpSpPr>
        <p:grpSpPr>
          <a:xfrm>
            <a:off x="665018" y="5396183"/>
            <a:ext cx="4049097" cy="906527"/>
            <a:chOff x="737755" y="5365010"/>
            <a:chExt cx="4049097" cy="906527"/>
          </a:xfrm>
        </p:grpSpPr>
        <p:sp>
          <p:nvSpPr>
            <p:cNvPr id="52" name="文本框 51">
              <a:extLst>
                <a:ext uri="{FF2B5EF4-FFF2-40B4-BE49-F238E27FC236}">
                  <a16:creationId xmlns:a16="http://schemas.microsoft.com/office/drawing/2014/main" id="{DC2C8665-0ADD-296D-07A8-BB4EF366A5BE}"/>
                </a:ext>
              </a:extLst>
            </p:cNvPr>
            <p:cNvSpPr txBox="1"/>
            <p:nvPr/>
          </p:nvSpPr>
          <p:spPr>
            <a:xfrm>
              <a:off x="737755" y="5365010"/>
              <a:ext cx="4049097" cy="906527"/>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7" name="文本框 36">
              <a:extLst>
                <a:ext uri="{FF2B5EF4-FFF2-40B4-BE49-F238E27FC236}">
                  <a16:creationId xmlns:a16="http://schemas.microsoft.com/office/drawing/2014/main" id="{CC36BD19-C66E-781F-6449-D914B172F406}"/>
                </a:ext>
              </a:extLst>
            </p:cNvPr>
            <p:cNvSpPr txBox="1"/>
            <p:nvPr/>
          </p:nvSpPr>
          <p:spPr>
            <a:xfrm>
              <a:off x="806646" y="5405884"/>
              <a:ext cx="3896169" cy="830997"/>
            </a:xfrm>
            <a:prstGeom prst="rect">
              <a:avLst/>
            </a:prstGeom>
            <a:noFill/>
          </p:spPr>
          <p:txBody>
            <a:bodyPr wrap="square" rtlCol="0">
              <a:spAutoFit/>
            </a:bodyPr>
            <a:lstStyle/>
            <a:p>
              <a:pPr algn="ctr"/>
              <a:r>
                <a:rPr lang="en" altLang="zh-CN" sz="1600" dirty="0"/>
                <a:t>Most molecules are </a:t>
              </a:r>
              <a:r>
                <a:rPr lang="en" altLang="zh-CN" sz="1600" b="1" dirty="0"/>
                <a:t>small</a:t>
              </a:r>
              <a:r>
                <a:rPr lang="en" altLang="zh-CN" sz="1600" dirty="0"/>
                <a:t> to </a:t>
              </a:r>
              <a:r>
                <a:rPr lang="en" altLang="zh-CN" sz="1600" b="1" dirty="0"/>
                <a:t>medium</a:t>
              </a:r>
              <a:r>
                <a:rPr lang="en" altLang="zh-CN" sz="1600" dirty="0"/>
                <a:t>-sized, with exact mass mainly between </a:t>
              </a:r>
              <a:r>
                <a:rPr lang="en-US" altLang="zh-CN" sz="1600" b="1" dirty="0"/>
                <a:t>40</a:t>
              </a:r>
              <a:r>
                <a:rPr lang="en" altLang="zh-CN" sz="1600" dirty="0"/>
                <a:t> and </a:t>
              </a:r>
              <a:r>
                <a:rPr lang="en" altLang="zh-CN" sz="1600" b="1" dirty="0"/>
                <a:t>1</a:t>
              </a:r>
              <a:r>
                <a:rPr lang="en-US" altLang="zh-CN" sz="1600" b="1" dirty="0"/>
                <a:t>0</a:t>
              </a:r>
              <a:r>
                <a:rPr lang="en" altLang="zh-CN" sz="1600" b="1" dirty="0"/>
                <a:t>0</a:t>
              </a:r>
              <a:r>
                <a:rPr lang="en" altLang="zh-CN" sz="1600" dirty="0"/>
                <a:t> Da.</a:t>
              </a:r>
            </a:p>
          </p:txBody>
        </p:sp>
      </p:grpSp>
      <p:grpSp>
        <p:nvGrpSpPr>
          <p:cNvPr id="57" name="组合 56">
            <a:extLst>
              <a:ext uri="{FF2B5EF4-FFF2-40B4-BE49-F238E27FC236}">
                <a16:creationId xmlns:a16="http://schemas.microsoft.com/office/drawing/2014/main" id="{9D342867-9228-1787-8B96-F4B1BB9BFBE7}"/>
              </a:ext>
            </a:extLst>
          </p:cNvPr>
          <p:cNvGrpSpPr/>
          <p:nvPr/>
        </p:nvGrpSpPr>
        <p:grpSpPr>
          <a:xfrm>
            <a:off x="10122459" y="1143491"/>
            <a:ext cx="1952482" cy="2363896"/>
            <a:chOff x="10122121" y="1112318"/>
            <a:chExt cx="1952482" cy="2363896"/>
          </a:xfrm>
        </p:grpSpPr>
        <p:sp>
          <p:nvSpPr>
            <p:cNvPr id="54" name="文本框 53">
              <a:extLst>
                <a:ext uri="{FF2B5EF4-FFF2-40B4-BE49-F238E27FC236}">
                  <a16:creationId xmlns:a16="http://schemas.microsoft.com/office/drawing/2014/main" id="{FF8E9144-6142-6BCD-335B-D60D1753B011}"/>
                </a:ext>
              </a:extLst>
            </p:cNvPr>
            <p:cNvSpPr txBox="1"/>
            <p:nvPr/>
          </p:nvSpPr>
          <p:spPr>
            <a:xfrm>
              <a:off x="10145873" y="1112318"/>
              <a:ext cx="1886796" cy="2363896"/>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39" name="文本框 38">
              <a:extLst>
                <a:ext uri="{FF2B5EF4-FFF2-40B4-BE49-F238E27FC236}">
                  <a16:creationId xmlns:a16="http://schemas.microsoft.com/office/drawing/2014/main" id="{2A8442AB-738A-C06C-9F51-189AD2B0C6D2}"/>
                </a:ext>
              </a:extLst>
            </p:cNvPr>
            <p:cNvSpPr txBox="1"/>
            <p:nvPr/>
          </p:nvSpPr>
          <p:spPr>
            <a:xfrm>
              <a:off x="10122121" y="1130617"/>
              <a:ext cx="1952482" cy="2308324"/>
            </a:xfrm>
            <a:prstGeom prst="rect">
              <a:avLst/>
            </a:prstGeom>
            <a:noFill/>
          </p:spPr>
          <p:txBody>
            <a:bodyPr wrap="square">
              <a:spAutoFit/>
            </a:bodyPr>
            <a:lstStyle/>
            <a:p>
              <a:pPr algn="ctr">
                <a:buNone/>
              </a:pPr>
              <a:r>
                <a:rPr lang="en" altLang="zh-CN" sz="1600" dirty="0">
                  <a:solidFill>
                    <a:srgbClr val="0E0E0E"/>
                  </a:solidFill>
                  <a:effectLst/>
                </a:rPr>
                <a:t>Most molecules have </a:t>
              </a:r>
              <a:r>
                <a:rPr lang="en" altLang="zh-CN" sz="1600" b="1" dirty="0">
                  <a:solidFill>
                    <a:srgbClr val="0E0E0E"/>
                  </a:solidFill>
                  <a:effectLst/>
                </a:rPr>
                <a:t>1</a:t>
              </a:r>
              <a:r>
                <a:rPr lang="en" altLang="zh-CN" sz="1600" dirty="0">
                  <a:solidFill>
                    <a:srgbClr val="0E0E0E"/>
                  </a:solidFill>
                  <a:effectLst/>
                </a:rPr>
                <a:t>–</a:t>
              </a:r>
              <a:r>
                <a:rPr lang="en" altLang="zh-CN" sz="1600" b="1" dirty="0">
                  <a:solidFill>
                    <a:srgbClr val="0E0E0E"/>
                  </a:solidFill>
                  <a:effectLst/>
                </a:rPr>
                <a:t>2</a:t>
              </a:r>
              <a:r>
                <a:rPr lang="en" altLang="zh-CN" sz="1600" dirty="0">
                  <a:solidFill>
                    <a:srgbClr val="0E0E0E"/>
                  </a:solidFill>
                </a:rPr>
                <a:t> H-bond </a:t>
              </a:r>
              <a:r>
                <a:rPr lang="en" altLang="zh-CN" sz="1600" b="1" dirty="0">
                  <a:solidFill>
                    <a:srgbClr val="0E0E0E"/>
                  </a:solidFill>
                  <a:effectLst/>
                </a:rPr>
                <a:t>acceptor</a:t>
              </a:r>
              <a:r>
                <a:rPr lang="en" altLang="zh-CN" sz="1600" dirty="0">
                  <a:solidFill>
                    <a:srgbClr val="0E0E0E"/>
                  </a:solidFill>
                  <a:effectLst/>
                </a:rPr>
                <a:t> sites but </a:t>
              </a:r>
              <a:r>
                <a:rPr lang="en" altLang="zh-CN" sz="1600" b="1" dirty="0">
                  <a:solidFill>
                    <a:srgbClr val="0E0E0E"/>
                  </a:solidFill>
                  <a:effectLst/>
                </a:rPr>
                <a:t>no</a:t>
              </a:r>
              <a:r>
                <a:rPr lang="en" altLang="zh-CN" sz="1600" dirty="0">
                  <a:solidFill>
                    <a:srgbClr val="0E0E0E"/>
                  </a:solidFill>
                  <a:effectLst/>
                </a:rPr>
                <a:t> </a:t>
              </a:r>
              <a:r>
                <a:rPr lang="en" altLang="zh-CN" sz="1600" b="1" dirty="0">
                  <a:solidFill>
                    <a:srgbClr val="0E0E0E"/>
                  </a:solidFill>
                  <a:effectLst/>
                </a:rPr>
                <a:t>donors</a:t>
              </a:r>
              <a:r>
                <a:rPr lang="en" altLang="zh-CN" sz="1600" dirty="0">
                  <a:solidFill>
                    <a:srgbClr val="0E0E0E"/>
                  </a:solidFill>
                  <a:effectLst/>
                </a:rPr>
                <a:t>, indicating a design bias toward neutral </a:t>
              </a:r>
              <a:r>
                <a:rPr lang="en" altLang="zh-CN" sz="1600" b="1" dirty="0">
                  <a:solidFill>
                    <a:srgbClr val="0E0E0E"/>
                  </a:solidFill>
                  <a:effectLst/>
                </a:rPr>
                <a:t>Lewis base</a:t>
              </a:r>
              <a:r>
                <a:rPr lang="en" altLang="zh-CN" sz="1600" dirty="0">
                  <a:solidFill>
                    <a:srgbClr val="0E0E0E"/>
                  </a:solidFill>
                  <a:effectLst/>
                </a:rPr>
                <a:t> ligands for Pb²⁺ defect passivation.</a:t>
              </a:r>
            </a:p>
          </p:txBody>
        </p:sp>
      </p:grpSp>
      <p:sp>
        <p:nvSpPr>
          <p:cNvPr id="56" name="文本框 55">
            <a:extLst>
              <a:ext uri="{FF2B5EF4-FFF2-40B4-BE49-F238E27FC236}">
                <a16:creationId xmlns:a16="http://schemas.microsoft.com/office/drawing/2014/main" id="{32D52A86-BD83-FE40-374A-B05EEFB92276}"/>
              </a:ext>
            </a:extLst>
          </p:cNvPr>
          <p:cNvSpPr txBox="1"/>
          <p:nvPr/>
        </p:nvSpPr>
        <p:spPr>
          <a:xfrm>
            <a:off x="10192967" y="3984568"/>
            <a:ext cx="1659099" cy="2620651"/>
          </a:xfrm>
          <a:prstGeom prst="rect">
            <a:avLst/>
          </a:prstGeom>
          <a:solidFill>
            <a:schemeClr val="bg1">
              <a:lumMod val="95000"/>
            </a:schemeClr>
          </a:solidFill>
        </p:spPr>
        <p:txBody>
          <a:bodyPr wrap="square">
            <a:spAutoFit/>
          </a:bodyPr>
          <a:lstStyle/>
          <a:p>
            <a:pPr>
              <a:lnSpc>
                <a:spcPct val="150000"/>
              </a:lnSpc>
              <a:buNone/>
            </a:pPr>
            <a:endParaRPr lang="fr-FR" altLang="zh-CN" sz="1600" dirty="0"/>
          </a:p>
        </p:txBody>
      </p:sp>
      <p:sp>
        <p:nvSpPr>
          <p:cNvPr id="41" name="文本框 40">
            <a:extLst>
              <a:ext uri="{FF2B5EF4-FFF2-40B4-BE49-F238E27FC236}">
                <a16:creationId xmlns:a16="http://schemas.microsoft.com/office/drawing/2014/main" id="{427ADC70-3CA6-7DBF-BFED-7567DB36A0DC}"/>
              </a:ext>
            </a:extLst>
          </p:cNvPr>
          <p:cNvSpPr txBox="1"/>
          <p:nvPr/>
        </p:nvSpPr>
        <p:spPr>
          <a:xfrm>
            <a:off x="10147519" y="4017620"/>
            <a:ext cx="1763189" cy="2554545"/>
          </a:xfrm>
          <a:prstGeom prst="rect">
            <a:avLst/>
          </a:prstGeom>
          <a:noFill/>
        </p:spPr>
        <p:txBody>
          <a:bodyPr wrap="square">
            <a:spAutoFit/>
          </a:bodyPr>
          <a:lstStyle/>
          <a:p>
            <a:pPr algn="ctr">
              <a:buNone/>
            </a:pPr>
            <a:r>
              <a:rPr lang="en" altLang="zh-CN" sz="1600" dirty="0">
                <a:solidFill>
                  <a:srgbClr val="0E0E0E"/>
                </a:solidFill>
                <a:effectLst/>
              </a:rPr>
              <a:t>Many molecules are </a:t>
            </a:r>
            <a:r>
              <a:rPr lang="en" altLang="zh-CN" sz="1600" dirty="0">
                <a:solidFill>
                  <a:srgbClr val="88C039"/>
                </a:solidFill>
                <a:effectLst/>
              </a:rPr>
              <a:t>moderately</a:t>
            </a:r>
            <a:r>
              <a:rPr lang="en" altLang="zh-CN" sz="1600" dirty="0">
                <a:solidFill>
                  <a:srgbClr val="0E0E0E"/>
                </a:solidFill>
                <a:effectLst/>
              </a:rPr>
              <a:t> </a:t>
            </a:r>
            <a:r>
              <a:rPr lang="en" altLang="zh-CN" sz="1600" dirty="0">
                <a:solidFill>
                  <a:srgbClr val="88C039"/>
                </a:solidFill>
                <a:effectLst/>
              </a:rPr>
              <a:t>polar (TPSA ≈</a:t>
            </a:r>
            <a:r>
              <a:rPr lang="zh-CN" altLang="en-US" sz="1600" dirty="0">
                <a:solidFill>
                  <a:srgbClr val="88C039"/>
                </a:solidFill>
                <a:effectLst/>
              </a:rPr>
              <a:t> </a:t>
            </a:r>
            <a:r>
              <a:rPr lang="en-US" altLang="zh-CN" sz="1600" dirty="0">
                <a:solidFill>
                  <a:srgbClr val="88C039"/>
                </a:solidFill>
                <a:effectLst/>
              </a:rPr>
              <a:t>5-30</a:t>
            </a:r>
            <a:r>
              <a:rPr lang="en" altLang="zh-CN" sz="1600" dirty="0">
                <a:solidFill>
                  <a:srgbClr val="88C039"/>
                </a:solidFill>
                <a:effectLst/>
              </a:rPr>
              <a:t>)</a:t>
            </a:r>
            <a:r>
              <a:rPr lang="en" altLang="zh-CN" sz="1600" dirty="0">
                <a:solidFill>
                  <a:srgbClr val="0E0E0E"/>
                </a:solidFill>
                <a:effectLst/>
              </a:rPr>
              <a:t>, while about </a:t>
            </a:r>
            <a:r>
              <a:rPr lang="en-US" altLang="zh-CN" sz="1600" b="1" dirty="0">
                <a:solidFill>
                  <a:srgbClr val="0E0E0E"/>
                </a:solidFill>
                <a:effectLst/>
              </a:rPr>
              <a:t>1/3</a:t>
            </a:r>
            <a:r>
              <a:rPr lang="zh-CN" altLang="en-US" sz="1600" dirty="0">
                <a:solidFill>
                  <a:srgbClr val="0E0E0E"/>
                </a:solidFill>
                <a:effectLst/>
              </a:rPr>
              <a:t> </a:t>
            </a:r>
            <a:r>
              <a:rPr lang="en" altLang="zh-CN" sz="1600" dirty="0">
                <a:solidFill>
                  <a:srgbClr val="0E0E0E"/>
                </a:solidFill>
                <a:effectLst/>
              </a:rPr>
              <a:t>are </a:t>
            </a:r>
            <a:r>
              <a:rPr lang="en" altLang="zh-CN" sz="1600" dirty="0">
                <a:solidFill>
                  <a:srgbClr val="006600"/>
                </a:solidFill>
                <a:effectLst/>
              </a:rPr>
              <a:t>non-polar (TPSA = 0)</a:t>
            </a:r>
            <a:r>
              <a:rPr lang="en" altLang="zh-CN" sz="1600" dirty="0">
                <a:solidFill>
                  <a:srgbClr val="0E0E0E"/>
                </a:solidFill>
                <a:effectLst/>
              </a:rPr>
              <a:t>, giving a diverse size–polarity design space for binding-energy prediction.</a:t>
            </a:r>
          </a:p>
        </p:txBody>
      </p:sp>
      <p:cxnSp>
        <p:nvCxnSpPr>
          <p:cNvPr id="43" name="直线连接符 42">
            <a:extLst>
              <a:ext uri="{FF2B5EF4-FFF2-40B4-BE49-F238E27FC236}">
                <a16:creationId xmlns:a16="http://schemas.microsoft.com/office/drawing/2014/main" id="{5FF4F61B-DD3F-CB14-3D51-F158D8DACEF6}"/>
              </a:ext>
            </a:extLst>
          </p:cNvPr>
          <p:cNvCxnSpPr>
            <a:cxnSpLocks/>
          </p:cNvCxnSpPr>
          <p:nvPr/>
        </p:nvCxnSpPr>
        <p:spPr>
          <a:xfrm>
            <a:off x="5008219" y="966355"/>
            <a:ext cx="0" cy="5891645"/>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cxnSp>
        <p:nvCxnSpPr>
          <p:cNvPr id="44" name="直线连接符 43">
            <a:extLst>
              <a:ext uri="{FF2B5EF4-FFF2-40B4-BE49-F238E27FC236}">
                <a16:creationId xmlns:a16="http://schemas.microsoft.com/office/drawing/2014/main" id="{56C630B9-9C63-C7B8-FE3C-C96DF3236F33}"/>
              </a:ext>
            </a:extLst>
          </p:cNvPr>
          <p:cNvCxnSpPr>
            <a:cxnSpLocks/>
          </p:cNvCxnSpPr>
          <p:nvPr/>
        </p:nvCxnSpPr>
        <p:spPr>
          <a:xfrm flipH="1">
            <a:off x="5008219" y="3797891"/>
            <a:ext cx="7183781" cy="0"/>
          </a:xfrm>
          <a:prstGeom prst="line">
            <a:avLst/>
          </a:prstGeom>
          <a:ln w="50800">
            <a:solidFill>
              <a:srgbClr val="00387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5303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6EBE-48CF-D47C-EBB3-06F86CEB7DF7}"/>
            </a:ext>
          </a:extLst>
        </p:cNvPr>
        <p:cNvGrpSpPr/>
        <p:nvPr/>
      </p:nvGrpSpPr>
      <p:grpSpPr>
        <a:xfrm>
          <a:off x="0" y="0"/>
          <a:ext cx="0" cy="0"/>
          <a:chOff x="0" y="0"/>
          <a:chExt cx="0" cy="0"/>
        </a:xfrm>
      </p:grpSpPr>
      <p:sp>
        <p:nvSpPr>
          <p:cNvPr id="48" name="文本框 47">
            <a:extLst>
              <a:ext uri="{FF2B5EF4-FFF2-40B4-BE49-F238E27FC236}">
                <a16:creationId xmlns:a16="http://schemas.microsoft.com/office/drawing/2014/main" id="{EE383C8B-CF18-9F94-07C2-4CA98734DA0A}"/>
              </a:ext>
            </a:extLst>
          </p:cNvPr>
          <p:cNvSpPr txBox="1"/>
          <p:nvPr/>
        </p:nvSpPr>
        <p:spPr>
          <a:xfrm>
            <a:off x="273652" y="304514"/>
            <a:ext cx="8516734"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Data Cleaning and Splitting</a:t>
            </a:r>
          </a:p>
        </p:txBody>
      </p:sp>
      <p:sp>
        <p:nvSpPr>
          <p:cNvPr id="4" name="文本框 3">
            <a:extLst>
              <a:ext uri="{FF2B5EF4-FFF2-40B4-BE49-F238E27FC236}">
                <a16:creationId xmlns:a16="http://schemas.microsoft.com/office/drawing/2014/main" id="{A4B8CD33-2450-EEDE-EE3C-84F628E38DD6}"/>
              </a:ext>
            </a:extLst>
          </p:cNvPr>
          <p:cNvSpPr txBox="1"/>
          <p:nvPr/>
        </p:nvSpPr>
        <p:spPr>
          <a:xfrm>
            <a:off x="273651" y="1063842"/>
            <a:ext cx="7838717" cy="400110"/>
          </a:xfrm>
          <a:prstGeom prst="rect">
            <a:avLst/>
          </a:prstGeom>
          <a:noFill/>
        </p:spPr>
        <p:txBody>
          <a:bodyPr wrap="square">
            <a:spAutoFit/>
          </a:bodyPr>
          <a:lstStyle/>
          <a:p>
            <a:pPr indent="0">
              <a:buNone/>
            </a:pPr>
            <a:r>
              <a:rPr lang="en-US" altLang="zh-CN" sz="2000" b="1" dirty="0">
                <a:solidFill>
                  <a:schemeClr val="tx1">
                    <a:lumMod val="65000"/>
                    <a:lumOff val="35000"/>
                  </a:schemeClr>
                </a:solidFill>
              </a:rPr>
              <a:t>Training-ready preprocessing avoids label leakage.</a:t>
            </a:r>
          </a:p>
        </p:txBody>
      </p:sp>
      <p:grpSp>
        <p:nvGrpSpPr>
          <p:cNvPr id="35" name="组合 34">
            <a:extLst>
              <a:ext uri="{FF2B5EF4-FFF2-40B4-BE49-F238E27FC236}">
                <a16:creationId xmlns:a16="http://schemas.microsoft.com/office/drawing/2014/main" id="{70FCE28B-F807-254C-D477-E991D104A091}"/>
              </a:ext>
            </a:extLst>
          </p:cNvPr>
          <p:cNvGrpSpPr/>
          <p:nvPr/>
        </p:nvGrpSpPr>
        <p:grpSpPr>
          <a:xfrm>
            <a:off x="410309" y="1600200"/>
            <a:ext cx="2351086" cy="1325880"/>
            <a:chOff x="586154" y="1600200"/>
            <a:chExt cx="2351086" cy="1325880"/>
          </a:xfrm>
        </p:grpSpPr>
        <p:sp>
          <p:nvSpPr>
            <p:cNvPr id="5" name="Shape 3">
              <a:extLst>
                <a:ext uri="{FF2B5EF4-FFF2-40B4-BE49-F238E27FC236}">
                  <a16:creationId xmlns:a16="http://schemas.microsoft.com/office/drawing/2014/main" id="{51787096-ECA7-5AB7-1C1C-633DA2AE6A3F}"/>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dirty="0"/>
            </a:p>
          </p:txBody>
        </p:sp>
        <p:sp>
          <p:nvSpPr>
            <p:cNvPr id="6" name="Shape 4">
              <a:extLst>
                <a:ext uri="{FF2B5EF4-FFF2-40B4-BE49-F238E27FC236}">
                  <a16:creationId xmlns:a16="http://schemas.microsoft.com/office/drawing/2014/main" id="{3E68FF71-780F-F85D-078E-F6C156169877}"/>
                </a:ext>
              </a:extLst>
            </p:cNvPr>
            <p:cNvSpPr/>
            <p:nvPr/>
          </p:nvSpPr>
          <p:spPr>
            <a:xfrm>
              <a:off x="586154" y="1619160"/>
              <a:ext cx="2351086" cy="45719"/>
            </a:xfrm>
            <a:prstGeom prst="rect">
              <a:avLst/>
            </a:prstGeom>
            <a:solidFill>
              <a:srgbClr val="2563EB"/>
            </a:solidFill>
            <a:ln w="12700">
              <a:solidFill>
                <a:srgbClr val="2563EB">
                  <a:alpha val="0"/>
                </a:srgbClr>
              </a:solidFill>
              <a:prstDash val="solid"/>
            </a:ln>
          </p:spPr>
          <p:txBody>
            <a:bodyPr/>
            <a:lstStyle/>
            <a:p>
              <a:endParaRPr lang="zh-CN" altLang="en-US"/>
            </a:p>
          </p:txBody>
        </p:sp>
        <p:sp>
          <p:nvSpPr>
            <p:cNvPr id="7" name="Text 5">
              <a:extLst>
                <a:ext uri="{FF2B5EF4-FFF2-40B4-BE49-F238E27FC236}">
                  <a16:creationId xmlns:a16="http://schemas.microsoft.com/office/drawing/2014/main" id="{FDBB31FA-4EA1-C0B4-2FCD-608438534D94}"/>
                </a:ext>
              </a:extLst>
            </p:cNvPr>
            <p:cNvSpPr/>
            <p:nvPr/>
          </p:nvSpPr>
          <p:spPr>
            <a:xfrm>
              <a:off x="799557" y="1800763"/>
              <a:ext cx="1947672" cy="331082"/>
            </a:xfrm>
            <a:prstGeom prst="rect">
              <a:avLst/>
            </a:prstGeom>
            <a:noFill/>
            <a:ln/>
          </p:spPr>
          <p:txBody>
            <a:bodyPr wrap="square" lIns="0" tIns="0" rIns="0" bIns="0" rtlCol="0" anchor="ctr"/>
            <a:lstStyle/>
            <a:p>
              <a:pPr marL="0" indent="0" algn="ctr">
                <a:buNone/>
              </a:pPr>
              <a:r>
                <a:rPr lang="en-US" sz="2000" b="1" dirty="0">
                  <a:solidFill>
                    <a:srgbClr val="111827"/>
                  </a:solidFill>
                </a:rPr>
                <a:t>Raw properties</a:t>
              </a:r>
              <a:endParaRPr lang="en-US" sz="2000" dirty="0"/>
            </a:p>
          </p:txBody>
        </p:sp>
        <p:sp>
          <p:nvSpPr>
            <p:cNvPr id="8" name="Text 6">
              <a:extLst>
                <a:ext uri="{FF2B5EF4-FFF2-40B4-BE49-F238E27FC236}">
                  <a16:creationId xmlns:a16="http://schemas.microsoft.com/office/drawing/2014/main" id="{92F7FF38-DC9C-1D01-A3FF-53D6E10A82FC}"/>
                </a:ext>
              </a:extLst>
            </p:cNvPr>
            <p:cNvSpPr/>
            <p:nvPr/>
          </p:nvSpPr>
          <p:spPr>
            <a:xfrm>
              <a:off x="712147" y="2178090"/>
              <a:ext cx="2122493" cy="704088"/>
            </a:xfrm>
            <a:prstGeom prst="rect">
              <a:avLst/>
            </a:prstGeom>
            <a:noFill/>
            <a:ln/>
          </p:spPr>
          <p:txBody>
            <a:bodyPr wrap="square" lIns="0" tIns="0" rIns="0" bIns="0" rtlCol="0" anchor="ctr">
              <a:noAutofit/>
            </a:bodyPr>
            <a:lstStyle/>
            <a:p>
              <a:pPr marL="0" indent="0" algn="ctr">
                <a:buNone/>
              </a:pPr>
              <a:r>
                <a:rPr lang="en-US" dirty="0">
                  <a:solidFill>
                    <a:srgbClr val="374151"/>
                  </a:solidFill>
                </a:rPr>
                <a:t>Formula, SMILES, MW, HBA/HBD, TPSA</a:t>
              </a:r>
              <a:endParaRPr lang="en-US" dirty="0"/>
            </a:p>
          </p:txBody>
        </p:sp>
      </p:grpSp>
      <p:sp>
        <p:nvSpPr>
          <p:cNvPr id="9" name="Shape 7">
            <a:extLst>
              <a:ext uri="{FF2B5EF4-FFF2-40B4-BE49-F238E27FC236}">
                <a16:creationId xmlns:a16="http://schemas.microsoft.com/office/drawing/2014/main" id="{BB42BDA1-329D-86F0-6C3C-C8A4EB3F83B7}"/>
              </a:ext>
            </a:extLst>
          </p:cNvPr>
          <p:cNvSpPr/>
          <p:nvPr/>
        </p:nvSpPr>
        <p:spPr>
          <a:xfrm>
            <a:off x="2904415" y="2252589"/>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grpSp>
        <p:nvGrpSpPr>
          <p:cNvPr id="34" name="组合 33">
            <a:extLst>
              <a:ext uri="{FF2B5EF4-FFF2-40B4-BE49-F238E27FC236}">
                <a16:creationId xmlns:a16="http://schemas.microsoft.com/office/drawing/2014/main" id="{9DBC74E9-BB7A-DB49-E3BA-8AC8F35E2A95}"/>
              </a:ext>
            </a:extLst>
          </p:cNvPr>
          <p:cNvGrpSpPr/>
          <p:nvPr/>
        </p:nvGrpSpPr>
        <p:grpSpPr>
          <a:xfrm>
            <a:off x="1039581" y="3613390"/>
            <a:ext cx="4824845" cy="3873027"/>
            <a:chOff x="927599" y="3074562"/>
            <a:chExt cx="4937760" cy="2951736"/>
          </a:xfrm>
        </p:grpSpPr>
        <p:sp>
          <p:nvSpPr>
            <p:cNvPr id="27" name="Shape 22">
              <a:extLst>
                <a:ext uri="{FF2B5EF4-FFF2-40B4-BE49-F238E27FC236}">
                  <a16:creationId xmlns:a16="http://schemas.microsoft.com/office/drawing/2014/main" id="{37994F29-AE5F-76E4-CB06-5E3FF5D746F0}"/>
                </a:ext>
              </a:extLst>
            </p:cNvPr>
            <p:cNvSpPr/>
            <p:nvPr/>
          </p:nvSpPr>
          <p:spPr>
            <a:xfrm>
              <a:off x="927599" y="3310893"/>
              <a:ext cx="4937760" cy="2715405"/>
            </a:xfrm>
            <a:prstGeom prst="rect">
              <a:avLst/>
            </a:prstGeom>
            <a:solidFill>
              <a:srgbClr val="FFFFFF"/>
            </a:solidFill>
            <a:ln w="8890">
              <a:solidFill>
                <a:srgbClr val="E5E7EB"/>
              </a:solidFill>
              <a:prstDash val="solid"/>
            </a:ln>
          </p:spPr>
          <p:txBody>
            <a:bodyPr/>
            <a:lstStyle/>
            <a:p>
              <a:endParaRPr lang="zh-CN" altLang="en-US"/>
            </a:p>
          </p:txBody>
        </p:sp>
        <p:sp>
          <p:nvSpPr>
            <p:cNvPr id="28" name="Text 23">
              <a:extLst>
                <a:ext uri="{FF2B5EF4-FFF2-40B4-BE49-F238E27FC236}">
                  <a16:creationId xmlns:a16="http://schemas.microsoft.com/office/drawing/2014/main" id="{160293FE-6E93-8412-1953-7FF2DE31E158}"/>
                </a:ext>
              </a:extLst>
            </p:cNvPr>
            <p:cNvSpPr/>
            <p:nvPr/>
          </p:nvSpPr>
          <p:spPr>
            <a:xfrm>
              <a:off x="927599" y="3074562"/>
              <a:ext cx="4608576" cy="201168"/>
            </a:xfrm>
            <a:prstGeom prst="rect">
              <a:avLst/>
            </a:prstGeom>
            <a:noFill/>
            <a:ln/>
          </p:spPr>
          <p:txBody>
            <a:bodyPr wrap="square" lIns="0" tIns="0" rIns="0" bIns="0" rtlCol="0" anchor="ctr"/>
            <a:lstStyle/>
            <a:p>
              <a:pPr marL="0" indent="0">
                <a:buNone/>
              </a:pPr>
              <a:r>
                <a:rPr lang="en-US" b="1" dirty="0">
                  <a:solidFill>
                    <a:srgbClr val="111827"/>
                  </a:solidFill>
                </a:rPr>
                <a:t>Random split counts</a:t>
              </a:r>
              <a:endParaRPr lang="en-US" dirty="0"/>
            </a:p>
          </p:txBody>
        </p:sp>
        <p:pic>
          <p:nvPicPr>
            <p:cNvPr id="29" name="Image 0" descr="/mnt/data/extended_assets/split_counts.png">
              <a:extLst>
                <a:ext uri="{FF2B5EF4-FFF2-40B4-BE49-F238E27FC236}">
                  <a16:creationId xmlns:a16="http://schemas.microsoft.com/office/drawing/2014/main" id="{8F8508A9-16E7-0C9A-99BC-2B307DAAEF0D}"/>
                </a:ext>
              </a:extLst>
            </p:cNvPr>
            <p:cNvPicPr>
              <a:picLocks noChangeAspect="1"/>
            </p:cNvPicPr>
            <p:nvPr/>
          </p:nvPicPr>
          <p:blipFill>
            <a:blip r:embed="rId3"/>
            <a:stretch>
              <a:fillRect/>
            </a:stretch>
          </p:blipFill>
          <p:spPr>
            <a:xfrm>
              <a:off x="1376357" y="3355030"/>
              <a:ext cx="4344331" cy="2505640"/>
            </a:xfrm>
            <a:prstGeom prst="rect">
              <a:avLst/>
            </a:prstGeom>
          </p:spPr>
        </p:pic>
      </p:grpSp>
      <p:grpSp>
        <p:nvGrpSpPr>
          <p:cNvPr id="11" name="组合 10">
            <a:extLst>
              <a:ext uri="{FF2B5EF4-FFF2-40B4-BE49-F238E27FC236}">
                <a16:creationId xmlns:a16="http://schemas.microsoft.com/office/drawing/2014/main" id="{6040568B-81F4-DD36-453B-6CFD039CFBDD}"/>
              </a:ext>
            </a:extLst>
          </p:cNvPr>
          <p:cNvGrpSpPr/>
          <p:nvPr/>
        </p:nvGrpSpPr>
        <p:grpSpPr>
          <a:xfrm>
            <a:off x="7211536" y="3137902"/>
            <a:ext cx="4983480" cy="1737360"/>
            <a:chOff x="6252926" y="4338156"/>
            <a:chExt cx="4983480" cy="1737360"/>
          </a:xfrm>
        </p:grpSpPr>
        <p:sp>
          <p:nvSpPr>
            <p:cNvPr id="30" name="Shape 24">
              <a:extLst>
                <a:ext uri="{FF2B5EF4-FFF2-40B4-BE49-F238E27FC236}">
                  <a16:creationId xmlns:a16="http://schemas.microsoft.com/office/drawing/2014/main" id="{B936F9C6-5304-A5CA-5915-56D741C6727F}"/>
                </a:ext>
              </a:extLst>
            </p:cNvPr>
            <p:cNvSpPr/>
            <p:nvPr/>
          </p:nvSpPr>
          <p:spPr>
            <a:xfrm>
              <a:off x="6252926" y="4338156"/>
              <a:ext cx="4983480" cy="1737360"/>
            </a:xfrm>
            <a:prstGeom prst="rect">
              <a:avLst/>
            </a:prstGeom>
            <a:solidFill>
              <a:srgbClr val="FFFFFF"/>
            </a:solidFill>
            <a:ln w="8890">
              <a:solidFill>
                <a:srgbClr val="E5E7EB"/>
              </a:solidFill>
              <a:prstDash val="solid"/>
            </a:ln>
          </p:spPr>
          <p:txBody>
            <a:bodyPr/>
            <a:lstStyle/>
            <a:p>
              <a:endParaRPr lang="zh-CN" altLang="en-US"/>
            </a:p>
          </p:txBody>
        </p:sp>
        <p:sp>
          <p:nvSpPr>
            <p:cNvPr id="31" name="Shape 25">
              <a:extLst>
                <a:ext uri="{FF2B5EF4-FFF2-40B4-BE49-F238E27FC236}">
                  <a16:creationId xmlns:a16="http://schemas.microsoft.com/office/drawing/2014/main" id="{F866C952-55B7-17AB-0C9A-19978CD2631C}"/>
                </a:ext>
              </a:extLst>
            </p:cNvPr>
            <p:cNvSpPr/>
            <p:nvPr/>
          </p:nvSpPr>
          <p:spPr>
            <a:xfrm>
              <a:off x="6252926" y="4338156"/>
              <a:ext cx="73152" cy="1737360"/>
            </a:xfrm>
            <a:prstGeom prst="rect">
              <a:avLst/>
            </a:prstGeom>
            <a:solidFill>
              <a:srgbClr val="DC2626"/>
            </a:solidFill>
            <a:ln w="12700">
              <a:solidFill>
                <a:srgbClr val="DC2626">
                  <a:alpha val="0"/>
                </a:srgbClr>
              </a:solidFill>
              <a:prstDash val="solid"/>
            </a:ln>
          </p:spPr>
          <p:txBody>
            <a:bodyPr/>
            <a:lstStyle/>
            <a:p>
              <a:endParaRPr lang="zh-CN" altLang="en-US"/>
            </a:p>
          </p:txBody>
        </p:sp>
        <p:sp>
          <p:nvSpPr>
            <p:cNvPr id="32" name="Text 26">
              <a:extLst>
                <a:ext uri="{FF2B5EF4-FFF2-40B4-BE49-F238E27FC236}">
                  <a16:creationId xmlns:a16="http://schemas.microsoft.com/office/drawing/2014/main" id="{B4AC2368-1A57-AF61-5CF7-A768B5F4027C}"/>
                </a:ext>
              </a:extLst>
            </p:cNvPr>
            <p:cNvSpPr/>
            <p:nvPr/>
          </p:nvSpPr>
          <p:spPr>
            <a:xfrm>
              <a:off x="6454094" y="4484460"/>
              <a:ext cx="4672584" cy="219456"/>
            </a:xfrm>
            <a:prstGeom prst="rect">
              <a:avLst/>
            </a:prstGeom>
            <a:noFill/>
            <a:ln/>
          </p:spPr>
          <p:txBody>
            <a:bodyPr wrap="square" lIns="0" tIns="0" rIns="0" bIns="0" rtlCol="0" anchor="ctr"/>
            <a:lstStyle/>
            <a:p>
              <a:pPr marL="0" indent="0">
                <a:buNone/>
              </a:pPr>
              <a:r>
                <a:rPr lang="en-US" sz="2200" b="1" dirty="0">
                  <a:solidFill>
                    <a:srgbClr val="111827"/>
                  </a:solidFill>
                </a:rPr>
                <a:t>No leakage principle</a:t>
              </a:r>
              <a:endParaRPr lang="en-US" sz="2200" dirty="0"/>
            </a:p>
          </p:txBody>
        </p:sp>
        <p:sp>
          <p:nvSpPr>
            <p:cNvPr id="33" name="Text 27">
              <a:extLst>
                <a:ext uri="{FF2B5EF4-FFF2-40B4-BE49-F238E27FC236}">
                  <a16:creationId xmlns:a16="http://schemas.microsoft.com/office/drawing/2014/main" id="{93BC7977-9D41-3FB3-AACB-E502BA75627E}"/>
                </a:ext>
              </a:extLst>
            </p:cNvPr>
            <p:cNvSpPr/>
            <p:nvPr/>
          </p:nvSpPr>
          <p:spPr>
            <a:xfrm>
              <a:off x="6454094" y="4813644"/>
              <a:ext cx="4672584" cy="117043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Label normalization is computed from training statistics only. Validation and test sets are held out for model selection and final evaluation.</a:t>
              </a:r>
              <a:endParaRPr lang="en-US" sz="2000" dirty="0"/>
            </a:p>
          </p:txBody>
        </p:sp>
      </p:grpSp>
      <p:grpSp>
        <p:nvGrpSpPr>
          <p:cNvPr id="36" name="组合 35">
            <a:extLst>
              <a:ext uri="{FF2B5EF4-FFF2-40B4-BE49-F238E27FC236}">
                <a16:creationId xmlns:a16="http://schemas.microsoft.com/office/drawing/2014/main" id="{6ED73A54-1A16-5906-F485-EFBADCB73C67}"/>
              </a:ext>
            </a:extLst>
          </p:cNvPr>
          <p:cNvGrpSpPr/>
          <p:nvPr/>
        </p:nvGrpSpPr>
        <p:grpSpPr>
          <a:xfrm>
            <a:off x="3422742" y="1611241"/>
            <a:ext cx="2351086" cy="1325880"/>
            <a:chOff x="586154" y="1600200"/>
            <a:chExt cx="2351086" cy="1325880"/>
          </a:xfrm>
        </p:grpSpPr>
        <p:sp>
          <p:nvSpPr>
            <p:cNvPr id="37" name="Shape 3">
              <a:extLst>
                <a:ext uri="{FF2B5EF4-FFF2-40B4-BE49-F238E27FC236}">
                  <a16:creationId xmlns:a16="http://schemas.microsoft.com/office/drawing/2014/main" id="{3036FC69-EE8C-0366-CFF8-A755D3DB6A7D}"/>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38" name="Shape 4">
              <a:extLst>
                <a:ext uri="{FF2B5EF4-FFF2-40B4-BE49-F238E27FC236}">
                  <a16:creationId xmlns:a16="http://schemas.microsoft.com/office/drawing/2014/main" id="{D9C65F84-0F31-CC8F-E1E8-6E71D0A9CAD8}"/>
                </a:ext>
              </a:extLst>
            </p:cNvPr>
            <p:cNvSpPr/>
            <p:nvPr/>
          </p:nvSpPr>
          <p:spPr>
            <a:xfrm>
              <a:off x="586154" y="1619160"/>
              <a:ext cx="2351086" cy="45719"/>
            </a:xfrm>
            <a:prstGeom prst="rect">
              <a:avLst/>
            </a:prstGeom>
            <a:solidFill>
              <a:srgbClr val="059669"/>
            </a:solidFill>
            <a:ln w="12700">
              <a:solidFill>
                <a:srgbClr val="2563EB">
                  <a:alpha val="0"/>
                </a:srgbClr>
              </a:solidFill>
              <a:prstDash val="solid"/>
            </a:ln>
          </p:spPr>
          <p:txBody>
            <a:bodyPr/>
            <a:lstStyle/>
            <a:p>
              <a:endParaRPr lang="zh-CN" altLang="en-US"/>
            </a:p>
          </p:txBody>
        </p:sp>
        <p:sp>
          <p:nvSpPr>
            <p:cNvPr id="39" name="Text 5">
              <a:extLst>
                <a:ext uri="{FF2B5EF4-FFF2-40B4-BE49-F238E27FC236}">
                  <a16:creationId xmlns:a16="http://schemas.microsoft.com/office/drawing/2014/main" id="{AAB5C85C-74A6-3D63-6D8E-915D48B5D7D8}"/>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Energy labels</a:t>
              </a:r>
              <a:endParaRPr lang="en-US" altLang="zh-CN" sz="2000" dirty="0"/>
            </a:p>
          </p:txBody>
        </p:sp>
        <p:sp>
          <p:nvSpPr>
            <p:cNvPr id="40" name="Text 6">
              <a:extLst>
                <a:ext uri="{FF2B5EF4-FFF2-40B4-BE49-F238E27FC236}">
                  <a16:creationId xmlns:a16="http://schemas.microsoft.com/office/drawing/2014/main" id="{A3B252AB-8F04-F017-DB35-D89E3FA7079C}"/>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err="1">
                  <a:solidFill>
                    <a:srgbClr val="374151"/>
                  </a:solidFill>
                </a:rPr>
                <a:t>Energy_AB</a:t>
              </a:r>
              <a:r>
                <a:rPr lang="en-US" altLang="zh-CN" dirty="0">
                  <a:solidFill>
                    <a:srgbClr val="374151"/>
                  </a:solidFill>
                </a:rPr>
                <a:t>, Energy_8H, </a:t>
              </a:r>
              <a:r>
                <a:rPr lang="en-US" altLang="zh-CN" dirty="0" err="1">
                  <a:solidFill>
                    <a:srgbClr val="374151"/>
                  </a:solidFill>
                </a:rPr>
                <a:t>Energy_min</a:t>
              </a:r>
              <a:endParaRPr lang="en-US" altLang="zh-CN" dirty="0"/>
            </a:p>
          </p:txBody>
        </p:sp>
      </p:grpSp>
      <p:grpSp>
        <p:nvGrpSpPr>
          <p:cNvPr id="41" name="组合 40">
            <a:extLst>
              <a:ext uri="{FF2B5EF4-FFF2-40B4-BE49-F238E27FC236}">
                <a16:creationId xmlns:a16="http://schemas.microsoft.com/office/drawing/2014/main" id="{BBB1997F-2055-513E-312B-FF8A57E28733}"/>
              </a:ext>
            </a:extLst>
          </p:cNvPr>
          <p:cNvGrpSpPr/>
          <p:nvPr/>
        </p:nvGrpSpPr>
        <p:grpSpPr>
          <a:xfrm>
            <a:off x="6393580" y="1632204"/>
            <a:ext cx="2351086" cy="1325880"/>
            <a:chOff x="586154" y="1600200"/>
            <a:chExt cx="2351086" cy="1325880"/>
          </a:xfrm>
        </p:grpSpPr>
        <p:sp>
          <p:nvSpPr>
            <p:cNvPr id="42" name="Shape 3">
              <a:extLst>
                <a:ext uri="{FF2B5EF4-FFF2-40B4-BE49-F238E27FC236}">
                  <a16:creationId xmlns:a16="http://schemas.microsoft.com/office/drawing/2014/main" id="{0B1ED503-1612-ADFF-59F0-CB261E81A86F}"/>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43" name="Shape 4">
              <a:extLst>
                <a:ext uri="{FF2B5EF4-FFF2-40B4-BE49-F238E27FC236}">
                  <a16:creationId xmlns:a16="http://schemas.microsoft.com/office/drawing/2014/main" id="{C14148AC-7D9C-4C49-D377-116637871004}"/>
                </a:ext>
              </a:extLst>
            </p:cNvPr>
            <p:cNvSpPr/>
            <p:nvPr/>
          </p:nvSpPr>
          <p:spPr>
            <a:xfrm>
              <a:off x="586154" y="1619160"/>
              <a:ext cx="2351086" cy="45719"/>
            </a:xfrm>
            <a:prstGeom prst="rect">
              <a:avLst/>
            </a:prstGeom>
            <a:solidFill>
              <a:srgbClr val="7C3AED"/>
            </a:solidFill>
            <a:ln w="12700">
              <a:solidFill>
                <a:srgbClr val="2563EB">
                  <a:alpha val="0"/>
                </a:srgbClr>
              </a:solidFill>
              <a:prstDash val="solid"/>
            </a:ln>
          </p:spPr>
          <p:txBody>
            <a:bodyPr/>
            <a:lstStyle/>
            <a:p>
              <a:endParaRPr lang="zh-CN" altLang="en-US"/>
            </a:p>
          </p:txBody>
        </p:sp>
        <p:sp>
          <p:nvSpPr>
            <p:cNvPr id="47" name="Text 5">
              <a:extLst>
                <a:ext uri="{FF2B5EF4-FFF2-40B4-BE49-F238E27FC236}">
                  <a16:creationId xmlns:a16="http://schemas.microsoft.com/office/drawing/2014/main" id="{DD40A89F-C609-FBC5-9A22-C343040E97BC}"/>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Clean merge</a:t>
              </a:r>
              <a:endParaRPr lang="en-US" altLang="zh-CN" sz="2000" dirty="0"/>
            </a:p>
          </p:txBody>
        </p:sp>
        <p:sp>
          <p:nvSpPr>
            <p:cNvPr id="49" name="Text 6">
              <a:extLst>
                <a:ext uri="{FF2B5EF4-FFF2-40B4-BE49-F238E27FC236}">
                  <a16:creationId xmlns:a16="http://schemas.microsoft.com/office/drawing/2014/main" id="{DE7FD7AF-D4D2-B63B-16B2-A6270D0E4972}"/>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a:solidFill>
                    <a:srgbClr val="374151"/>
                  </a:solidFill>
                </a:rPr>
                <a:t>Remove missing / invalid records</a:t>
              </a:r>
              <a:endParaRPr lang="en-US" altLang="zh-CN" dirty="0"/>
            </a:p>
          </p:txBody>
        </p:sp>
      </p:grpSp>
      <p:grpSp>
        <p:nvGrpSpPr>
          <p:cNvPr id="50" name="组合 49">
            <a:extLst>
              <a:ext uri="{FF2B5EF4-FFF2-40B4-BE49-F238E27FC236}">
                <a16:creationId xmlns:a16="http://schemas.microsoft.com/office/drawing/2014/main" id="{27BA7DF8-D821-0C56-73F8-34ABA8A317C6}"/>
              </a:ext>
            </a:extLst>
          </p:cNvPr>
          <p:cNvGrpSpPr/>
          <p:nvPr/>
        </p:nvGrpSpPr>
        <p:grpSpPr>
          <a:xfrm>
            <a:off x="9357573" y="1619160"/>
            <a:ext cx="2351086" cy="1325880"/>
            <a:chOff x="586154" y="1600200"/>
            <a:chExt cx="2351086" cy="1325880"/>
          </a:xfrm>
        </p:grpSpPr>
        <p:sp>
          <p:nvSpPr>
            <p:cNvPr id="51" name="Shape 3">
              <a:extLst>
                <a:ext uri="{FF2B5EF4-FFF2-40B4-BE49-F238E27FC236}">
                  <a16:creationId xmlns:a16="http://schemas.microsoft.com/office/drawing/2014/main" id="{2EDFC9C3-A424-4E12-30EA-198C9A207207}"/>
                </a:ext>
              </a:extLst>
            </p:cNvPr>
            <p:cNvSpPr/>
            <p:nvPr/>
          </p:nvSpPr>
          <p:spPr>
            <a:xfrm>
              <a:off x="586154" y="1600200"/>
              <a:ext cx="2351086" cy="1325880"/>
            </a:xfrm>
            <a:prstGeom prst="rect">
              <a:avLst/>
            </a:prstGeom>
            <a:solidFill>
              <a:srgbClr val="FFFFFF"/>
            </a:solidFill>
            <a:ln w="8890">
              <a:solidFill>
                <a:srgbClr val="E5E7EB"/>
              </a:solidFill>
              <a:prstDash val="solid"/>
            </a:ln>
          </p:spPr>
          <p:txBody>
            <a:bodyPr/>
            <a:lstStyle/>
            <a:p>
              <a:endParaRPr lang="zh-CN" altLang="en-US"/>
            </a:p>
          </p:txBody>
        </p:sp>
        <p:sp>
          <p:nvSpPr>
            <p:cNvPr id="52" name="Shape 4">
              <a:extLst>
                <a:ext uri="{FF2B5EF4-FFF2-40B4-BE49-F238E27FC236}">
                  <a16:creationId xmlns:a16="http://schemas.microsoft.com/office/drawing/2014/main" id="{C9639527-BF88-FFD8-D3EE-59019102E38F}"/>
                </a:ext>
              </a:extLst>
            </p:cNvPr>
            <p:cNvSpPr/>
            <p:nvPr/>
          </p:nvSpPr>
          <p:spPr>
            <a:xfrm>
              <a:off x="586154" y="1619160"/>
              <a:ext cx="2351086" cy="45719"/>
            </a:xfrm>
            <a:prstGeom prst="rect">
              <a:avLst/>
            </a:prstGeom>
            <a:solidFill>
              <a:srgbClr val="D97706"/>
            </a:solidFill>
            <a:ln w="12700">
              <a:solidFill>
                <a:srgbClr val="2563EB">
                  <a:alpha val="0"/>
                </a:srgbClr>
              </a:solidFill>
              <a:prstDash val="solid"/>
            </a:ln>
          </p:spPr>
          <p:txBody>
            <a:bodyPr/>
            <a:lstStyle/>
            <a:p>
              <a:endParaRPr lang="zh-CN" altLang="en-US"/>
            </a:p>
          </p:txBody>
        </p:sp>
        <p:sp>
          <p:nvSpPr>
            <p:cNvPr id="56" name="Text 5">
              <a:extLst>
                <a:ext uri="{FF2B5EF4-FFF2-40B4-BE49-F238E27FC236}">
                  <a16:creationId xmlns:a16="http://schemas.microsoft.com/office/drawing/2014/main" id="{9FBCA8DB-6803-4386-4AA3-E14F8FA6D06E}"/>
                </a:ext>
              </a:extLst>
            </p:cNvPr>
            <p:cNvSpPr/>
            <p:nvPr/>
          </p:nvSpPr>
          <p:spPr>
            <a:xfrm>
              <a:off x="799557" y="1800763"/>
              <a:ext cx="1947672" cy="331082"/>
            </a:xfrm>
            <a:prstGeom prst="rect">
              <a:avLst/>
            </a:prstGeom>
            <a:noFill/>
            <a:ln/>
          </p:spPr>
          <p:txBody>
            <a:bodyPr wrap="square" lIns="0" tIns="0" rIns="0" bIns="0" rtlCol="0" anchor="ctr"/>
            <a:lstStyle/>
            <a:p>
              <a:pPr algn="ctr"/>
              <a:r>
                <a:rPr lang="en-US" altLang="zh-CN" sz="2000" b="1" dirty="0">
                  <a:solidFill>
                    <a:srgbClr val="111827"/>
                  </a:solidFill>
                </a:rPr>
                <a:t>Split / tokenize</a:t>
              </a:r>
              <a:endParaRPr lang="en-US" altLang="zh-CN" sz="2000" dirty="0"/>
            </a:p>
          </p:txBody>
        </p:sp>
        <p:sp>
          <p:nvSpPr>
            <p:cNvPr id="59" name="Text 6">
              <a:extLst>
                <a:ext uri="{FF2B5EF4-FFF2-40B4-BE49-F238E27FC236}">
                  <a16:creationId xmlns:a16="http://schemas.microsoft.com/office/drawing/2014/main" id="{7F30EA17-858C-C7DA-384D-64F5321F44EA}"/>
                </a:ext>
              </a:extLst>
            </p:cNvPr>
            <p:cNvSpPr/>
            <p:nvPr/>
          </p:nvSpPr>
          <p:spPr>
            <a:xfrm>
              <a:off x="712147" y="2178090"/>
              <a:ext cx="2122493" cy="704088"/>
            </a:xfrm>
            <a:prstGeom prst="rect">
              <a:avLst/>
            </a:prstGeom>
            <a:noFill/>
            <a:ln/>
          </p:spPr>
          <p:txBody>
            <a:bodyPr wrap="square" lIns="0" tIns="0" rIns="0" bIns="0" rtlCol="0" anchor="ctr">
              <a:noAutofit/>
            </a:bodyPr>
            <a:lstStyle/>
            <a:p>
              <a:pPr algn="ctr"/>
              <a:r>
                <a:rPr lang="en-US" altLang="zh-CN" dirty="0">
                  <a:solidFill>
                    <a:srgbClr val="374151"/>
                  </a:solidFill>
                </a:rPr>
                <a:t>Train-</a:t>
              </a:r>
              <a:r>
                <a:rPr lang="en-US" altLang="zh-CN" dirty="0" err="1">
                  <a:solidFill>
                    <a:srgbClr val="374151"/>
                  </a:solidFill>
                </a:rPr>
                <a:t>val</a:t>
              </a:r>
              <a:r>
                <a:rPr lang="en-US" altLang="zh-CN" dirty="0">
                  <a:solidFill>
                    <a:srgbClr val="374151"/>
                  </a:solidFill>
                </a:rPr>
                <a:t>-test + </a:t>
              </a:r>
              <a:r>
                <a:rPr lang="en-US" altLang="zh-CN" dirty="0" err="1">
                  <a:solidFill>
                    <a:srgbClr val="374151"/>
                  </a:solidFill>
                </a:rPr>
                <a:t>ChemBERTa</a:t>
              </a:r>
              <a:r>
                <a:rPr lang="en-US" altLang="zh-CN" dirty="0">
                  <a:solidFill>
                    <a:srgbClr val="374151"/>
                  </a:solidFill>
                </a:rPr>
                <a:t> tokenizer</a:t>
              </a:r>
              <a:endParaRPr lang="en-US" altLang="zh-CN" dirty="0"/>
            </a:p>
          </p:txBody>
        </p:sp>
      </p:grpSp>
      <p:sp>
        <p:nvSpPr>
          <p:cNvPr id="79" name="Shape 7">
            <a:extLst>
              <a:ext uri="{FF2B5EF4-FFF2-40B4-BE49-F238E27FC236}">
                <a16:creationId xmlns:a16="http://schemas.microsoft.com/office/drawing/2014/main" id="{289A9E46-CCD4-56DE-CF6E-5E47B8A9C727}"/>
              </a:ext>
            </a:extLst>
          </p:cNvPr>
          <p:cNvSpPr/>
          <p:nvPr/>
        </p:nvSpPr>
        <p:spPr>
          <a:xfrm>
            <a:off x="5861816" y="2282100"/>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81" name="Shape 7">
            <a:extLst>
              <a:ext uri="{FF2B5EF4-FFF2-40B4-BE49-F238E27FC236}">
                <a16:creationId xmlns:a16="http://schemas.microsoft.com/office/drawing/2014/main" id="{15468D97-3436-F9DF-CFAD-6ED2AAAA6F6C}"/>
              </a:ext>
            </a:extLst>
          </p:cNvPr>
          <p:cNvSpPr/>
          <p:nvPr/>
        </p:nvSpPr>
        <p:spPr>
          <a:xfrm>
            <a:off x="8790386" y="2295144"/>
            <a:ext cx="468367" cy="0"/>
          </a:xfrm>
          <a:prstGeom prst="line">
            <a:avLst/>
          </a:prstGeom>
          <a:ln w="38100">
            <a:solidFill>
              <a:schemeClr val="bg1">
                <a:lumMod val="65000"/>
              </a:schemeClr>
            </a:solidFill>
            <a:tailEnd type="triangle"/>
          </a:ln>
        </p:spPr>
        <p:style>
          <a:lnRef idx="1">
            <a:schemeClr val="accent6"/>
          </a:lnRef>
          <a:fillRef idx="0">
            <a:schemeClr val="accent6"/>
          </a:fillRef>
          <a:effectRef idx="0">
            <a:schemeClr val="accent6"/>
          </a:effectRef>
          <a:fontRef idx="minor">
            <a:schemeClr val="tx1"/>
          </a:fontRef>
        </p:style>
        <p:txBody>
          <a:bodyPr/>
          <a:lstStyle/>
          <a:p>
            <a:endParaRPr lang="zh-CN" altLang="en-US"/>
          </a:p>
        </p:txBody>
      </p:sp>
      <p:sp>
        <p:nvSpPr>
          <p:cNvPr id="82" name="灯片编号占位符 21">
            <a:extLst>
              <a:ext uri="{FF2B5EF4-FFF2-40B4-BE49-F238E27FC236}">
                <a16:creationId xmlns:a16="http://schemas.microsoft.com/office/drawing/2014/main" id="{04EA0893-3746-3542-7643-1E5AF8CD06C5}"/>
              </a:ext>
            </a:extLst>
          </p:cNvPr>
          <p:cNvSpPr>
            <a:spLocks noGrp="1"/>
          </p:cNvSpPr>
          <p:nvPr>
            <p:ph type="sldNum" sz="quarter" idx="12"/>
          </p:nvPr>
        </p:nvSpPr>
        <p:spPr>
          <a:xfrm>
            <a:off x="9355756" y="6356350"/>
            <a:ext cx="2743200" cy="365125"/>
          </a:xfrm>
        </p:spPr>
        <p:txBody>
          <a:bodyPr/>
          <a:lstStyle/>
          <a:p>
            <a:fld id="{5A846D4C-743D-4A62-AF1E-2CABDD37274B}" type="slidenum">
              <a:rPr lang="en-US" smtClean="0"/>
              <a:t>7</a:t>
            </a:fld>
            <a:endParaRPr lang="en-US" dirty="0"/>
          </a:p>
        </p:txBody>
      </p:sp>
      <p:sp>
        <p:nvSpPr>
          <p:cNvPr id="2" name="矩形 1">
            <a:extLst>
              <a:ext uri="{FF2B5EF4-FFF2-40B4-BE49-F238E27FC236}">
                <a16:creationId xmlns:a16="http://schemas.microsoft.com/office/drawing/2014/main" id="{1B5DE101-7AEA-279E-7244-43FE651C93B0}"/>
              </a:ext>
            </a:extLst>
          </p:cNvPr>
          <p:cNvSpPr/>
          <p:nvPr/>
        </p:nvSpPr>
        <p:spPr>
          <a:xfrm>
            <a:off x="392004" y="3281514"/>
            <a:ext cx="6120000" cy="227750"/>
          </a:xfrm>
          <a:prstGeom prst="rect">
            <a:avLst/>
          </a:prstGeom>
          <a:solidFill>
            <a:srgbClr val="F8CAA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D7317E31-6623-45B6-247E-5993A1409A3E}"/>
              </a:ext>
            </a:extLst>
          </p:cNvPr>
          <p:cNvSpPr/>
          <p:nvPr/>
        </p:nvSpPr>
        <p:spPr>
          <a:xfrm>
            <a:off x="5585594" y="3281514"/>
            <a:ext cx="918000" cy="227750"/>
          </a:xfrm>
          <a:prstGeom prst="rect">
            <a:avLst/>
          </a:prstGeom>
          <a:solidFill>
            <a:srgbClr val="DDE6F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0A2A0A2-D76E-EFA9-CF57-D31F57CA46A3}"/>
              </a:ext>
            </a:extLst>
          </p:cNvPr>
          <p:cNvSpPr/>
          <p:nvPr/>
        </p:nvSpPr>
        <p:spPr>
          <a:xfrm>
            <a:off x="4667594" y="3281514"/>
            <a:ext cx="918000" cy="227750"/>
          </a:xfrm>
          <a:prstGeom prst="rect">
            <a:avLst/>
          </a:prstGeom>
          <a:solidFill>
            <a:srgbClr val="F6D8D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6125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1C01-B0C5-CC8B-28BA-1E82A72BC98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CB493D4-22A7-3096-F357-0E93B6AC961A}"/>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DA9DBDE8-7A5B-1970-463E-C4E2740A1C8B}"/>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84EED417-A9C3-0D6C-D507-9A9A79FC7ACF}"/>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rPr>
              <a:t>   M</a:t>
            </a:r>
            <a:r>
              <a:rPr lang="en-US" altLang="zh-CN" sz="2800" b="1" dirty="0">
                <a:solidFill>
                  <a:schemeClr val="accent1"/>
                </a:solidFill>
              </a:rPr>
              <a:t>odel and training strategy</a:t>
            </a:r>
            <a:endParaRPr lang="en-US" altLang="zh-CN" sz="2800" b="1" dirty="0">
              <a:solidFill>
                <a:schemeClr val="accent1"/>
              </a:solidFill>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104214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E2839-9F09-F7AD-3DB8-CD12FD903C8E}"/>
            </a:ext>
          </a:extLst>
        </p:cNvPr>
        <p:cNvGrpSpPr/>
        <p:nvPr/>
      </p:nvGrpSpPr>
      <p:grpSpPr>
        <a:xfrm>
          <a:off x="0" y="0"/>
          <a:ext cx="0" cy="0"/>
          <a:chOff x="0" y="0"/>
          <a:chExt cx="0" cy="0"/>
        </a:xfrm>
      </p:grpSpPr>
      <p:sp>
        <p:nvSpPr>
          <p:cNvPr id="22" name="灯片编号占位符 21">
            <a:extLst>
              <a:ext uri="{FF2B5EF4-FFF2-40B4-BE49-F238E27FC236}">
                <a16:creationId xmlns:a16="http://schemas.microsoft.com/office/drawing/2014/main" id="{D4D19D27-2D23-2D97-DD6A-B34A7B346A9A}"/>
              </a:ext>
            </a:extLst>
          </p:cNvPr>
          <p:cNvSpPr>
            <a:spLocks noGrp="1"/>
          </p:cNvSpPr>
          <p:nvPr>
            <p:ph type="sldNum" sz="quarter" idx="12"/>
          </p:nvPr>
        </p:nvSpPr>
        <p:spPr/>
        <p:txBody>
          <a:bodyPr/>
          <a:lstStyle/>
          <a:p>
            <a:fld id="{5A846D4C-743D-4A62-AF1E-2CABDD37274B}" type="slidenum">
              <a:rPr lang="en-US" smtClean="0"/>
              <a:t>9</a:t>
            </a:fld>
            <a:endParaRPr lang="en-US"/>
          </a:p>
        </p:txBody>
      </p:sp>
      <p:sp>
        <p:nvSpPr>
          <p:cNvPr id="23" name="文本框 22">
            <a:extLst>
              <a:ext uri="{FF2B5EF4-FFF2-40B4-BE49-F238E27FC236}">
                <a16:creationId xmlns:a16="http://schemas.microsoft.com/office/drawing/2014/main" id="{79C0A701-0700-7A8C-867F-A128E695314C}"/>
              </a:ext>
            </a:extLst>
          </p:cNvPr>
          <p:cNvSpPr txBox="1"/>
          <p:nvPr/>
        </p:nvSpPr>
        <p:spPr>
          <a:xfrm>
            <a:off x="273652" y="304514"/>
            <a:ext cx="8286454" cy="574869"/>
          </a:xfrm>
          <a:prstGeom prst="rect">
            <a:avLst/>
          </a:prstGeom>
        </p:spPr>
        <p:txBody>
          <a:bodyPr vert="horz" lIns="91440" tIns="45720" rIns="91440" bIns="45720" rtlCol="0" anchor="ctr">
            <a:normAutofit lnSpcReduction="10000"/>
          </a:bodyPr>
          <a:lstStyle/>
          <a:p>
            <a:r>
              <a:rPr lang="en-US" altLang="zh-CN" sz="3200" b="1" dirty="0">
                <a:solidFill>
                  <a:srgbClr val="111827"/>
                </a:solidFill>
              </a:rPr>
              <a:t>Model Selection Rationale</a:t>
            </a:r>
            <a:endParaRPr lang="en-US" altLang="zh-CN" sz="3200" dirty="0"/>
          </a:p>
        </p:txBody>
      </p:sp>
    </p:spTree>
    <p:extLst>
      <p:ext uri="{BB962C8B-B14F-4D97-AF65-F5344CB8AC3E}">
        <p14:creationId xmlns:p14="http://schemas.microsoft.com/office/powerpoint/2010/main" val="217116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9355756" y="6374279"/>
            <a:ext cx="2743200" cy="365125"/>
          </a:xfrm>
        </p:spPr>
        <p:txBody>
          <a:bodyPr/>
          <a:lstStyle/>
          <a:p>
            <a:fld id="{5A846D4C-743D-4A62-AF1E-2CABDD37274B}" type="slidenum">
              <a:rPr lang="en-US" smtClean="0"/>
              <a:t>10</a:t>
            </a:fld>
            <a:endParaRPr lang="en-US"/>
          </a:p>
        </p:txBody>
      </p:sp>
      <p:sp>
        <p:nvSpPr>
          <p:cNvPr id="3" name="文本框 2"/>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err="1">
                <a:solidFill>
                  <a:schemeClr val="tx1"/>
                </a:solidFill>
                <a:latin typeface="Segoe UI Black" panose="020B0A02040204020203" pitchFamily="34" charset="0"/>
                <a:ea typeface="Segoe UI Black" panose="020B0A02040204020203" pitchFamily="34" charset="0"/>
                <a:cs typeface="+mj-cs"/>
              </a:rPr>
              <a:t>ChemBERTa</a:t>
            </a:r>
            <a:r>
              <a:rPr lang="en-US" sz="3200" b="1" kern="1200" dirty="0">
                <a:solidFill>
                  <a:schemeClr val="tx1"/>
                </a:solidFill>
                <a:latin typeface="Segoe UI Black" panose="020B0A02040204020203" pitchFamily="34" charset="0"/>
                <a:ea typeface="Segoe UI Black" panose="020B0A02040204020203" pitchFamily="34" charset="0"/>
                <a:cs typeface="+mj-cs"/>
              </a:rPr>
              <a:t> Regression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70CE-10EC-DC6E-0325-31287893D3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0B1814D-DB4F-E0CE-884A-4511EF654782}"/>
              </a:ext>
            </a:extLst>
          </p:cNvPr>
          <p:cNvSpPr>
            <a:spLocks noGrp="1"/>
          </p:cNvSpPr>
          <p:nvPr>
            <p:ph type="sldNum" sz="quarter" idx="12"/>
          </p:nvPr>
        </p:nvSpPr>
        <p:spPr/>
        <p:txBody>
          <a:bodyPr/>
          <a:lstStyle/>
          <a:p>
            <a:fld id="{5A846D4C-743D-4A62-AF1E-2CABDD37274B}" type="slidenum">
              <a:rPr lang="en-US" smtClean="0"/>
              <a:t>11</a:t>
            </a:fld>
            <a:endParaRPr lang="en-US"/>
          </a:p>
        </p:txBody>
      </p:sp>
      <p:sp>
        <p:nvSpPr>
          <p:cNvPr id="3" name="文本框 2">
            <a:extLst>
              <a:ext uri="{FF2B5EF4-FFF2-40B4-BE49-F238E27FC236}">
                <a16:creationId xmlns:a16="http://schemas.microsoft.com/office/drawing/2014/main" id="{A24DE346-7DF6-F352-803F-ECBEEA9339EA}"/>
              </a:ext>
            </a:extLst>
          </p:cNvPr>
          <p:cNvSpPr txBox="1"/>
          <p:nvPr/>
        </p:nvSpPr>
        <p:spPr>
          <a:xfrm>
            <a:off x="273652" y="304514"/>
            <a:ext cx="9716168" cy="574869"/>
          </a:xfrm>
          <a:prstGeom prst="rect">
            <a:avLst/>
          </a:prstGeom>
        </p:spPr>
        <p:txBody>
          <a:bodyPr vert="horz" lIns="91440" tIns="45720" rIns="91440" bIns="45720" rtlCol="0" anchor="ctr">
            <a:noAutofit/>
          </a:bodyPr>
          <a:lstStyle/>
          <a:p>
            <a:pPr>
              <a:spcBef>
                <a:spcPct val="0"/>
              </a:spcBef>
            </a:pPr>
            <a:r>
              <a:rPr lang="en-US" sz="3200" b="1" dirty="0">
                <a:latin typeface="Segoe UI Black" panose="020B0A02040204020203" pitchFamily="34" charset="0"/>
                <a:ea typeface="Segoe UI Black" panose="020B0A02040204020203" pitchFamily="34" charset="0"/>
              </a:rPr>
              <a:t>Regression Loss and Evaluation Metrics</a:t>
            </a:r>
          </a:p>
        </p:txBody>
      </p:sp>
    </p:spTree>
    <p:extLst>
      <p:ext uri="{BB962C8B-B14F-4D97-AF65-F5344CB8AC3E}">
        <p14:creationId xmlns:p14="http://schemas.microsoft.com/office/powerpoint/2010/main" val="1519533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C0466-0B31-3DEC-49C9-1089B1285CD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BF9C64-8C69-01A3-D5E9-39166E1D9DCD}"/>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12</a:t>
            </a:fld>
            <a:endParaRPr lang="en-US"/>
          </a:p>
        </p:txBody>
      </p:sp>
      <p:sp>
        <p:nvSpPr>
          <p:cNvPr id="3" name="文本框 2">
            <a:extLst>
              <a:ext uri="{FF2B5EF4-FFF2-40B4-BE49-F238E27FC236}">
                <a16:creationId xmlns:a16="http://schemas.microsoft.com/office/drawing/2014/main" id="{3741CA72-7E52-5F24-A742-CAE179C00EDA}"/>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2600" b="1" kern="1200" dirty="0">
                <a:solidFill>
                  <a:schemeClr val="tx1"/>
                </a:solidFill>
                <a:latin typeface="Segoe UI Black" panose="020B0A02040204020203" pitchFamily="34" charset="0"/>
                <a:ea typeface="Segoe UI Black" panose="020B0A02040204020203" pitchFamily="34" charset="0"/>
                <a:cs typeface="+mj-cs"/>
              </a:rPr>
              <a:t>SMILES Augmentation: Invariance to String Serialization</a:t>
            </a:r>
          </a:p>
        </p:txBody>
      </p:sp>
      <p:sp>
        <p:nvSpPr>
          <p:cNvPr id="4" name="Shape 2">
            <a:extLst>
              <a:ext uri="{FF2B5EF4-FFF2-40B4-BE49-F238E27FC236}">
                <a16:creationId xmlns:a16="http://schemas.microsoft.com/office/drawing/2014/main" id="{3215D20C-F6F5-D660-1B7B-5323613551F1}"/>
              </a:ext>
            </a:extLst>
          </p:cNvPr>
          <p:cNvSpPr/>
          <p:nvPr/>
        </p:nvSpPr>
        <p:spPr>
          <a:xfrm>
            <a:off x="787791" y="1329898"/>
            <a:ext cx="2560320" cy="2426470"/>
          </a:xfrm>
          <a:prstGeom prst="roundRect">
            <a:avLst>
              <a:gd name="adj" fmla="val 2353"/>
            </a:avLst>
          </a:prstGeom>
          <a:solidFill>
            <a:srgbClr val="FFFFFF"/>
          </a:solidFill>
          <a:ln w="12700">
            <a:solidFill>
              <a:srgbClr val="1D4ED8"/>
            </a:solidFill>
            <a:prstDash val="solid"/>
          </a:ln>
        </p:spPr>
        <p:txBody>
          <a:bodyPr/>
          <a:lstStyle/>
          <a:p>
            <a:endParaRPr lang="en-US"/>
          </a:p>
        </p:txBody>
      </p:sp>
      <p:sp>
        <p:nvSpPr>
          <p:cNvPr id="5" name="Text 3">
            <a:extLst>
              <a:ext uri="{FF2B5EF4-FFF2-40B4-BE49-F238E27FC236}">
                <a16:creationId xmlns:a16="http://schemas.microsoft.com/office/drawing/2014/main" id="{8BEC65DB-212C-ECF8-9D14-D28B18997B01}"/>
              </a:ext>
            </a:extLst>
          </p:cNvPr>
          <p:cNvSpPr/>
          <p:nvPr/>
        </p:nvSpPr>
        <p:spPr>
          <a:xfrm>
            <a:off x="918093" y="1610473"/>
            <a:ext cx="2340864" cy="877852"/>
          </a:xfrm>
          <a:prstGeom prst="rect">
            <a:avLst/>
          </a:prstGeom>
          <a:noFill/>
          <a:ln/>
        </p:spPr>
        <p:txBody>
          <a:bodyPr wrap="square" lIns="0" tIns="0" rIns="0" bIns="0" rtlCol="0" anchor="ctr"/>
          <a:lstStyle/>
          <a:p>
            <a:pPr marL="0" indent="0" algn="ctr">
              <a:buNone/>
            </a:pPr>
            <a:r>
              <a:rPr lang="en-US" sz="2800" b="1" dirty="0">
                <a:solidFill>
                  <a:srgbClr val="111827"/>
                </a:solidFill>
              </a:rPr>
              <a:t>Canonical SMILES</a:t>
            </a:r>
            <a:endParaRPr lang="en-US" sz="2800" dirty="0"/>
          </a:p>
        </p:txBody>
      </p:sp>
      <p:sp>
        <p:nvSpPr>
          <p:cNvPr id="6" name="Text 4">
            <a:extLst>
              <a:ext uri="{FF2B5EF4-FFF2-40B4-BE49-F238E27FC236}">
                <a16:creationId xmlns:a16="http://schemas.microsoft.com/office/drawing/2014/main" id="{0BBF9591-1811-4874-AC1C-A70CC71B945F}"/>
              </a:ext>
            </a:extLst>
          </p:cNvPr>
          <p:cNvSpPr/>
          <p:nvPr/>
        </p:nvSpPr>
        <p:spPr>
          <a:xfrm>
            <a:off x="952383" y="2912011"/>
            <a:ext cx="2231136" cy="412653"/>
          </a:xfrm>
          <a:prstGeom prst="rect">
            <a:avLst/>
          </a:prstGeom>
          <a:noFill/>
          <a:ln/>
        </p:spPr>
        <p:txBody>
          <a:bodyPr wrap="square" lIns="254" tIns="254" rIns="254" bIns="254" rtlCol="0" anchor="t">
            <a:normAutofit/>
          </a:bodyPr>
          <a:lstStyle/>
          <a:p>
            <a:pPr marL="0" indent="0" algn="ctr">
              <a:buNone/>
            </a:pPr>
            <a:r>
              <a:rPr lang="en-US" sz="2200" dirty="0">
                <a:solidFill>
                  <a:srgbClr val="374151"/>
                </a:solidFill>
              </a:rPr>
              <a:t>C(=O)[O-].[Na+]</a:t>
            </a:r>
            <a:endParaRPr lang="en-US" sz="2200" dirty="0"/>
          </a:p>
        </p:txBody>
      </p:sp>
      <p:sp>
        <p:nvSpPr>
          <p:cNvPr id="7" name="Shape 5">
            <a:extLst>
              <a:ext uri="{FF2B5EF4-FFF2-40B4-BE49-F238E27FC236}">
                <a16:creationId xmlns:a16="http://schemas.microsoft.com/office/drawing/2014/main" id="{12D4DE43-A591-2395-4C07-75D262D320BC}"/>
              </a:ext>
            </a:extLst>
          </p:cNvPr>
          <p:cNvSpPr/>
          <p:nvPr/>
        </p:nvSpPr>
        <p:spPr>
          <a:xfrm>
            <a:off x="3508717" y="2697038"/>
            <a:ext cx="731520" cy="0"/>
          </a:xfrm>
          <a:prstGeom prst="line">
            <a:avLst/>
          </a:prstGeom>
          <a:noFill/>
          <a:ln w="38100">
            <a:solidFill>
              <a:srgbClr val="6B7280"/>
            </a:solidFill>
            <a:prstDash val="solid"/>
            <a:tailEnd type="triangle"/>
          </a:ln>
        </p:spPr>
        <p:txBody>
          <a:bodyPr/>
          <a:lstStyle/>
          <a:p>
            <a:endParaRPr lang="en-US"/>
          </a:p>
        </p:txBody>
      </p:sp>
      <p:sp>
        <p:nvSpPr>
          <p:cNvPr id="8" name="Shape 6">
            <a:extLst>
              <a:ext uri="{FF2B5EF4-FFF2-40B4-BE49-F238E27FC236}">
                <a16:creationId xmlns:a16="http://schemas.microsoft.com/office/drawing/2014/main" id="{6310C775-361F-F06D-1505-C67B59F63E22}"/>
              </a:ext>
            </a:extLst>
          </p:cNvPr>
          <p:cNvSpPr/>
          <p:nvPr/>
        </p:nvSpPr>
        <p:spPr>
          <a:xfrm>
            <a:off x="4340235" y="1329898"/>
            <a:ext cx="3268042" cy="2426470"/>
          </a:xfrm>
          <a:prstGeom prst="roundRect">
            <a:avLst>
              <a:gd name="adj" fmla="val 1905"/>
            </a:avLst>
          </a:prstGeom>
          <a:solidFill>
            <a:srgbClr val="FFFFFF"/>
          </a:solidFill>
          <a:ln w="12700">
            <a:solidFill>
              <a:srgbClr val="047857"/>
            </a:solidFill>
            <a:prstDash val="solid"/>
          </a:ln>
        </p:spPr>
        <p:txBody>
          <a:bodyPr/>
          <a:lstStyle/>
          <a:p>
            <a:endParaRPr lang="en-US"/>
          </a:p>
        </p:txBody>
      </p:sp>
      <p:sp>
        <p:nvSpPr>
          <p:cNvPr id="9" name="Text 7">
            <a:extLst>
              <a:ext uri="{FF2B5EF4-FFF2-40B4-BE49-F238E27FC236}">
                <a16:creationId xmlns:a16="http://schemas.microsoft.com/office/drawing/2014/main" id="{6E17E637-6E41-0E09-6A65-D947D5A63DDF}"/>
              </a:ext>
            </a:extLst>
          </p:cNvPr>
          <p:cNvSpPr/>
          <p:nvPr/>
        </p:nvSpPr>
        <p:spPr>
          <a:xfrm>
            <a:off x="4367667" y="1581269"/>
            <a:ext cx="3062537" cy="574869"/>
          </a:xfrm>
          <a:prstGeom prst="rect">
            <a:avLst/>
          </a:prstGeom>
          <a:noFill/>
          <a:ln/>
        </p:spPr>
        <p:txBody>
          <a:bodyPr wrap="square" lIns="0" tIns="0" rIns="0" bIns="0" rtlCol="0" anchor="ctr"/>
          <a:lstStyle/>
          <a:p>
            <a:pPr marL="0" indent="0" algn="ctr">
              <a:buNone/>
            </a:pPr>
            <a:r>
              <a:rPr lang="en-US" sz="2800" b="1" dirty="0">
                <a:solidFill>
                  <a:srgbClr val="111827"/>
                </a:solidFill>
              </a:rPr>
              <a:t>Randomized equivalent SMILES</a:t>
            </a:r>
            <a:endParaRPr lang="en-US" sz="2800" dirty="0"/>
          </a:p>
        </p:txBody>
      </p:sp>
      <p:sp>
        <p:nvSpPr>
          <p:cNvPr id="10" name="Text 8">
            <a:extLst>
              <a:ext uri="{FF2B5EF4-FFF2-40B4-BE49-F238E27FC236}">
                <a16:creationId xmlns:a16="http://schemas.microsoft.com/office/drawing/2014/main" id="{DC0EDF13-2A2B-78DB-A8CF-6F661CC3EAE5}"/>
              </a:ext>
            </a:extLst>
          </p:cNvPr>
          <p:cNvSpPr/>
          <p:nvPr/>
        </p:nvSpPr>
        <p:spPr>
          <a:xfrm>
            <a:off x="4518543" y="2579546"/>
            <a:ext cx="2505456" cy="1353312"/>
          </a:xfrm>
          <a:prstGeom prst="rect">
            <a:avLst/>
          </a:prstGeom>
          <a:noFill/>
          <a:ln/>
        </p:spPr>
        <p:txBody>
          <a:bodyPr wrap="square" lIns="254" tIns="254" rIns="254" bIns="254" rtlCol="0" anchor="t">
            <a:normAutofit/>
          </a:bodyPr>
          <a:lstStyle/>
          <a:p>
            <a:pPr marL="0" indent="0" algn="ctr">
              <a:buNone/>
            </a:pPr>
            <a:r>
              <a:rPr lang="en-US" sz="2300" dirty="0">
                <a:solidFill>
                  <a:srgbClr val="374151"/>
                </a:solidFill>
              </a:rPr>
              <a:t>[Na+].[O-]C=O</a:t>
            </a:r>
            <a:endParaRPr lang="en-US" sz="2300" dirty="0"/>
          </a:p>
          <a:p>
            <a:pPr marL="0" indent="0" algn="ctr">
              <a:buNone/>
            </a:pPr>
            <a:r>
              <a:rPr lang="en-US" sz="2300" dirty="0">
                <a:solidFill>
                  <a:srgbClr val="374151"/>
                </a:solidFill>
              </a:rPr>
              <a:t>O=C([O-]).[Na+]</a:t>
            </a:r>
            <a:endParaRPr lang="en-US" sz="2300" dirty="0"/>
          </a:p>
          <a:p>
            <a:pPr marL="0" indent="0" algn="ctr">
              <a:buNone/>
            </a:pPr>
            <a:r>
              <a:rPr lang="en-US" sz="2300" dirty="0">
                <a:solidFill>
                  <a:srgbClr val="374151"/>
                </a:solidFill>
              </a:rPr>
              <a:t>C([O-])=O.[Na+]</a:t>
            </a:r>
            <a:endParaRPr lang="en-US" sz="2300" dirty="0"/>
          </a:p>
        </p:txBody>
      </p:sp>
      <p:sp>
        <p:nvSpPr>
          <p:cNvPr id="11" name="Shape 9">
            <a:extLst>
              <a:ext uri="{FF2B5EF4-FFF2-40B4-BE49-F238E27FC236}">
                <a16:creationId xmlns:a16="http://schemas.microsoft.com/office/drawing/2014/main" id="{B9BEA066-0C15-6D01-129F-817E11382D65}"/>
              </a:ext>
            </a:extLst>
          </p:cNvPr>
          <p:cNvSpPr/>
          <p:nvPr/>
        </p:nvSpPr>
        <p:spPr>
          <a:xfrm>
            <a:off x="7682367" y="2697038"/>
            <a:ext cx="731520" cy="0"/>
          </a:xfrm>
          <a:prstGeom prst="line">
            <a:avLst/>
          </a:prstGeom>
          <a:noFill/>
          <a:ln w="38100">
            <a:solidFill>
              <a:srgbClr val="6B7280"/>
            </a:solidFill>
            <a:prstDash val="solid"/>
            <a:tailEnd type="triangle"/>
          </a:ln>
        </p:spPr>
        <p:txBody>
          <a:bodyPr/>
          <a:lstStyle/>
          <a:p>
            <a:endParaRPr lang="en-US"/>
          </a:p>
        </p:txBody>
      </p:sp>
      <p:sp>
        <p:nvSpPr>
          <p:cNvPr id="12" name="Shape 10">
            <a:extLst>
              <a:ext uri="{FF2B5EF4-FFF2-40B4-BE49-F238E27FC236}">
                <a16:creationId xmlns:a16="http://schemas.microsoft.com/office/drawing/2014/main" id="{D1BBB0D2-1BD9-4512-5195-D0A6E01F94C6}"/>
              </a:ext>
            </a:extLst>
          </p:cNvPr>
          <p:cNvSpPr/>
          <p:nvPr/>
        </p:nvSpPr>
        <p:spPr>
          <a:xfrm>
            <a:off x="8600401" y="1329896"/>
            <a:ext cx="2560320" cy="2426470"/>
          </a:xfrm>
          <a:prstGeom prst="roundRect">
            <a:avLst>
              <a:gd name="adj" fmla="val 2353"/>
            </a:avLst>
          </a:prstGeom>
          <a:solidFill>
            <a:srgbClr val="FFFFFF"/>
          </a:solidFill>
          <a:ln w="12700">
            <a:solidFill>
              <a:srgbClr val="6D28D9"/>
            </a:solidFill>
            <a:prstDash val="solid"/>
          </a:ln>
        </p:spPr>
        <p:txBody>
          <a:bodyPr/>
          <a:lstStyle/>
          <a:p>
            <a:endParaRPr lang="en-US"/>
          </a:p>
        </p:txBody>
      </p:sp>
      <p:sp>
        <p:nvSpPr>
          <p:cNvPr id="13" name="Text 11">
            <a:extLst>
              <a:ext uri="{FF2B5EF4-FFF2-40B4-BE49-F238E27FC236}">
                <a16:creationId xmlns:a16="http://schemas.microsoft.com/office/drawing/2014/main" id="{84631E84-6E84-7756-DE97-CE83509639F4}"/>
              </a:ext>
            </a:extLst>
          </p:cNvPr>
          <p:cNvSpPr/>
          <p:nvPr/>
        </p:nvSpPr>
        <p:spPr>
          <a:xfrm>
            <a:off x="8710129" y="1807463"/>
            <a:ext cx="2340864" cy="219456"/>
          </a:xfrm>
          <a:prstGeom prst="rect">
            <a:avLst/>
          </a:prstGeom>
          <a:noFill/>
          <a:ln/>
        </p:spPr>
        <p:txBody>
          <a:bodyPr wrap="square" lIns="0" tIns="0" rIns="0" bIns="0" rtlCol="0" anchor="ctr"/>
          <a:lstStyle/>
          <a:p>
            <a:pPr marL="0" indent="0" algn="ctr">
              <a:buNone/>
            </a:pPr>
            <a:r>
              <a:rPr lang="en-US" sz="2800" b="1" dirty="0">
                <a:solidFill>
                  <a:srgbClr val="111827"/>
                </a:solidFill>
              </a:rPr>
              <a:t>Same label</a:t>
            </a:r>
            <a:endParaRPr lang="en-US" sz="2800" dirty="0"/>
          </a:p>
        </p:txBody>
      </p:sp>
      <p:sp>
        <p:nvSpPr>
          <p:cNvPr id="18" name="Text 12">
            <a:extLst>
              <a:ext uri="{FF2B5EF4-FFF2-40B4-BE49-F238E27FC236}">
                <a16:creationId xmlns:a16="http://schemas.microsoft.com/office/drawing/2014/main" id="{71E09E74-7E15-4744-7688-71D638BD102A}"/>
              </a:ext>
            </a:extLst>
          </p:cNvPr>
          <p:cNvSpPr/>
          <p:nvPr/>
        </p:nvSpPr>
        <p:spPr>
          <a:xfrm>
            <a:off x="8819857" y="2593847"/>
            <a:ext cx="2231136" cy="987552"/>
          </a:xfrm>
          <a:prstGeom prst="rect">
            <a:avLst/>
          </a:prstGeom>
          <a:noFill/>
          <a:ln/>
        </p:spPr>
        <p:txBody>
          <a:bodyPr wrap="square" lIns="254" tIns="254" rIns="254" bIns="254" rtlCol="0" anchor="t">
            <a:normAutofit/>
          </a:bodyPr>
          <a:lstStyle/>
          <a:p>
            <a:pPr marL="0" indent="0" algn="ctr">
              <a:buNone/>
            </a:pPr>
            <a:r>
              <a:rPr lang="en-US" sz="2300" dirty="0">
                <a:solidFill>
                  <a:srgbClr val="374151"/>
                </a:solidFill>
              </a:rPr>
              <a:t>Energy_min unchanged</a:t>
            </a:r>
            <a:endParaRPr lang="en-US" sz="2300" dirty="0"/>
          </a:p>
        </p:txBody>
      </p:sp>
      <p:sp>
        <p:nvSpPr>
          <p:cNvPr id="20" name="Shape 13">
            <a:extLst>
              <a:ext uri="{FF2B5EF4-FFF2-40B4-BE49-F238E27FC236}">
                <a16:creationId xmlns:a16="http://schemas.microsoft.com/office/drawing/2014/main" id="{5C9CF1D1-89FD-C3A1-5247-5BF12B1CFF98}"/>
              </a:ext>
            </a:extLst>
          </p:cNvPr>
          <p:cNvSpPr/>
          <p:nvPr/>
        </p:nvSpPr>
        <p:spPr>
          <a:xfrm>
            <a:off x="1203960" y="4572000"/>
            <a:ext cx="9784080" cy="1316731"/>
          </a:xfrm>
          <a:prstGeom prst="roundRect">
            <a:avLst>
              <a:gd name="adj" fmla="val 4211"/>
            </a:avLst>
          </a:prstGeom>
          <a:solidFill>
            <a:srgbClr val="FFFFFF"/>
          </a:solidFill>
          <a:ln w="10160">
            <a:solidFill>
              <a:srgbClr val="D1D5DB"/>
            </a:solidFill>
            <a:prstDash val="solid"/>
          </a:ln>
        </p:spPr>
        <p:txBody>
          <a:bodyPr/>
          <a:lstStyle/>
          <a:p>
            <a:endParaRPr lang="en-US"/>
          </a:p>
        </p:txBody>
      </p:sp>
      <p:sp>
        <p:nvSpPr>
          <p:cNvPr id="21" name="Shape 14">
            <a:extLst>
              <a:ext uri="{FF2B5EF4-FFF2-40B4-BE49-F238E27FC236}">
                <a16:creationId xmlns:a16="http://schemas.microsoft.com/office/drawing/2014/main" id="{D133AF71-D2F4-6318-3952-59472C7C897F}"/>
              </a:ext>
            </a:extLst>
          </p:cNvPr>
          <p:cNvSpPr/>
          <p:nvPr/>
        </p:nvSpPr>
        <p:spPr>
          <a:xfrm>
            <a:off x="1203960" y="4572001"/>
            <a:ext cx="82296" cy="1316730"/>
          </a:xfrm>
          <a:prstGeom prst="rect">
            <a:avLst/>
          </a:prstGeom>
          <a:solidFill>
            <a:srgbClr val="1D4ED8"/>
          </a:solidFill>
          <a:ln w="12700">
            <a:solidFill>
              <a:srgbClr val="1D4ED8">
                <a:alpha val="0"/>
              </a:srgbClr>
            </a:solidFill>
            <a:prstDash val="solid"/>
          </a:ln>
        </p:spPr>
        <p:txBody>
          <a:bodyPr/>
          <a:lstStyle/>
          <a:p>
            <a:endParaRPr lang="en-US"/>
          </a:p>
        </p:txBody>
      </p:sp>
      <p:sp>
        <p:nvSpPr>
          <p:cNvPr id="22" name="Text 15">
            <a:extLst>
              <a:ext uri="{FF2B5EF4-FFF2-40B4-BE49-F238E27FC236}">
                <a16:creationId xmlns:a16="http://schemas.microsoft.com/office/drawing/2014/main" id="{494BCD4C-77E4-B034-F1FC-044FE2F89BE3}"/>
              </a:ext>
            </a:extLst>
          </p:cNvPr>
          <p:cNvSpPr/>
          <p:nvPr/>
        </p:nvSpPr>
        <p:spPr>
          <a:xfrm>
            <a:off x="1405128" y="4718305"/>
            <a:ext cx="9464040" cy="228600"/>
          </a:xfrm>
          <a:prstGeom prst="rect">
            <a:avLst/>
          </a:prstGeom>
          <a:noFill/>
          <a:ln/>
        </p:spPr>
        <p:txBody>
          <a:bodyPr wrap="square" lIns="0" tIns="0" rIns="0" bIns="0" rtlCol="0" anchor="ctr"/>
          <a:lstStyle/>
          <a:p>
            <a:pPr marL="0" indent="0">
              <a:buNone/>
            </a:pPr>
            <a:r>
              <a:rPr lang="en-US" sz="2800" b="1" dirty="0">
                <a:solidFill>
                  <a:srgbClr val="111827"/>
                </a:solidFill>
              </a:rPr>
              <a:t>Why this is valid</a:t>
            </a:r>
            <a:endParaRPr lang="en-US" sz="2800" dirty="0"/>
          </a:p>
        </p:txBody>
      </p:sp>
      <p:sp>
        <p:nvSpPr>
          <p:cNvPr id="24" name="Text 16">
            <a:extLst>
              <a:ext uri="{FF2B5EF4-FFF2-40B4-BE49-F238E27FC236}">
                <a16:creationId xmlns:a16="http://schemas.microsoft.com/office/drawing/2014/main" id="{D21AFFD1-8D96-83BF-C5F9-70CEE750FC52}"/>
              </a:ext>
            </a:extLst>
          </p:cNvPr>
          <p:cNvSpPr/>
          <p:nvPr/>
        </p:nvSpPr>
        <p:spPr>
          <a:xfrm>
            <a:off x="1405128" y="5094381"/>
            <a:ext cx="9473184" cy="658368"/>
          </a:xfrm>
          <a:prstGeom prst="rect">
            <a:avLst/>
          </a:prstGeom>
          <a:noFill/>
          <a:ln/>
        </p:spPr>
        <p:txBody>
          <a:bodyPr wrap="square" lIns="254" tIns="254" rIns="254" bIns="254" rtlCol="0" anchor="t">
            <a:noAutofit/>
          </a:bodyPr>
          <a:lstStyle/>
          <a:p>
            <a:pPr marL="0" indent="0" algn="l">
              <a:buNone/>
            </a:pPr>
            <a:r>
              <a:rPr lang="en-US" sz="2300" dirty="0">
                <a:solidFill>
                  <a:srgbClr val="374151"/>
                </a:solidFill>
              </a:rPr>
              <a:t>The molecule is unchanged; only the textual traversal of the molecular graph changes. Therefore the supervised target remains the same.</a:t>
            </a:r>
            <a:endParaRPr lang="en-US" sz="2300" dirty="0"/>
          </a:p>
        </p:txBody>
      </p:sp>
    </p:spTree>
    <p:extLst>
      <p:ext uri="{BB962C8B-B14F-4D97-AF65-F5344CB8AC3E}">
        <p14:creationId xmlns:p14="http://schemas.microsoft.com/office/powerpoint/2010/main" val="267178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FC85-367E-BC6B-68F3-12BD489D594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B8F884-34AC-DA3F-51D3-35B96B7BE0D1}"/>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13</a:t>
            </a:fld>
            <a:endParaRPr lang="en-US" dirty="0"/>
          </a:p>
        </p:txBody>
      </p:sp>
      <p:sp>
        <p:nvSpPr>
          <p:cNvPr id="3" name="文本框 2">
            <a:extLst>
              <a:ext uri="{FF2B5EF4-FFF2-40B4-BE49-F238E27FC236}">
                <a16:creationId xmlns:a16="http://schemas.microsoft.com/office/drawing/2014/main" id="{09B23B8C-623B-8AB3-180A-0B6F1787A0B5}"/>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Two-Stage Supervised Fine-Tuning</a:t>
            </a:r>
          </a:p>
        </p:txBody>
      </p:sp>
      <p:sp>
        <p:nvSpPr>
          <p:cNvPr id="4" name="Shape 2">
            <a:extLst>
              <a:ext uri="{FF2B5EF4-FFF2-40B4-BE49-F238E27FC236}">
                <a16:creationId xmlns:a16="http://schemas.microsoft.com/office/drawing/2014/main" id="{EA866D62-0DD3-00FF-4B3B-52902D3DFBA1}"/>
              </a:ext>
            </a:extLst>
          </p:cNvPr>
          <p:cNvSpPr/>
          <p:nvPr/>
        </p:nvSpPr>
        <p:spPr>
          <a:xfrm>
            <a:off x="868680" y="1365736"/>
            <a:ext cx="4892040" cy="2532887"/>
          </a:xfrm>
          <a:prstGeom prst="roundRect">
            <a:avLst>
              <a:gd name="adj" fmla="val 1778"/>
            </a:avLst>
          </a:prstGeom>
          <a:solidFill>
            <a:srgbClr val="FFFFFF"/>
          </a:solidFill>
          <a:ln w="10160">
            <a:solidFill>
              <a:srgbClr val="D1D5DB"/>
            </a:solidFill>
            <a:prstDash val="solid"/>
          </a:ln>
        </p:spPr>
        <p:txBody>
          <a:bodyPr/>
          <a:lstStyle/>
          <a:p>
            <a:endParaRPr lang="en-US"/>
          </a:p>
        </p:txBody>
      </p:sp>
      <p:sp>
        <p:nvSpPr>
          <p:cNvPr id="5" name="Shape 3">
            <a:extLst>
              <a:ext uri="{FF2B5EF4-FFF2-40B4-BE49-F238E27FC236}">
                <a16:creationId xmlns:a16="http://schemas.microsoft.com/office/drawing/2014/main" id="{CF12A5E4-FE9B-D19C-67D9-A5D3424BC49B}"/>
              </a:ext>
            </a:extLst>
          </p:cNvPr>
          <p:cNvSpPr/>
          <p:nvPr/>
        </p:nvSpPr>
        <p:spPr>
          <a:xfrm>
            <a:off x="868680" y="1365737"/>
            <a:ext cx="45719" cy="2532886"/>
          </a:xfrm>
          <a:prstGeom prst="rect">
            <a:avLst/>
          </a:prstGeom>
          <a:solidFill>
            <a:srgbClr val="1D4ED8"/>
          </a:solidFill>
          <a:ln w="12700">
            <a:solidFill>
              <a:srgbClr val="1D4ED8">
                <a:alpha val="0"/>
              </a:srgbClr>
            </a:solidFill>
            <a:prstDash val="solid"/>
          </a:ln>
        </p:spPr>
        <p:txBody>
          <a:bodyPr/>
          <a:lstStyle/>
          <a:p>
            <a:endParaRPr lang="en-US"/>
          </a:p>
        </p:txBody>
      </p:sp>
      <p:sp>
        <p:nvSpPr>
          <p:cNvPr id="6" name="Text 4">
            <a:extLst>
              <a:ext uri="{FF2B5EF4-FFF2-40B4-BE49-F238E27FC236}">
                <a16:creationId xmlns:a16="http://schemas.microsoft.com/office/drawing/2014/main" id="{97FBFAE4-7D02-841B-A30B-400D56274CB3}"/>
              </a:ext>
            </a:extLst>
          </p:cNvPr>
          <p:cNvSpPr/>
          <p:nvPr/>
        </p:nvSpPr>
        <p:spPr>
          <a:xfrm>
            <a:off x="1069848" y="1512041"/>
            <a:ext cx="4572000" cy="228600"/>
          </a:xfrm>
          <a:prstGeom prst="rect">
            <a:avLst/>
          </a:prstGeom>
          <a:noFill/>
          <a:ln/>
        </p:spPr>
        <p:txBody>
          <a:bodyPr wrap="square" lIns="0" tIns="0" rIns="0" bIns="0" rtlCol="0" anchor="ctr"/>
          <a:lstStyle/>
          <a:p>
            <a:pPr marL="0" indent="0">
              <a:buNone/>
            </a:pPr>
            <a:r>
              <a:rPr lang="en-US" sz="2800" b="1" dirty="0">
                <a:solidFill>
                  <a:srgbClr val="111827"/>
                </a:solidFill>
              </a:rPr>
              <a:t>Stage 1: head warm-up</a:t>
            </a:r>
            <a:endParaRPr lang="en-US" sz="2800" dirty="0"/>
          </a:p>
        </p:txBody>
      </p:sp>
      <p:sp>
        <p:nvSpPr>
          <p:cNvPr id="7" name="Text 5">
            <a:extLst>
              <a:ext uri="{FF2B5EF4-FFF2-40B4-BE49-F238E27FC236}">
                <a16:creationId xmlns:a16="http://schemas.microsoft.com/office/drawing/2014/main" id="{1B33B425-0190-7420-9324-2DCBC30363CC}"/>
              </a:ext>
            </a:extLst>
          </p:cNvPr>
          <p:cNvSpPr/>
          <p:nvPr/>
        </p:nvSpPr>
        <p:spPr>
          <a:xfrm>
            <a:off x="1060704" y="2028677"/>
            <a:ext cx="4581144" cy="1490472"/>
          </a:xfrm>
          <a:prstGeom prst="rect">
            <a:avLst/>
          </a:prstGeom>
          <a:noFill/>
          <a:ln/>
        </p:spPr>
        <p:txBody>
          <a:bodyPr wrap="square" lIns="254" tIns="254" rIns="254" bIns="254" rtlCol="0" anchor="t">
            <a:noAutofit/>
          </a:bodyPr>
          <a:lstStyle/>
          <a:p>
            <a:pPr marL="0" indent="0" algn="l">
              <a:buNone/>
            </a:pPr>
            <a:r>
              <a:rPr lang="en-US" sz="2300" dirty="0">
                <a:solidFill>
                  <a:srgbClr val="374151"/>
                </a:solidFill>
              </a:rPr>
              <a:t>Freeze the ChemBERTa encoder and train only the regression head. This first learns the supervised energy scale from fixed pretrained molecular features.</a:t>
            </a:r>
            <a:endParaRPr lang="en-US" sz="2300" dirty="0"/>
          </a:p>
        </p:txBody>
      </p:sp>
      <p:sp>
        <p:nvSpPr>
          <p:cNvPr id="8" name="Shape 6">
            <a:extLst>
              <a:ext uri="{FF2B5EF4-FFF2-40B4-BE49-F238E27FC236}">
                <a16:creationId xmlns:a16="http://schemas.microsoft.com/office/drawing/2014/main" id="{548D0767-F9E9-B943-854C-73C8D8A6CD44}"/>
              </a:ext>
            </a:extLst>
          </p:cNvPr>
          <p:cNvSpPr/>
          <p:nvPr/>
        </p:nvSpPr>
        <p:spPr>
          <a:xfrm>
            <a:off x="6446520" y="1365736"/>
            <a:ext cx="4892040" cy="2532885"/>
          </a:xfrm>
          <a:prstGeom prst="roundRect">
            <a:avLst>
              <a:gd name="adj" fmla="val 1778"/>
            </a:avLst>
          </a:prstGeom>
          <a:solidFill>
            <a:srgbClr val="FFFFFF"/>
          </a:solidFill>
          <a:ln w="10160">
            <a:solidFill>
              <a:srgbClr val="D1D5DB"/>
            </a:solidFill>
            <a:prstDash val="solid"/>
          </a:ln>
        </p:spPr>
        <p:txBody>
          <a:bodyPr/>
          <a:lstStyle/>
          <a:p>
            <a:endParaRPr lang="en-US"/>
          </a:p>
        </p:txBody>
      </p:sp>
      <p:sp>
        <p:nvSpPr>
          <p:cNvPr id="9" name="Shape 7">
            <a:extLst>
              <a:ext uri="{FF2B5EF4-FFF2-40B4-BE49-F238E27FC236}">
                <a16:creationId xmlns:a16="http://schemas.microsoft.com/office/drawing/2014/main" id="{E87498AF-CBC2-9398-3ED4-2ABE92E55A8D}"/>
              </a:ext>
            </a:extLst>
          </p:cNvPr>
          <p:cNvSpPr/>
          <p:nvPr/>
        </p:nvSpPr>
        <p:spPr>
          <a:xfrm>
            <a:off x="6446520" y="1365736"/>
            <a:ext cx="45719" cy="2532881"/>
          </a:xfrm>
          <a:prstGeom prst="rect">
            <a:avLst/>
          </a:prstGeom>
          <a:solidFill>
            <a:srgbClr val="047857"/>
          </a:solidFill>
          <a:ln w="12700">
            <a:solidFill>
              <a:srgbClr val="047857">
                <a:alpha val="0"/>
              </a:srgbClr>
            </a:solidFill>
            <a:prstDash val="solid"/>
          </a:ln>
        </p:spPr>
        <p:txBody>
          <a:bodyPr/>
          <a:lstStyle/>
          <a:p>
            <a:endParaRPr lang="en-US"/>
          </a:p>
        </p:txBody>
      </p:sp>
      <p:sp>
        <p:nvSpPr>
          <p:cNvPr id="10" name="Text 8">
            <a:extLst>
              <a:ext uri="{FF2B5EF4-FFF2-40B4-BE49-F238E27FC236}">
                <a16:creationId xmlns:a16="http://schemas.microsoft.com/office/drawing/2014/main" id="{5CC72A65-D663-E056-AA35-E032F036C7B9}"/>
              </a:ext>
            </a:extLst>
          </p:cNvPr>
          <p:cNvSpPr/>
          <p:nvPr/>
        </p:nvSpPr>
        <p:spPr>
          <a:xfrm>
            <a:off x="6647688" y="1512041"/>
            <a:ext cx="4572000" cy="228600"/>
          </a:xfrm>
          <a:prstGeom prst="rect">
            <a:avLst/>
          </a:prstGeom>
          <a:noFill/>
          <a:ln/>
        </p:spPr>
        <p:txBody>
          <a:bodyPr wrap="square" lIns="0" tIns="0" rIns="0" bIns="0" rtlCol="0" anchor="ctr"/>
          <a:lstStyle/>
          <a:p>
            <a:pPr marL="0" indent="0">
              <a:buNone/>
            </a:pPr>
            <a:r>
              <a:rPr lang="en-US" sz="2800" b="1" dirty="0">
                <a:solidFill>
                  <a:srgbClr val="111827"/>
                </a:solidFill>
              </a:rPr>
              <a:t>Stage 2: task adaptation</a:t>
            </a:r>
            <a:endParaRPr lang="en-US" sz="2800" dirty="0"/>
          </a:p>
        </p:txBody>
      </p:sp>
      <p:sp>
        <p:nvSpPr>
          <p:cNvPr id="11" name="Text 9">
            <a:extLst>
              <a:ext uri="{FF2B5EF4-FFF2-40B4-BE49-F238E27FC236}">
                <a16:creationId xmlns:a16="http://schemas.microsoft.com/office/drawing/2014/main" id="{EBE39916-1FA4-7BB3-5B7C-6E55E82EE8BE}"/>
              </a:ext>
            </a:extLst>
          </p:cNvPr>
          <p:cNvSpPr/>
          <p:nvPr/>
        </p:nvSpPr>
        <p:spPr>
          <a:xfrm>
            <a:off x="6647688" y="2011005"/>
            <a:ext cx="4581144" cy="1490472"/>
          </a:xfrm>
          <a:prstGeom prst="rect">
            <a:avLst/>
          </a:prstGeom>
          <a:noFill/>
          <a:ln/>
        </p:spPr>
        <p:txBody>
          <a:bodyPr wrap="square" lIns="254" tIns="254" rIns="254" bIns="254" rtlCol="0" anchor="t">
            <a:noAutofit/>
          </a:bodyPr>
          <a:lstStyle/>
          <a:p>
            <a:pPr marL="0" indent="0" algn="l">
              <a:buNone/>
            </a:pPr>
            <a:r>
              <a:rPr lang="en-US" sz="2300" dirty="0">
                <a:solidFill>
                  <a:srgbClr val="374151"/>
                </a:solidFill>
              </a:rPr>
              <a:t>Unfreeze the encoder and fine-tune with a smaller backbone learning rate. This adapts molecular representations to binding-energy regression.</a:t>
            </a:r>
            <a:endParaRPr lang="en-US" sz="2300" dirty="0"/>
          </a:p>
        </p:txBody>
      </p:sp>
      <p:sp>
        <p:nvSpPr>
          <p:cNvPr id="12" name="Shape 10">
            <a:extLst>
              <a:ext uri="{FF2B5EF4-FFF2-40B4-BE49-F238E27FC236}">
                <a16:creationId xmlns:a16="http://schemas.microsoft.com/office/drawing/2014/main" id="{012FC7F7-6DCA-E6A6-539C-A2367AD544BD}"/>
              </a:ext>
            </a:extLst>
          </p:cNvPr>
          <p:cNvSpPr/>
          <p:nvPr/>
        </p:nvSpPr>
        <p:spPr>
          <a:xfrm>
            <a:off x="5853684" y="2723269"/>
            <a:ext cx="484632" cy="0"/>
          </a:xfrm>
          <a:prstGeom prst="line">
            <a:avLst/>
          </a:prstGeom>
          <a:noFill/>
          <a:ln w="38100">
            <a:solidFill>
              <a:srgbClr val="6B7280"/>
            </a:solidFill>
            <a:prstDash val="solid"/>
            <a:tailEnd type="triangle"/>
          </a:ln>
        </p:spPr>
        <p:txBody>
          <a:bodyPr/>
          <a:lstStyle/>
          <a:p>
            <a:endParaRPr lang="en-US"/>
          </a:p>
        </p:txBody>
      </p:sp>
      <p:sp>
        <p:nvSpPr>
          <p:cNvPr id="13" name="Shape 11">
            <a:extLst>
              <a:ext uri="{FF2B5EF4-FFF2-40B4-BE49-F238E27FC236}">
                <a16:creationId xmlns:a16="http://schemas.microsoft.com/office/drawing/2014/main" id="{5A5F5DA6-3F29-7F43-7EED-A112B441536A}"/>
              </a:ext>
            </a:extLst>
          </p:cNvPr>
          <p:cNvSpPr/>
          <p:nvPr/>
        </p:nvSpPr>
        <p:spPr>
          <a:xfrm>
            <a:off x="868680" y="4577863"/>
            <a:ext cx="10469880" cy="1416944"/>
          </a:xfrm>
          <a:prstGeom prst="roundRect">
            <a:avLst>
              <a:gd name="adj" fmla="val 4000"/>
            </a:avLst>
          </a:prstGeom>
          <a:solidFill>
            <a:srgbClr val="FFFFFF"/>
          </a:solidFill>
          <a:ln w="10160">
            <a:solidFill>
              <a:srgbClr val="D1D5DB"/>
            </a:solidFill>
            <a:prstDash val="solid"/>
          </a:ln>
        </p:spPr>
        <p:txBody>
          <a:bodyPr/>
          <a:lstStyle/>
          <a:p>
            <a:endParaRPr lang="en-US"/>
          </a:p>
        </p:txBody>
      </p:sp>
      <p:sp>
        <p:nvSpPr>
          <p:cNvPr id="14" name="Shape 12">
            <a:extLst>
              <a:ext uri="{FF2B5EF4-FFF2-40B4-BE49-F238E27FC236}">
                <a16:creationId xmlns:a16="http://schemas.microsoft.com/office/drawing/2014/main" id="{41E4E4A1-F926-F9F3-B542-B55976403E7F}"/>
              </a:ext>
            </a:extLst>
          </p:cNvPr>
          <p:cNvSpPr/>
          <p:nvPr/>
        </p:nvSpPr>
        <p:spPr>
          <a:xfrm>
            <a:off x="868680" y="4577862"/>
            <a:ext cx="45719" cy="1416943"/>
          </a:xfrm>
          <a:prstGeom prst="rect">
            <a:avLst/>
          </a:prstGeom>
          <a:solidFill>
            <a:srgbClr val="6D28D9"/>
          </a:solidFill>
          <a:ln w="12700">
            <a:solidFill>
              <a:srgbClr val="6D28D9">
                <a:alpha val="0"/>
              </a:srgbClr>
            </a:solidFill>
            <a:prstDash val="solid"/>
          </a:ln>
        </p:spPr>
        <p:txBody>
          <a:bodyPr/>
          <a:lstStyle/>
          <a:p>
            <a:endParaRPr lang="en-US"/>
          </a:p>
        </p:txBody>
      </p:sp>
      <p:sp>
        <p:nvSpPr>
          <p:cNvPr id="15" name="Text 13">
            <a:extLst>
              <a:ext uri="{FF2B5EF4-FFF2-40B4-BE49-F238E27FC236}">
                <a16:creationId xmlns:a16="http://schemas.microsoft.com/office/drawing/2014/main" id="{34B6E9CF-E187-941C-447C-AD735BCD7861}"/>
              </a:ext>
            </a:extLst>
          </p:cNvPr>
          <p:cNvSpPr/>
          <p:nvPr/>
        </p:nvSpPr>
        <p:spPr>
          <a:xfrm>
            <a:off x="1069848" y="4724167"/>
            <a:ext cx="9326880" cy="228600"/>
          </a:xfrm>
          <a:prstGeom prst="rect">
            <a:avLst/>
          </a:prstGeom>
          <a:noFill/>
          <a:ln/>
        </p:spPr>
        <p:txBody>
          <a:bodyPr wrap="square" lIns="0" tIns="0" rIns="0" bIns="0" rtlCol="0" anchor="ctr"/>
          <a:lstStyle/>
          <a:p>
            <a:pPr marL="0" indent="0">
              <a:buNone/>
            </a:pPr>
            <a:r>
              <a:rPr lang="en-US" sz="2800" b="1" dirty="0">
                <a:solidFill>
                  <a:srgbClr val="111827"/>
                </a:solidFill>
              </a:rPr>
              <a:t>Rationale</a:t>
            </a:r>
            <a:endParaRPr lang="en-US" sz="2800" dirty="0"/>
          </a:p>
        </p:txBody>
      </p:sp>
      <p:sp>
        <p:nvSpPr>
          <p:cNvPr id="16" name="Text 14">
            <a:extLst>
              <a:ext uri="{FF2B5EF4-FFF2-40B4-BE49-F238E27FC236}">
                <a16:creationId xmlns:a16="http://schemas.microsoft.com/office/drawing/2014/main" id="{C81A20F3-69A2-0A8E-0A79-AF96B8770F90}"/>
              </a:ext>
            </a:extLst>
          </p:cNvPr>
          <p:cNvSpPr/>
          <p:nvPr/>
        </p:nvSpPr>
        <p:spPr>
          <a:xfrm>
            <a:off x="1069848" y="5100243"/>
            <a:ext cx="10094976" cy="941456"/>
          </a:xfrm>
          <a:prstGeom prst="rect">
            <a:avLst/>
          </a:prstGeom>
          <a:noFill/>
          <a:ln/>
        </p:spPr>
        <p:txBody>
          <a:bodyPr wrap="square" lIns="254" tIns="254" rIns="254" bIns="254" rtlCol="0" anchor="t">
            <a:noAutofit/>
          </a:bodyPr>
          <a:lstStyle/>
          <a:p>
            <a:pPr marL="0" indent="0" algn="l">
              <a:buNone/>
            </a:pPr>
            <a:r>
              <a:rPr lang="en-US" sz="2300" dirty="0">
                <a:solidFill>
                  <a:srgbClr val="374151"/>
                </a:solidFill>
              </a:rPr>
              <a:t>For small data, direct full fine-tuning may be unstable. The two-stage strategy separates learning the output scale from adapting the pretrained representation.</a:t>
            </a:r>
            <a:endParaRPr lang="en-US" sz="2300" dirty="0"/>
          </a:p>
        </p:txBody>
      </p:sp>
    </p:spTree>
    <p:extLst>
      <p:ext uri="{BB962C8B-B14F-4D97-AF65-F5344CB8AC3E}">
        <p14:creationId xmlns:p14="http://schemas.microsoft.com/office/powerpoint/2010/main" val="215588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6E682-FE9B-06BA-6CB9-59405A2C743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4680E6D-382B-2600-5ED8-B157D26EC363}"/>
              </a:ext>
            </a:extLst>
          </p:cNvPr>
          <p:cNvSpPr>
            <a:spLocks noGrp="1"/>
          </p:cNvSpPr>
          <p:nvPr>
            <p:ph type="sldNum" sz="quarter" idx="12"/>
          </p:nvPr>
        </p:nvSpPr>
        <p:spPr>
          <a:xfrm>
            <a:off x="9355756" y="6374279"/>
            <a:ext cx="2743200" cy="365125"/>
          </a:xfrm>
        </p:spPr>
        <p:txBody>
          <a:bodyPr/>
          <a:lstStyle/>
          <a:p>
            <a:fld id="{5A846D4C-743D-4A62-AF1E-2CABDD37274B}" type="slidenum">
              <a:rPr lang="en-US" smtClean="0"/>
              <a:t>14</a:t>
            </a:fld>
            <a:endParaRPr lang="en-US"/>
          </a:p>
        </p:txBody>
      </p:sp>
      <p:sp>
        <p:nvSpPr>
          <p:cNvPr id="3" name="文本框 2">
            <a:extLst>
              <a:ext uri="{FF2B5EF4-FFF2-40B4-BE49-F238E27FC236}">
                <a16:creationId xmlns:a16="http://schemas.microsoft.com/office/drawing/2014/main" id="{F0B16873-E230-371D-3C45-140054607038}"/>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sz="3200" b="1" kern="1200" dirty="0">
                <a:solidFill>
                  <a:schemeClr val="tx1"/>
                </a:solidFill>
                <a:latin typeface="Segoe UI Black" panose="020B0A02040204020203" pitchFamily="34" charset="0"/>
                <a:ea typeface="Segoe UI Black" panose="020B0A02040204020203" pitchFamily="34" charset="0"/>
                <a:cs typeface="+mj-cs"/>
              </a:rPr>
              <a:t>Controlled Experimental Design</a:t>
            </a:r>
          </a:p>
        </p:txBody>
      </p:sp>
      <p:graphicFrame>
        <p:nvGraphicFramePr>
          <p:cNvPr id="8" name="表格 7">
            <a:extLst>
              <a:ext uri="{FF2B5EF4-FFF2-40B4-BE49-F238E27FC236}">
                <a16:creationId xmlns:a16="http://schemas.microsoft.com/office/drawing/2014/main" id="{22F9F4A1-CD89-4A44-9040-293E6687BE82}"/>
              </a:ext>
            </a:extLst>
          </p:cNvPr>
          <p:cNvGraphicFramePr>
            <a:graphicFrameLocks noGrp="1"/>
          </p:cNvGraphicFramePr>
          <p:nvPr>
            <p:extLst>
              <p:ext uri="{D42A27DB-BD31-4B8C-83A1-F6EECF244321}">
                <p14:modId xmlns:p14="http://schemas.microsoft.com/office/powerpoint/2010/main" val="2677651700"/>
              </p:ext>
            </p:extLst>
          </p:nvPr>
        </p:nvGraphicFramePr>
        <p:xfrm>
          <a:off x="759527" y="1556542"/>
          <a:ext cx="10437876" cy="29311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17086">
                  <a:extLst>
                    <a:ext uri="{9D8B030D-6E8A-4147-A177-3AD203B41FA5}">
                      <a16:colId xmlns:a16="http://schemas.microsoft.com/office/drawing/2014/main" val="1711821598"/>
                    </a:ext>
                  </a:extLst>
                </a:gridCol>
                <a:gridCol w="4360395">
                  <a:extLst>
                    <a:ext uri="{9D8B030D-6E8A-4147-A177-3AD203B41FA5}">
                      <a16:colId xmlns:a16="http://schemas.microsoft.com/office/drawing/2014/main" val="1021077212"/>
                    </a:ext>
                  </a:extLst>
                </a:gridCol>
                <a:gridCol w="4360395">
                  <a:extLst>
                    <a:ext uri="{9D8B030D-6E8A-4147-A177-3AD203B41FA5}">
                      <a16:colId xmlns:a16="http://schemas.microsoft.com/office/drawing/2014/main" val="4240353699"/>
                    </a:ext>
                  </a:extLst>
                </a:gridCol>
              </a:tblGrid>
              <a:tr h="370840">
                <a:tc>
                  <a:txBody>
                    <a:bodyPr/>
                    <a:lstStyle/>
                    <a:p>
                      <a:pPr algn="ctr"/>
                      <a:r>
                        <a:rPr lang="en-US" altLang="zh-CN" dirty="0"/>
                        <a:t>Method</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Design choice isolated</a:t>
                      </a:r>
                      <a:endParaRPr lang="en-US" altLang="zh-CN" sz="1800" dirty="0"/>
                    </a:p>
                  </a:txBody>
                  <a:tcPr>
                    <a:solidFill>
                      <a:srgbClr val="003870"/>
                    </a:solidFill>
                  </a:tcPr>
                </a:tc>
                <a:tc>
                  <a:txBody>
                    <a:bodyPr/>
                    <a:lstStyle/>
                    <a:p>
                      <a:pPr algn="ctr"/>
                      <a:r>
                        <a:rPr lang="en-US" altLang="zh-CN" dirty="0"/>
                        <a:t>Question answered</a:t>
                      </a:r>
                    </a:p>
                  </a:txBody>
                  <a:tcPr>
                    <a:solidFill>
                      <a:srgbClr val="003870"/>
                    </a:solidFill>
                  </a:tcPr>
                </a:tc>
                <a:extLst>
                  <a:ext uri="{0D108BD9-81ED-4DB2-BD59-A6C34878D82A}">
                    <a16:rowId xmlns:a16="http://schemas.microsoft.com/office/drawing/2014/main" val="234137060"/>
                  </a:ext>
                </a:extLst>
              </a:tr>
              <a:tr h="370840">
                <a:tc>
                  <a:txBody>
                    <a:bodyPr/>
                    <a:lstStyle/>
                    <a:p>
                      <a:pPr algn="ctr">
                        <a:buNone/>
                      </a:pPr>
                      <a:r>
                        <a:rPr lang="en-US" dirty="0"/>
                        <a:t>No Aug + Two-stage</a:t>
                      </a:r>
                    </a:p>
                  </a:txBody>
                  <a:tcPr anchor="ctr"/>
                </a:tc>
                <a:tc>
                  <a:txBody>
                    <a:bodyPr/>
                    <a:lstStyle/>
                    <a:p>
                      <a:pPr algn="ctr">
                        <a:buNone/>
                      </a:pPr>
                      <a:r>
                        <a:rPr lang="en-US" sz="1800" kern="1200" dirty="0">
                          <a:solidFill>
                            <a:schemeClr val="dk1"/>
                          </a:solidFill>
                          <a:latin typeface="+mn-lt"/>
                          <a:ea typeface="+mn-ea"/>
                          <a:cs typeface="+mn-cs"/>
                        </a:rPr>
                        <a:t>No randomized SMILES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Does augmentation help?</a:t>
                      </a:r>
                    </a:p>
                  </a:txBody>
                  <a:tcPr anchor="ctr"/>
                </a:tc>
                <a:extLst>
                  <a:ext uri="{0D108BD9-81ED-4DB2-BD59-A6C34878D82A}">
                    <a16:rowId xmlns:a16="http://schemas.microsoft.com/office/drawing/2014/main" val="39810645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Aug + Two-stage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Final proposed 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Best combined strategy?</a:t>
                      </a:r>
                    </a:p>
                  </a:txBody>
                  <a:tcPr anchor="ctr"/>
                </a:tc>
                <a:extLst>
                  <a:ext uri="{0D108BD9-81ED-4DB2-BD59-A6C34878D82A}">
                    <a16:rowId xmlns:a16="http://schemas.microsoft.com/office/drawing/2014/main" val="957574858"/>
                  </a:ext>
                </a:extLst>
              </a:tr>
              <a:tr h="370840">
                <a:tc>
                  <a:txBody>
                    <a:bodyPr/>
                    <a:lstStyle/>
                    <a:p>
                      <a:pPr algn="ctr">
                        <a:buNone/>
                      </a:pPr>
                      <a:r>
                        <a:rPr lang="en-US" dirty="0"/>
                        <a:t>Aug + Stage1-only</a:t>
                      </a:r>
                    </a:p>
                  </a:txBody>
                  <a:tcPr anchor="ctr"/>
                </a:tc>
                <a:tc>
                  <a:txBody>
                    <a:bodyPr/>
                    <a:lstStyle/>
                    <a:p>
                      <a:pPr algn="ctr">
                        <a:buNone/>
                      </a:pPr>
                      <a:r>
                        <a:rPr lang="en-US" b="0" dirty="0"/>
                        <a:t>Frozen encoder only</a:t>
                      </a:r>
                    </a:p>
                  </a:txBody>
                  <a:tcPr anchor="ctr"/>
                </a:tc>
                <a:tc>
                  <a:txBody>
                    <a:bodyPr/>
                    <a:lstStyle/>
                    <a:p>
                      <a:pPr algn="ctr">
                        <a:buNone/>
                      </a:pPr>
                      <a:r>
                        <a:rPr lang="en-US" b="0" dirty="0"/>
                        <a:t>Is the pretrained representation sufficient without adaptation?</a:t>
                      </a:r>
                    </a:p>
                  </a:txBody>
                  <a:tcPr anchor="ctr"/>
                </a:tc>
                <a:extLst>
                  <a:ext uri="{0D108BD9-81ED-4DB2-BD59-A6C34878D82A}">
                    <a16:rowId xmlns:a16="http://schemas.microsoft.com/office/drawing/2014/main" val="31442299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Aug + Stage2-only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Direct fine-tuning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Is Stage-1 warm-up useful?</a:t>
                      </a:r>
                    </a:p>
                  </a:txBody>
                  <a:tcPr anchor="ctr"/>
                </a:tc>
                <a:extLst>
                  <a:ext uri="{0D108BD9-81ED-4DB2-BD59-A6C34878D82A}">
                    <a16:rowId xmlns:a16="http://schemas.microsoft.com/office/drawing/2014/main" val="3016740950"/>
                  </a:ext>
                </a:extLst>
              </a:tr>
            </a:tbl>
          </a:graphicData>
        </a:graphic>
      </p:graphicFrame>
    </p:spTree>
    <p:extLst>
      <p:ext uri="{BB962C8B-B14F-4D97-AF65-F5344CB8AC3E}">
        <p14:creationId xmlns:p14="http://schemas.microsoft.com/office/powerpoint/2010/main" val="65026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A626-F011-7111-90AB-736D91FC9F5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6EBBCFE-73C4-CDC7-A0BD-6B431A6E8C0B}"/>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1EEFD76B-FF6C-119C-2F63-355DDC91427C}"/>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439E9F68-2225-76D9-4CAF-924A7268FC59}"/>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chemeClr val="accent1"/>
                </a:solidFill>
              </a:rPr>
              <a:t>Results and mechanistic analysis</a:t>
            </a:r>
            <a:endPar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Special cases, attention, limitations</a:t>
            </a:r>
            <a:endParaRPr lang="en-US" altLang="zh-CN" sz="2800" dirty="0"/>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205283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C298653-65A2-ABDA-D59E-8041C40F09F7}"/>
              </a:ext>
            </a:extLst>
          </p:cNvPr>
          <p:cNvSpPr>
            <a:spLocks noGrp="1"/>
          </p:cNvSpPr>
          <p:nvPr>
            <p:ph type="sldNum" sz="quarter" idx="12"/>
          </p:nvPr>
        </p:nvSpPr>
        <p:spPr/>
        <p:txBody>
          <a:bodyPr/>
          <a:lstStyle/>
          <a:p>
            <a:fld id="{5A846D4C-743D-4A62-AF1E-2CABDD37274B}" type="slidenum">
              <a:rPr lang="en-US" smtClean="0"/>
              <a:t>16</a:t>
            </a:fld>
            <a:endParaRPr lang="en-US"/>
          </a:p>
        </p:txBody>
      </p:sp>
      <p:sp>
        <p:nvSpPr>
          <p:cNvPr id="3" name="文本框 2">
            <a:extLst>
              <a:ext uri="{FF2B5EF4-FFF2-40B4-BE49-F238E27FC236}">
                <a16:creationId xmlns:a16="http://schemas.microsoft.com/office/drawing/2014/main" id="{5F5835C6-8C2E-DE48-4F78-C1B30B54CFC7}"/>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Four Main Experiment Results</a:t>
            </a:r>
          </a:p>
        </p:txBody>
      </p:sp>
      <p:grpSp>
        <p:nvGrpSpPr>
          <p:cNvPr id="27" name="组合 26">
            <a:extLst>
              <a:ext uri="{FF2B5EF4-FFF2-40B4-BE49-F238E27FC236}">
                <a16:creationId xmlns:a16="http://schemas.microsoft.com/office/drawing/2014/main" id="{FDE89569-1009-EF58-4BCA-DCB8B9733C01}"/>
              </a:ext>
            </a:extLst>
          </p:cNvPr>
          <p:cNvGrpSpPr/>
          <p:nvPr/>
        </p:nvGrpSpPr>
        <p:grpSpPr>
          <a:xfrm>
            <a:off x="881260" y="4836208"/>
            <a:ext cx="10429479" cy="1663519"/>
            <a:chOff x="1280160" y="5108446"/>
            <a:chExt cx="9692640" cy="1613028"/>
          </a:xfrm>
        </p:grpSpPr>
        <p:sp>
          <p:nvSpPr>
            <p:cNvPr id="23" name="Shape 4">
              <a:extLst>
                <a:ext uri="{FF2B5EF4-FFF2-40B4-BE49-F238E27FC236}">
                  <a16:creationId xmlns:a16="http://schemas.microsoft.com/office/drawing/2014/main" id="{100BD50B-6356-E655-849D-0465B179EE8E}"/>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0F366AD7-859B-952E-95F1-850AB71AFF08}"/>
                </a:ext>
              </a:extLst>
            </p:cNvPr>
            <p:cNvSpPr/>
            <p:nvPr/>
          </p:nvSpPr>
          <p:spPr>
            <a:xfrm>
              <a:off x="1280160" y="5108446"/>
              <a:ext cx="48768" cy="1585596"/>
            </a:xfrm>
            <a:prstGeom prst="rect">
              <a:avLst/>
            </a:prstGeom>
            <a:solidFill>
              <a:srgbClr val="047857"/>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54009F2C-4560-3AD8-1FFC-BEAD3E07F3AE}"/>
                </a:ext>
              </a:extLst>
            </p:cNvPr>
            <p:cNvSpPr/>
            <p:nvPr/>
          </p:nvSpPr>
          <p:spPr>
            <a:xfrm>
              <a:off x="1539240" y="5221224"/>
              <a:ext cx="9372600" cy="438912"/>
            </a:xfrm>
            <a:prstGeom prst="rect">
              <a:avLst/>
            </a:prstGeom>
            <a:noFill/>
            <a:ln/>
          </p:spPr>
          <p:txBody>
            <a:bodyPr wrap="square" lIns="0" tIns="0" rIns="0" bIns="0" rtlCol="0" anchor="ctr"/>
            <a:lstStyle/>
            <a:p>
              <a:pPr marL="0" indent="0">
                <a:buNone/>
              </a:pPr>
              <a:r>
                <a:rPr lang="en-US" sz="2000" b="1" dirty="0">
                  <a:solidFill>
                    <a:srgbClr val="111827"/>
                  </a:solidFill>
                </a:rPr>
                <a:t>Main result</a:t>
              </a:r>
              <a:endParaRPr lang="en-US" sz="2000" dirty="0"/>
            </a:p>
          </p:txBody>
        </p:sp>
        <p:sp>
          <p:nvSpPr>
            <p:cNvPr id="26" name="Text 7">
              <a:extLst>
                <a:ext uri="{FF2B5EF4-FFF2-40B4-BE49-F238E27FC236}">
                  <a16:creationId xmlns:a16="http://schemas.microsoft.com/office/drawing/2014/main" id="{230C807B-5161-5D42-B1DA-0A3F60D56760}"/>
                </a:ext>
              </a:extLst>
            </p:cNvPr>
            <p:cNvSpPr/>
            <p:nvPr/>
          </p:nvSpPr>
          <p:spPr>
            <a:xfrm>
              <a:off x="1530096" y="5745480"/>
              <a:ext cx="9381744" cy="780899"/>
            </a:xfrm>
            <a:prstGeom prst="rect">
              <a:avLst/>
            </a:prstGeom>
            <a:noFill/>
            <a:ln/>
          </p:spPr>
          <p:txBody>
            <a:bodyPr wrap="square" lIns="254" tIns="254" rIns="254" bIns="254" rtlCol="0" anchor="t">
              <a:noAutofit/>
            </a:bodyPr>
            <a:lstStyle/>
            <a:p>
              <a:pPr marL="0" indent="0" algn="l">
                <a:buNone/>
              </a:pPr>
              <a:r>
                <a:rPr lang="en-US" dirty="0">
                  <a:solidFill>
                    <a:srgbClr val="374151"/>
                  </a:solidFill>
                </a:rPr>
                <a:t>Aug + Two-stage achieves the lowest RMSE and MAE and the highest R² among the controlled CV experiments. The final method is not just the best average result. It improves both accuracy and robustness across folds</a:t>
              </a:r>
              <a:endParaRPr lang="en-US" dirty="0"/>
            </a:p>
          </p:txBody>
        </p:sp>
      </p:grpSp>
      <p:sp>
        <p:nvSpPr>
          <p:cNvPr id="5" name="文本框 4">
            <a:extLst>
              <a:ext uri="{FF2B5EF4-FFF2-40B4-BE49-F238E27FC236}">
                <a16:creationId xmlns:a16="http://schemas.microsoft.com/office/drawing/2014/main" id="{804972FC-A16A-E9B6-73F0-B022202BE2A9}"/>
              </a:ext>
            </a:extLst>
          </p:cNvPr>
          <p:cNvSpPr txBox="1"/>
          <p:nvPr/>
        </p:nvSpPr>
        <p:spPr>
          <a:xfrm>
            <a:off x="252529" y="1077040"/>
            <a:ext cx="8468683" cy="400110"/>
          </a:xfrm>
          <a:prstGeom prst="rect">
            <a:avLst/>
          </a:prstGeom>
          <a:noFill/>
        </p:spPr>
        <p:txBody>
          <a:bodyPr wrap="square">
            <a:spAutoFit/>
          </a:bodyPr>
          <a:lstStyle/>
          <a:p>
            <a:pPr>
              <a:defRPr sz="1150">
                <a:solidFill>
                  <a:srgbClr val="64748B"/>
                </a:solidFill>
              </a:defRPr>
            </a:pPr>
            <a:r>
              <a:rPr lang="en-US" altLang="zh-CN" sz="2000" dirty="0"/>
              <a:t>Four controlled methods evaluated over 15 runs each (3 seeds × 5 folds).</a:t>
            </a:r>
          </a:p>
        </p:txBody>
      </p:sp>
      <p:graphicFrame>
        <p:nvGraphicFramePr>
          <p:cNvPr id="6" name="Table 5">
            <a:extLst>
              <a:ext uri="{FF2B5EF4-FFF2-40B4-BE49-F238E27FC236}">
                <a16:creationId xmlns:a16="http://schemas.microsoft.com/office/drawing/2014/main" id="{C09C21C2-73E2-2AC4-637E-22EB86312918}"/>
              </a:ext>
            </a:extLst>
          </p:cNvPr>
          <p:cNvGraphicFramePr>
            <a:graphicFrameLocks noGrp="1"/>
          </p:cNvGraphicFramePr>
          <p:nvPr>
            <p:extLst>
              <p:ext uri="{D42A27DB-BD31-4B8C-83A1-F6EECF244321}">
                <p14:modId xmlns:p14="http://schemas.microsoft.com/office/powerpoint/2010/main" val="4056438784"/>
              </p:ext>
            </p:extLst>
          </p:nvPr>
        </p:nvGraphicFramePr>
        <p:xfrm>
          <a:off x="5773479" y="1633591"/>
          <a:ext cx="6325481" cy="2721814"/>
        </p:xfrm>
        <a:graphic>
          <a:graphicData uri="http://schemas.openxmlformats.org/drawingml/2006/table">
            <a:tbl>
              <a:tblPr firstRow="1" bandRow="1">
                <a:effectLst/>
                <a:tableStyleId>{5C22544A-7EE6-4342-B048-85BDC9FD1C3A}</a:tableStyleId>
              </a:tblPr>
              <a:tblGrid>
                <a:gridCol w="1788301">
                  <a:extLst>
                    <a:ext uri="{9D8B030D-6E8A-4147-A177-3AD203B41FA5}">
                      <a16:colId xmlns:a16="http://schemas.microsoft.com/office/drawing/2014/main" val="20000"/>
                    </a:ext>
                  </a:extLst>
                </a:gridCol>
                <a:gridCol w="1510301">
                  <a:extLst>
                    <a:ext uri="{9D8B030D-6E8A-4147-A177-3AD203B41FA5}">
                      <a16:colId xmlns:a16="http://schemas.microsoft.com/office/drawing/2014/main" val="20001"/>
                    </a:ext>
                  </a:extLst>
                </a:gridCol>
                <a:gridCol w="1520575">
                  <a:extLst>
                    <a:ext uri="{9D8B030D-6E8A-4147-A177-3AD203B41FA5}">
                      <a16:colId xmlns:a16="http://schemas.microsoft.com/office/drawing/2014/main" val="20002"/>
                    </a:ext>
                  </a:extLst>
                </a:gridCol>
                <a:gridCol w="1506304">
                  <a:extLst>
                    <a:ext uri="{9D8B030D-6E8A-4147-A177-3AD203B41FA5}">
                      <a16:colId xmlns:a16="http://schemas.microsoft.com/office/drawing/2014/main" val="20003"/>
                    </a:ext>
                  </a:extLst>
                </a:gridCol>
              </a:tblGrid>
              <a:tr h="412802">
                <a:tc>
                  <a:txBody>
                    <a:bodyPr/>
                    <a:lstStyle/>
                    <a:p>
                      <a:pPr algn="l">
                        <a:defRPr sz="1100" b="1">
                          <a:solidFill>
                            <a:srgbClr val="FFFFFF"/>
                          </a:solidFill>
                        </a:defRPr>
                      </a:pPr>
                      <a:r>
                        <a:rPr sz="1600" dirty="0"/>
                        <a:t>Method</a:t>
                      </a:r>
                    </a:p>
                  </a:txBody>
                  <a:tcPr marL="36576" marR="36576" marT="18288" marB="18288" anchor="ctr">
                    <a:solidFill>
                      <a:srgbClr val="043763"/>
                    </a:solidFill>
                  </a:tcPr>
                </a:tc>
                <a:tc>
                  <a:txBody>
                    <a:bodyPr/>
                    <a:lstStyle/>
                    <a:p>
                      <a:pPr algn="ctr">
                        <a:defRPr sz="1100" b="1">
                          <a:solidFill>
                            <a:srgbClr val="FFFFFF"/>
                          </a:solidFill>
                        </a:defRPr>
                      </a:pPr>
                      <a:r>
                        <a:rPr sz="1600" dirty="0"/>
                        <a:t>RMSE ↓</a:t>
                      </a:r>
                    </a:p>
                  </a:txBody>
                  <a:tcPr marL="36576" marR="36576" marT="18288" marB="18288" anchor="ctr">
                    <a:solidFill>
                      <a:srgbClr val="043763"/>
                    </a:solidFill>
                  </a:tcPr>
                </a:tc>
                <a:tc>
                  <a:txBody>
                    <a:bodyPr/>
                    <a:lstStyle/>
                    <a:p>
                      <a:pPr algn="ctr">
                        <a:defRPr sz="1100" b="1">
                          <a:solidFill>
                            <a:srgbClr val="FFFFFF"/>
                          </a:solidFill>
                        </a:defRPr>
                      </a:pPr>
                      <a:r>
                        <a:rPr sz="1600"/>
                        <a:t>MAE ↓</a:t>
                      </a:r>
                    </a:p>
                  </a:txBody>
                  <a:tcPr marL="36576" marR="36576" marT="18288" marB="18288" anchor="ctr">
                    <a:solidFill>
                      <a:srgbClr val="043763"/>
                    </a:solidFill>
                  </a:tcPr>
                </a:tc>
                <a:tc>
                  <a:txBody>
                    <a:bodyPr/>
                    <a:lstStyle/>
                    <a:p>
                      <a:pPr algn="ctr">
                        <a:defRPr sz="1100" b="1">
                          <a:solidFill>
                            <a:srgbClr val="FFFFFF"/>
                          </a:solidFill>
                        </a:defRPr>
                      </a:pPr>
                      <a:r>
                        <a:rPr sz="1600" dirty="0"/>
                        <a:t>R² ↑</a:t>
                      </a:r>
                    </a:p>
                  </a:txBody>
                  <a:tcPr marL="36576" marR="36576" marT="18288" marB="18288" anchor="ctr">
                    <a:solidFill>
                      <a:srgbClr val="043763"/>
                    </a:solidFill>
                  </a:tcPr>
                </a:tc>
                <a:extLst>
                  <a:ext uri="{0D108BD9-81ED-4DB2-BD59-A6C34878D82A}">
                    <a16:rowId xmlns:a16="http://schemas.microsoft.com/office/drawing/2014/main" val="10000"/>
                  </a:ext>
                </a:extLst>
              </a:tr>
              <a:tr h="577253">
                <a:tc>
                  <a:txBody>
                    <a:bodyPr/>
                    <a:lstStyle/>
                    <a:p>
                      <a:pPr algn="l">
                        <a:defRPr sz="1050" b="0">
                          <a:solidFill>
                            <a:srgbClr val="1E293B"/>
                          </a:solidFill>
                        </a:defRPr>
                      </a:pPr>
                      <a:r>
                        <a:rPr sz="1600" dirty="0"/>
                        <a:t>No Aug + Two-stage</a:t>
                      </a:r>
                    </a:p>
                  </a:txBody>
                  <a:tcPr marL="36576" marR="36576" marT="18288" marB="18288" anchor="ctr">
                    <a:solidFill>
                      <a:srgbClr val="FFFFFF"/>
                    </a:solidFill>
                  </a:tcPr>
                </a:tc>
                <a:tc>
                  <a:txBody>
                    <a:bodyPr/>
                    <a:lstStyle/>
                    <a:p>
                      <a:pPr algn="ctr">
                        <a:defRPr sz="1050" b="0">
                          <a:solidFill>
                            <a:srgbClr val="1E293B"/>
                          </a:solidFill>
                        </a:defRPr>
                      </a:pPr>
                      <a:r>
                        <a:rPr sz="1600" dirty="0"/>
                        <a:t>0.1507 ± 0.0169</a:t>
                      </a:r>
                    </a:p>
                  </a:txBody>
                  <a:tcPr marL="36576" marR="36576" marT="18288" marB="18288" anchor="ctr">
                    <a:solidFill>
                      <a:srgbClr val="FFFFFF"/>
                    </a:solidFill>
                  </a:tcPr>
                </a:tc>
                <a:tc>
                  <a:txBody>
                    <a:bodyPr/>
                    <a:lstStyle/>
                    <a:p>
                      <a:pPr algn="ctr">
                        <a:defRPr sz="1050" b="0">
                          <a:solidFill>
                            <a:srgbClr val="1E293B"/>
                          </a:solidFill>
                        </a:defRPr>
                      </a:pPr>
                      <a:r>
                        <a:rPr sz="1600"/>
                        <a:t>0.1182 ± 0.0137</a:t>
                      </a:r>
                    </a:p>
                  </a:txBody>
                  <a:tcPr marL="36576" marR="36576" marT="18288" marB="18288" anchor="ctr">
                    <a:solidFill>
                      <a:srgbClr val="FFFFFF"/>
                    </a:solidFill>
                  </a:tcPr>
                </a:tc>
                <a:tc>
                  <a:txBody>
                    <a:bodyPr/>
                    <a:lstStyle/>
                    <a:p>
                      <a:pPr algn="ctr">
                        <a:defRPr sz="1050" b="0">
                          <a:solidFill>
                            <a:srgbClr val="1E293B"/>
                          </a:solidFill>
                        </a:defRPr>
                      </a:pPr>
                      <a:r>
                        <a:rPr sz="1600" dirty="0"/>
                        <a:t>0.4020 ± 0.1972</a:t>
                      </a:r>
                    </a:p>
                  </a:txBody>
                  <a:tcPr marL="36576" marR="36576" marT="18288" marB="18288" anchor="ctr">
                    <a:solidFill>
                      <a:srgbClr val="FFFFFF"/>
                    </a:solidFill>
                  </a:tcPr>
                </a:tc>
                <a:extLst>
                  <a:ext uri="{0D108BD9-81ED-4DB2-BD59-A6C34878D82A}">
                    <a16:rowId xmlns:a16="http://schemas.microsoft.com/office/drawing/2014/main" val="10001"/>
                  </a:ext>
                </a:extLst>
              </a:tr>
              <a:tr h="577253">
                <a:tc>
                  <a:txBody>
                    <a:bodyPr/>
                    <a:lstStyle/>
                    <a:p>
                      <a:pPr algn="l">
                        <a:defRPr sz="1050" b="1">
                          <a:solidFill>
                            <a:srgbClr val="1E293B"/>
                          </a:solidFill>
                        </a:defRPr>
                      </a:pPr>
                      <a:r>
                        <a:rPr sz="1600" dirty="0">
                          <a:highlight>
                            <a:srgbClr val="FFFF00"/>
                          </a:highlight>
                        </a:rPr>
                        <a:t>Aug + Two-stage</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0.1312 ± 0.0160</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0.1042 ± 0.0132</a:t>
                      </a:r>
                    </a:p>
                  </a:txBody>
                  <a:tcPr marL="36576" marR="36576" marT="18288" marB="18288" anchor="ctr">
                    <a:solidFill>
                      <a:srgbClr val="EFF6FF"/>
                    </a:solidFill>
                  </a:tcPr>
                </a:tc>
                <a:tc>
                  <a:txBody>
                    <a:bodyPr/>
                    <a:lstStyle/>
                    <a:p>
                      <a:pPr algn="ctr">
                        <a:defRPr sz="1050" b="1">
                          <a:solidFill>
                            <a:srgbClr val="1E293B"/>
                          </a:solidFill>
                        </a:defRPr>
                      </a:pPr>
                      <a:r>
                        <a:rPr sz="1600" dirty="0">
                          <a:highlight>
                            <a:srgbClr val="FFFF00"/>
                          </a:highlight>
                        </a:rPr>
                        <a:t>0.5345 ± 0.1869</a:t>
                      </a:r>
                    </a:p>
                  </a:txBody>
                  <a:tcPr marL="36576" marR="36576" marT="18288" marB="18288" anchor="ctr">
                    <a:solidFill>
                      <a:srgbClr val="EFF6FF"/>
                    </a:solidFill>
                  </a:tcPr>
                </a:tc>
                <a:extLst>
                  <a:ext uri="{0D108BD9-81ED-4DB2-BD59-A6C34878D82A}">
                    <a16:rowId xmlns:a16="http://schemas.microsoft.com/office/drawing/2014/main" val="10002"/>
                  </a:ext>
                </a:extLst>
              </a:tr>
              <a:tr h="577253">
                <a:tc>
                  <a:txBody>
                    <a:bodyPr/>
                    <a:lstStyle/>
                    <a:p>
                      <a:pPr algn="l">
                        <a:defRPr sz="1050" b="0">
                          <a:solidFill>
                            <a:srgbClr val="1E293B"/>
                          </a:solidFill>
                        </a:defRPr>
                      </a:pPr>
                      <a:r>
                        <a:rPr sz="1600" dirty="0"/>
                        <a:t>Aug + Stage1-only</a:t>
                      </a:r>
                    </a:p>
                  </a:txBody>
                  <a:tcPr marL="36576" marR="36576" marT="18288" marB="18288" anchor="ctr">
                    <a:solidFill>
                      <a:srgbClr val="FFFFFF"/>
                    </a:solidFill>
                  </a:tcPr>
                </a:tc>
                <a:tc>
                  <a:txBody>
                    <a:bodyPr/>
                    <a:lstStyle/>
                    <a:p>
                      <a:pPr algn="ctr">
                        <a:defRPr sz="1050" b="0">
                          <a:solidFill>
                            <a:srgbClr val="1E293B"/>
                          </a:solidFill>
                        </a:defRPr>
                      </a:pPr>
                      <a:r>
                        <a:rPr sz="1600"/>
                        <a:t>0.1783 ± 0.0115</a:t>
                      </a:r>
                    </a:p>
                  </a:txBody>
                  <a:tcPr marL="36576" marR="36576" marT="18288" marB="18288" anchor="ctr">
                    <a:solidFill>
                      <a:srgbClr val="FFFFFF"/>
                    </a:solidFill>
                  </a:tcPr>
                </a:tc>
                <a:tc>
                  <a:txBody>
                    <a:bodyPr/>
                    <a:lstStyle/>
                    <a:p>
                      <a:pPr algn="ctr">
                        <a:defRPr sz="1050" b="0">
                          <a:solidFill>
                            <a:srgbClr val="1E293B"/>
                          </a:solidFill>
                        </a:defRPr>
                      </a:pPr>
                      <a:r>
                        <a:rPr sz="1600" dirty="0"/>
                        <a:t>0.1441 ± 0.0106</a:t>
                      </a:r>
                    </a:p>
                  </a:txBody>
                  <a:tcPr marL="36576" marR="36576" marT="18288" marB="18288" anchor="ctr">
                    <a:solidFill>
                      <a:srgbClr val="FFFFFF"/>
                    </a:solidFill>
                  </a:tcPr>
                </a:tc>
                <a:tc>
                  <a:txBody>
                    <a:bodyPr/>
                    <a:lstStyle/>
                    <a:p>
                      <a:pPr algn="ctr">
                        <a:defRPr sz="1050" b="0">
                          <a:solidFill>
                            <a:srgbClr val="1E293B"/>
                          </a:solidFill>
                        </a:defRPr>
                      </a:pPr>
                      <a:r>
                        <a:rPr sz="1600" dirty="0"/>
                        <a:t>0.1802 ± 0.1717</a:t>
                      </a:r>
                    </a:p>
                  </a:txBody>
                  <a:tcPr marL="36576" marR="36576" marT="18288" marB="18288" anchor="ctr">
                    <a:solidFill>
                      <a:srgbClr val="FFFFFF"/>
                    </a:solidFill>
                  </a:tcPr>
                </a:tc>
                <a:extLst>
                  <a:ext uri="{0D108BD9-81ED-4DB2-BD59-A6C34878D82A}">
                    <a16:rowId xmlns:a16="http://schemas.microsoft.com/office/drawing/2014/main" val="10003"/>
                  </a:ext>
                </a:extLst>
              </a:tr>
              <a:tr h="577253">
                <a:tc>
                  <a:txBody>
                    <a:bodyPr/>
                    <a:lstStyle/>
                    <a:p>
                      <a:pPr algn="l">
                        <a:defRPr sz="1050" b="0">
                          <a:solidFill>
                            <a:srgbClr val="1E293B"/>
                          </a:solidFill>
                        </a:defRPr>
                      </a:pPr>
                      <a:r>
                        <a:rPr sz="1600" dirty="0"/>
                        <a:t>Aug + Stage2-only</a:t>
                      </a:r>
                    </a:p>
                  </a:txBody>
                  <a:tcPr marL="36576" marR="36576" marT="18288" marB="18288" anchor="ctr">
                    <a:solidFill>
                      <a:srgbClr val="F8FAFC"/>
                    </a:solidFill>
                  </a:tcPr>
                </a:tc>
                <a:tc>
                  <a:txBody>
                    <a:bodyPr/>
                    <a:lstStyle/>
                    <a:p>
                      <a:pPr algn="ctr">
                        <a:defRPr sz="1050" b="0">
                          <a:solidFill>
                            <a:srgbClr val="1E293B"/>
                          </a:solidFill>
                        </a:defRPr>
                      </a:pPr>
                      <a:r>
                        <a:rPr sz="1600" dirty="0"/>
                        <a:t>0.1414 ± 0.0212</a:t>
                      </a:r>
                    </a:p>
                  </a:txBody>
                  <a:tcPr marL="36576" marR="36576" marT="18288" marB="18288" anchor="ctr">
                    <a:solidFill>
                      <a:srgbClr val="F8FAFC"/>
                    </a:solidFill>
                  </a:tcPr>
                </a:tc>
                <a:tc>
                  <a:txBody>
                    <a:bodyPr/>
                    <a:lstStyle/>
                    <a:p>
                      <a:pPr algn="ctr">
                        <a:defRPr sz="1050" b="0">
                          <a:solidFill>
                            <a:srgbClr val="1E293B"/>
                          </a:solidFill>
                        </a:defRPr>
                      </a:pPr>
                      <a:r>
                        <a:rPr sz="1600" dirty="0"/>
                        <a:t>0.1111 ± 0.0150</a:t>
                      </a:r>
                    </a:p>
                  </a:txBody>
                  <a:tcPr marL="36576" marR="36576" marT="18288" marB="18288" anchor="ctr">
                    <a:solidFill>
                      <a:srgbClr val="F8FAFC"/>
                    </a:solidFill>
                  </a:tcPr>
                </a:tc>
                <a:tc>
                  <a:txBody>
                    <a:bodyPr/>
                    <a:lstStyle/>
                    <a:p>
                      <a:pPr algn="ctr">
                        <a:defRPr sz="1050" b="0">
                          <a:solidFill>
                            <a:srgbClr val="1E293B"/>
                          </a:solidFill>
                        </a:defRPr>
                      </a:pPr>
                      <a:r>
                        <a:rPr sz="1600" dirty="0"/>
                        <a:t>0.4479 ± 0.2487</a:t>
                      </a:r>
                    </a:p>
                  </a:txBody>
                  <a:tcPr marL="36576" marR="36576" marT="18288" marB="18288" anchor="ctr">
                    <a:solidFill>
                      <a:srgbClr val="F8FAFC"/>
                    </a:solidFill>
                  </a:tcPr>
                </a:tc>
                <a:extLst>
                  <a:ext uri="{0D108BD9-81ED-4DB2-BD59-A6C34878D82A}">
                    <a16:rowId xmlns:a16="http://schemas.microsoft.com/office/drawing/2014/main" val="10004"/>
                  </a:ext>
                </a:extLst>
              </a:tr>
            </a:tbl>
          </a:graphicData>
        </a:graphic>
      </p:graphicFrame>
      <p:pic>
        <p:nvPicPr>
          <p:cNvPr id="9" name="Picture 11" descr="slide17_rmse_ranking.png">
            <a:extLst>
              <a:ext uri="{FF2B5EF4-FFF2-40B4-BE49-F238E27FC236}">
                <a16:creationId xmlns:a16="http://schemas.microsoft.com/office/drawing/2014/main" id="{2A52254A-92BD-24EE-F17C-96F5F6B604BB}"/>
              </a:ext>
            </a:extLst>
          </p:cNvPr>
          <p:cNvPicPr>
            <a:picLocks noChangeAspect="1"/>
          </p:cNvPicPr>
          <p:nvPr/>
        </p:nvPicPr>
        <p:blipFill>
          <a:blip r:embed="rId3"/>
          <a:stretch>
            <a:fillRect/>
          </a:stretch>
        </p:blipFill>
        <p:spPr>
          <a:xfrm>
            <a:off x="164959" y="1683770"/>
            <a:ext cx="5373408" cy="256639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51953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17A3-75EC-7F20-D057-171912CDFB7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6092108-5179-3AF9-2096-87D3D20DC601}"/>
              </a:ext>
            </a:extLst>
          </p:cNvPr>
          <p:cNvSpPr>
            <a:spLocks noGrp="1"/>
          </p:cNvSpPr>
          <p:nvPr>
            <p:ph type="sldNum" sz="quarter" idx="12"/>
          </p:nvPr>
        </p:nvSpPr>
        <p:spPr/>
        <p:txBody>
          <a:bodyPr/>
          <a:lstStyle/>
          <a:p>
            <a:fld id="{5A846D4C-743D-4A62-AF1E-2CABDD37274B}" type="slidenum">
              <a:rPr lang="en-US" smtClean="0"/>
              <a:t>17</a:t>
            </a:fld>
            <a:endParaRPr lang="en-US"/>
          </a:p>
        </p:txBody>
      </p:sp>
      <p:sp>
        <p:nvSpPr>
          <p:cNvPr id="3" name="文本框 2">
            <a:extLst>
              <a:ext uri="{FF2B5EF4-FFF2-40B4-BE49-F238E27FC236}">
                <a16:creationId xmlns:a16="http://schemas.microsoft.com/office/drawing/2014/main" id="{E6BD1E26-0EDE-186F-9960-3FC807A862C7}"/>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What Each Component Contributes</a:t>
            </a:r>
          </a:p>
        </p:txBody>
      </p:sp>
      <p:sp>
        <p:nvSpPr>
          <p:cNvPr id="21" name="Text 3">
            <a:extLst>
              <a:ext uri="{FF2B5EF4-FFF2-40B4-BE49-F238E27FC236}">
                <a16:creationId xmlns:a16="http://schemas.microsoft.com/office/drawing/2014/main" id="{68A44AEB-4492-8B6E-6FAB-96489F4F87B4}"/>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Component-level ablations explain why the final method works.</a:t>
            </a:r>
            <a:endParaRPr lang="en-US" altLang="zh-CN" dirty="0"/>
          </a:p>
        </p:txBody>
      </p:sp>
      <p:grpSp>
        <p:nvGrpSpPr>
          <p:cNvPr id="27" name="组合 26">
            <a:extLst>
              <a:ext uri="{FF2B5EF4-FFF2-40B4-BE49-F238E27FC236}">
                <a16:creationId xmlns:a16="http://schemas.microsoft.com/office/drawing/2014/main" id="{53F20DDC-3D11-0776-FD2A-1269E245B1EF}"/>
              </a:ext>
            </a:extLst>
          </p:cNvPr>
          <p:cNvGrpSpPr/>
          <p:nvPr/>
        </p:nvGrpSpPr>
        <p:grpSpPr>
          <a:xfrm>
            <a:off x="403780" y="4812030"/>
            <a:ext cx="11175412" cy="1331462"/>
            <a:chOff x="1280160" y="5108446"/>
            <a:chExt cx="9692640" cy="1613028"/>
          </a:xfrm>
        </p:grpSpPr>
        <p:sp>
          <p:nvSpPr>
            <p:cNvPr id="23" name="Shape 4">
              <a:extLst>
                <a:ext uri="{FF2B5EF4-FFF2-40B4-BE49-F238E27FC236}">
                  <a16:creationId xmlns:a16="http://schemas.microsoft.com/office/drawing/2014/main" id="{D8B6BD44-8FCF-5088-32DC-EA1FE7956B8F}"/>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4A6AF98F-F5C2-59A4-74E0-BD117A4E4CC3}"/>
                </a:ext>
              </a:extLst>
            </p:cNvPr>
            <p:cNvSpPr/>
            <p:nvPr/>
          </p:nvSpPr>
          <p:spPr>
            <a:xfrm>
              <a:off x="1280160" y="5108446"/>
              <a:ext cx="48768" cy="1585596"/>
            </a:xfrm>
            <a:prstGeom prst="rect">
              <a:avLst/>
            </a:prstGeom>
            <a:solidFill>
              <a:srgbClr val="047857"/>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217A57C2-E0E5-CEE9-A52B-49572AC08D76}"/>
                </a:ext>
              </a:extLst>
            </p:cNvPr>
            <p:cNvSpPr/>
            <p:nvPr/>
          </p:nvSpPr>
          <p:spPr>
            <a:xfrm>
              <a:off x="1530096" y="5210601"/>
              <a:ext cx="9372600" cy="438912"/>
            </a:xfrm>
            <a:prstGeom prst="rect">
              <a:avLst/>
            </a:prstGeom>
            <a:noFill/>
            <a:ln/>
          </p:spPr>
          <p:txBody>
            <a:bodyPr wrap="square" lIns="0" tIns="0" rIns="0" bIns="0" rtlCol="0" anchor="ctr"/>
            <a:lstStyle/>
            <a:p>
              <a:r>
                <a:rPr lang="en-US" altLang="zh-CN" sz="2000" b="1" dirty="0">
                  <a:solidFill>
                    <a:srgbClr val="111827"/>
                  </a:solidFill>
                </a:rPr>
                <a:t>Core insight</a:t>
              </a:r>
              <a:endParaRPr lang="en-US" altLang="zh-CN" sz="2000" dirty="0"/>
            </a:p>
          </p:txBody>
        </p:sp>
        <p:sp>
          <p:nvSpPr>
            <p:cNvPr id="26" name="Text 7">
              <a:extLst>
                <a:ext uri="{FF2B5EF4-FFF2-40B4-BE49-F238E27FC236}">
                  <a16:creationId xmlns:a16="http://schemas.microsoft.com/office/drawing/2014/main" id="{8C0E7C0F-0E39-CB0C-C5A8-1F221ADB14CC}"/>
                </a:ext>
              </a:extLst>
            </p:cNvPr>
            <p:cNvSpPr/>
            <p:nvPr/>
          </p:nvSpPr>
          <p:spPr>
            <a:xfrm>
              <a:off x="1530096" y="5755312"/>
              <a:ext cx="9381744" cy="780899"/>
            </a:xfrm>
            <a:prstGeom prst="rect">
              <a:avLst/>
            </a:prstGeom>
            <a:noFill/>
            <a:ln/>
          </p:spPr>
          <p:txBody>
            <a:bodyPr wrap="square" lIns="254" tIns="254" rIns="254" bIns="254" rtlCol="0" anchor="t">
              <a:noAutofit/>
            </a:bodyPr>
            <a:lstStyle/>
            <a:p>
              <a:r>
                <a:rPr lang="en-US" altLang="zh-CN" dirty="0">
                  <a:solidFill>
                    <a:srgbClr val="374151"/>
                  </a:solidFill>
                </a:rPr>
                <a:t>The largest gain comes from encoder adaptation, meaning frozen pretrained embeddings are not enough. Augmentation consistently helps by improving robustness. </a:t>
              </a:r>
              <a:r>
                <a:rPr lang="en-US" altLang="zh-CN" dirty="0"/>
                <a:t>Stage-1 warm-up gives a smaller stabilization effect.</a:t>
              </a:r>
            </a:p>
          </p:txBody>
        </p:sp>
      </p:grpSp>
      <p:pic>
        <p:nvPicPr>
          <p:cNvPr id="7" name="Picture 5" descr="core_effects(1).png">
            <a:extLst>
              <a:ext uri="{FF2B5EF4-FFF2-40B4-BE49-F238E27FC236}">
                <a16:creationId xmlns:a16="http://schemas.microsoft.com/office/drawing/2014/main" id="{199778E5-1DA4-D576-B7A0-02E3813F3689}"/>
              </a:ext>
            </a:extLst>
          </p:cNvPr>
          <p:cNvPicPr>
            <a:picLocks noChangeAspect="1"/>
          </p:cNvPicPr>
          <p:nvPr/>
        </p:nvPicPr>
        <p:blipFill>
          <a:blip r:embed="rId3"/>
          <a:stretch>
            <a:fillRect/>
          </a:stretch>
        </p:blipFill>
        <p:spPr>
          <a:xfrm>
            <a:off x="234834" y="1543522"/>
            <a:ext cx="7852713" cy="2977676"/>
          </a:xfrm>
          <a:prstGeom prst="rect">
            <a:avLst/>
          </a:prstGeom>
        </p:spPr>
      </p:pic>
      <p:sp>
        <p:nvSpPr>
          <p:cNvPr id="22" name="Rounded Rectangle 9">
            <a:extLst>
              <a:ext uri="{FF2B5EF4-FFF2-40B4-BE49-F238E27FC236}">
                <a16:creationId xmlns:a16="http://schemas.microsoft.com/office/drawing/2014/main" id="{527E74D5-4BCD-B27A-5EBF-E35299E2514F}"/>
              </a:ext>
            </a:extLst>
          </p:cNvPr>
          <p:cNvSpPr/>
          <p:nvPr/>
        </p:nvSpPr>
        <p:spPr>
          <a:xfrm>
            <a:off x="8550462" y="2667503"/>
            <a:ext cx="2816352" cy="658368"/>
          </a:xfrm>
          <a:prstGeom prst="roundRect">
            <a:avLst/>
          </a:prstGeom>
          <a:solidFill>
            <a:srgbClr val="FFF1F2"/>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10">
            <a:extLst>
              <a:ext uri="{FF2B5EF4-FFF2-40B4-BE49-F238E27FC236}">
                <a16:creationId xmlns:a16="http://schemas.microsoft.com/office/drawing/2014/main" id="{BA959178-D2FE-BE1A-9D83-F92F032FC05D}"/>
              </a:ext>
            </a:extLst>
          </p:cNvPr>
          <p:cNvSpPr txBox="1"/>
          <p:nvPr/>
        </p:nvSpPr>
        <p:spPr>
          <a:xfrm>
            <a:off x="8705910" y="2758943"/>
            <a:ext cx="1600200" cy="529376"/>
          </a:xfrm>
          <a:prstGeom prst="rect">
            <a:avLst/>
          </a:prstGeom>
          <a:noFill/>
        </p:spPr>
        <p:txBody>
          <a:bodyPr wrap="square" lIns="27432" tIns="18288" rIns="27432" bIns="18288" anchor="t">
            <a:spAutoFit/>
          </a:bodyPr>
          <a:lstStyle/>
          <a:p>
            <a:pPr algn="l">
              <a:defRPr sz="980" b="1">
                <a:solidFill>
                  <a:srgbClr val="DC2626"/>
                </a:solidFill>
              </a:defRPr>
            </a:pPr>
            <a:r>
              <a:rPr sz="1600" dirty="0"/>
              <a:t>SMILES augmentation</a:t>
            </a:r>
          </a:p>
        </p:txBody>
      </p:sp>
      <p:sp>
        <p:nvSpPr>
          <p:cNvPr id="31" name="Rounded Rectangle 13">
            <a:extLst>
              <a:ext uri="{FF2B5EF4-FFF2-40B4-BE49-F238E27FC236}">
                <a16:creationId xmlns:a16="http://schemas.microsoft.com/office/drawing/2014/main" id="{3677F0A2-4233-699D-0ED3-5B432DB19D6A}"/>
              </a:ext>
            </a:extLst>
          </p:cNvPr>
          <p:cNvSpPr/>
          <p:nvPr/>
        </p:nvSpPr>
        <p:spPr>
          <a:xfrm>
            <a:off x="8550462" y="1679951"/>
            <a:ext cx="2816352" cy="658368"/>
          </a:xfrm>
          <a:prstGeom prst="roundRect">
            <a:avLst/>
          </a:prstGeom>
          <a:solidFill>
            <a:srgbClr val="EFF6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14">
            <a:extLst>
              <a:ext uri="{FF2B5EF4-FFF2-40B4-BE49-F238E27FC236}">
                <a16:creationId xmlns:a16="http://schemas.microsoft.com/office/drawing/2014/main" id="{FC8CB3CF-380A-5569-9244-A79F8788608A}"/>
              </a:ext>
            </a:extLst>
          </p:cNvPr>
          <p:cNvSpPr txBox="1"/>
          <p:nvPr/>
        </p:nvSpPr>
        <p:spPr>
          <a:xfrm>
            <a:off x="8705910" y="1771391"/>
            <a:ext cx="1600200" cy="529376"/>
          </a:xfrm>
          <a:prstGeom prst="rect">
            <a:avLst/>
          </a:prstGeom>
          <a:noFill/>
        </p:spPr>
        <p:txBody>
          <a:bodyPr wrap="square" lIns="27432" tIns="18288" rIns="27432" bIns="18288" anchor="t">
            <a:spAutoFit/>
          </a:bodyPr>
          <a:lstStyle/>
          <a:p>
            <a:pPr algn="l">
              <a:defRPr sz="980" b="1">
                <a:solidFill>
                  <a:srgbClr val="2563EB"/>
                </a:solidFill>
              </a:defRPr>
            </a:pPr>
            <a:r>
              <a:rPr sz="1600" dirty="0"/>
              <a:t>Encoder adaptation</a:t>
            </a:r>
          </a:p>
        </p:txBody>
      </p:sp>
      <p:sp>
        <p:nvSpPr>
          <p:cNvPr id="33" name="TextBox 15">
            <a:extLst>
              <a:ext uri="{FF2B5EF4-FFF2-40B4-BE49-F238E27FC236}">
                <a16:creationId xmlns:a16="http://schemas.microsoft.com/office/drawing/2014/main" id="{9CECC284-6C20-966D-A9E7-3B3DFD161949}"/>
              </a:ext>
            </a:extLst>
          </p:cNvPr>
          <p:cNvSpPr txBox="1"/>
          <p:nvPr/>
        </p:nvSpPr>
        <p:spPr>
          <a:xfrm>
            <a:off x="10197572" y="1771391"/>
            <a:ext cx="965257" cy="344710"/>
          </a:xfrm>
          <a:prstGeom prst="rect">
            <a:avLst/>
          </a:prstGeom>
          <a:noFill/>
        </p:spPr>
        <p:txBody>
          <a:bodyPr wrap="square" lIns="27432" tIns="18288" rIns="27432" bIns="18288" anchor="t">
            <a:spAutoFit/>
          </a:bodyPr>
          <a:lstStyle/>
          <a:p>
            <a:pPr algn="r">
              <a:defRPr sz="1240" b="1">
                <a:solidFill>
                  <a:srgbClr val="1E293B"/>
                </a:solidFill>
              </a:defRPr>
            </a:pPr>
            <a:r>
              <a:rPr sz="2000" dirty="0"/>
              <a:t>26.39%</a:t>
            </a:r>
          </a:p>
        </p:txBody>
      </p:sp>
      <p:sp>
        <p:nvSpPr>
          <p:cNvPr id="34" name="TextBox 16">
            <a:extLst>
              <a:ext uri="{FF2B5EF4-FFF2-40B4-BE49-F238E27FC236}">
                <a16:creationId xmlns:a16="http://schemas.microsoft.com/office/drawing/2014/main" id="{2EA5976B-4C29-AB7E-0B5D-D316A4BEF86E}"/>
              </a:ext>
            </a:extLst>
          </p:cNvPr>
          <p:cNvSpPr txBox="1"/>
          <p:nvPr/>
        </p:nvSpPr>
        <p:spPr>
          <a:xfrm>
            <a:off x="10449597" y="2098249"/>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15/15</a:t>
            </a:r>
          </a:p>
        </p:txBody>
      </p:sp>
      <p:sp>
        <p:nvSpPr>
          <p:cNvPr id="35" name="Rounded Rectangle 17">
            <a:extLst>
              <a:ext uri="{FF2B5EF4-FFF2-40B4-BE49-F238E27FC236}">
                <a16:creationId xmlns:a16="http://schemas.microsoft.com/office/drawing/2014/main" id="{DFA16A78-D1E4-4998-372D-D3934A17E686}"/>
              </a:ext>
            </a:extLst>
          </p:cNvPr>
          <p:cNvSpPr/>
          <p:nvPr/>
        </p:nvSpPr>
        <p:spPr>
          <a:xfrm>
            <a:off x="8550462" y="3616703"/>
            <a:ext cx="2816352" cy="658368"/>
          </a:xfrm>
          <a:prstGeom prst="roundRect">
            <a:avLst/>
          </a:prstGeom>
          <a:solidFill>
            <a:srgbClr val="ECFDF5"/>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18">
            <a:extLst>
              <a:ext uri="{FF2B5EF4-FFF2-40B4-BE49-F238E27FC236}">
                <a16:creationId xmlns:a16="http://schemas.microsoft.com/office/drawing/2014/main" id="{B867F3A3-D988-A32E-50EF-0E1BF57748F7}"/>
              </a:ext>
            </a:extLst>
          </p:cNvPr>
          <p:cNvSpPr txBox="1"/>
          <p:nvPr/>
        </p:nvSpPr>
        <p:spPr>
          <a:xfrm>
            <a:off x="8705910" y="3708142"/>
            <a:ext cx="1600200" cy="529376"/>
          </a:xfrm>
          <a:prstGeom prst="rect">
            <a:avLst/>
          </a:prstGeom>
          <a:noFill/>
        </p:spPr>
        <p:txBody>
          <a:bodyPr wrap="square" lIns="27432" tIns="18288" rIns="27432" bIns="18288" anchor="t">
            <a:spAutoFit/>
          </a:bodyPr>
          <a:lstStyle/>
          <a:p>
            <a:pPr algn="l">
              <a:defRPr sz="980" b="1">
                <a:solidFill>
                  <a:srgbClr val="10B981"/>
                </a:solidFill>
              </a:defRPr>
            </a:pPr>
            <a:r>
              <a:rPr sz="1600" dirty="0"/>
              <a:t>Stage-1 warm-up</a:t>
            </a:r>
          </a:p>
        </p:txBody>
      </p:sp>
      <p:sp>
        <p:nvSpPr>
          <p:cNvPr id="39" name="TextBox 15">
            <a:extLst>
              <a:ext uri="{FF2B5EF4-FFF2-40B4-BE49-F238E27FC236}">
                <a16:creationId xmlns:a16="http://schemas.microsoft.com/office/drawing/2014/main" id="{D9224760-350E-A8AB-D33B-8A5405284320}"/>
              </a:ext>
            </a:extLst>
          </p:cNvPr>
          <p:cNvSpPr txBox="1"/>
          <p:nvPr/>
        </p:nvSpPr>
        <p:spPr>
          <a:xfrm>
            <a:off x="10250188" y="2733543"/>
            <a:ext cx="965257" cy="344710"/>
          </a:xfrm>
          <a:prstGeom prst="rect">
            <a:avLst/>
          </a:prstGeom>
          <a:noFill/>
        </p:spPr>
        <p:txBody>
          <a:bodyPr wrap="square" lIns="27432" tIns="18288" rIns="27432" bIns="18288" anchor="t">
            <a:spAutoFit/>
          </a:bodyPr>
          <a:lstStyle/>
          <a:p>
            <a:pPr algn="r">
              <a:defRPr sz="1240" b="1">
                <a:solidFill>
                  <a:srgbClr val="1E293B"/>
                </a:solidFill>
              </a:defRPr>
            </a:pPr>
            <a:r>
              <a:rPr lang="en-US" sz="2000" dirty="0"/>
              <a:t>12.92</a:t>
            </a:r>
            <a:r>
              <a:rPr sz="2000" dirty="0"/>
              <a:t>%</a:t>
            </a:r>
          </a:p>
        </p:txBody>
      </p:sp>
      <p:sp>
        <p:nvSpPr>
          <p:cNvPr id="40" name="TextBox 16">
            <a:extLst>
              <a:ext uri="{FF2B5EF4-FFF2-40B4-BE49-F238E27FC236}">
                <a16:creationId xmlns:a16="http://schemas.microsoft.com/office/drawing/2014/main" id="{7BD60F1D-153D-85AA-B667-3E408856F3DC}"/>
              </a:ext>
            </a:extLst>
          </p:cNvPr>
          <p:cNvSpPr txBox="1"/>
          <p:nvPr/>
        </p:nvSpPr>
        <p:spPr>
          <a:xfrm>
            <a:off x="10502213" y="3060401"/>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15/15</a:t>
            </a:r>
          </a:p>
        </p:txBody>
      </p:sp>
      <p:sp>
        <p:nvSpPr>
          <p:cNvPr id="41" name="TextBox 15">
            <a:extLst>
              <a:ext uri="{FF2B5EF4-FFF2-40B4-BE49-F238E27FC236}">
                <a16:creationId xmlns:a16="http://schemas.microsoft.com/office/drawing/2014/main" id="{10188795-5F1D-7B10-BC07-2936ACBBA3AB}"/>
              </a:ext>
            </a:extLst>
          </p:cNvPr>
          <p:cNvSpPr txBox="1"/>
          <p:nvPr/>
        </p:nvSpPr>
        <p:spPr>
          <a:xfrm>
            <a:off x="10303199" y="3648923"/>
            <a:ext cx="965257" cy="344710"/>
          </a:xfrm>
          <a:prstGeom prst="rect">
            <a:avLst/>
          </a:prstGeom>
          <a:noFill/>
        </p:spPr>
        <p:txBody>
          <a:bodyPr wrap="square" lIns="27432" tIns="18288" rIns="27432" bIns="18288" anchor="t">
            <a:spAutoFit/>
          </a:bodyPr>
          <a:lstStyle/>
          <a:p>
            <a:pPr algn="r">
              <a:defRPr sz="1240" b="1">
                <a:solidFill>
                  <a:srgbClr val="1E293B"/>
                </a:solidFill>
              </a:defRPr>
            </a:pPr>
            <a:r>
              <a:rPr lang="en-US" sz="2000" dirty="0"/>
              <a:t>7.17</a:t>
            </a:r>
            <a:r>
              <a:rPr sz="2000" dirty="0"/>
              <a:t>%</a:t>
            </a:r>
          </a:p>
        </p:txBody>
      </p:sp>
      <p:sp>
        <p:nvSpPr>
          <p:cNvPr id="42" name="TextBox 16">
            <a:extLst>
              <a:ext uri="{FF2B5EF4-FFF2-40B4-BE49-F238E27FC236}">
                <a16:creationId xmlns:a16="http://schemas.microsoft.com/office/drawing/2014/main" id="{3084EE30-736C-C4C9-7C9D-32AFD49DDC9C}"/>
              </a:ext>
            </a:extLst>
          </p:cNvPr>
          <p:cNvSpPr txBox="1"/>
          <p:nvPr/>
        </p:nvSpPr>
        <p:spPr>
          <a:xfrm>
            <a:off x="10555224" y="3975781"/>
            <a:ext cx="713232" cy="221599"/>
          </a:xfrm>
          <a:prstGeom prst="rect">
            <a:avLst/>
          </a:prstGeom>
          <a:noFill/>
        </p:spPr>
        <p:txBody>
          <a:bodyPr wrap="square" lIns="27432" tIns="18288" rIns="27432" bIns="18288" anchor="t">
            <a:spAutoFit/>
          </a:bodyPr>
          <a:lstStyle/>
          <a:p>
            <a:pPr algn="r">
              <a:defRPr sz="880" b="1">
                <a:solidFill>
                  <a:srgbClr val="64748B"/>
                </a:solidFill>
              </a:defRPr>
            </a:pPr>
            <a:r>
              <a:rPr sz="1200" dirty="0"/>
              <a:t>1</a:t>
            </a:r>
            <a:r>
              <a:rPr lang="en-US" sz="1200" dirty="0"/>
              <a:t>2</a:t>
            </a:r>
            <a:r>
              <a:rPr sz="1200" dirty="0"/>
              <a:t>/15</a:t>
            </a:r>
          </a:p>
        </p:txBody>
      </p:sp>
    </p:spTree>
    <p:extLst>
      <p:ext uri="{BB962C8B-B14F-4D97-AF65-F5344CB8AC3E}">
        <p14:creationId xmlns:p14="http://schemas.microsoft.com/office/powerpoint/2010/main" val="271696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2E69-67D4-D999-166D-71979FDAD64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408453-8800-4754-B471-DFC01021FCB4}"/>
              </a:ext>
            </a:extLst>
          </p:cNvPr>
          <p:cNvSpPr>
            <a:spLocks noGrp="1"/>
          </p:cNvSpPr>
          <p:nvPr>
            <p:ph type="sldNum" sz="quarter" idx="12"/>
          </p:nvPr>
        </p:nvSpPr>
        <p:spPr/>
        <p:txBody>
          <a:bodyPr/>
          <a:lstStyle/>
          <a:p>
            <a:fld id="{5A846D4C-743D-4A62-AF1E-2CABDD37274B}" type="slidenum">
              <a:rPr lang="en-US" smtClean="0"/>
              <a:t>18</a:t>
            </a:fld>
            <a:endParaRPr lang="en-US"/>
          </a:p>
        </p:txBody>
      </p:sp>
      <p:sp>
        <p:nvSpPr>
          <p:cNvPr id="3" name="文本框 2">
            <a:extLst>
              <a:ext uri="{FF2B5EF4-FFF2-40B4-BE49-F238E27FC236}">
                <a16:creationId xmlns:a16="http://schemas.microsoft.com/office/drawing/2014/main" id="{3F219F93-A5E7-7172-D7E8-F0B1C6F69C7C}"/>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Error Tail Analysis</a:t>
            </a:r>
          </a:p>
        </p:txBody>
      </p:sp>
      <p:sp>
        <p:nvSpPr>
          <p:cNvPr id="21" name="Text 3">
            <a:extLst>
              <a:ext uri="{FF2B5EF4-FFF2-40B4-BE49-F238E27FC236}">
                <a16:creationId xmlns:a16="http://schemas.microsoft.com/office/drawing/2014/main" id="{9375C309-91D7-DBCC-A928-3D6463B1FA37}"/>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Reliability depends on reducing high-error cases, not only improving the average.</a:t>
            </a:r>
            <a:endParaRPr lang="en-US" altLang="zh-CN" dirty="0"/>
          </a:p>
        </p:txBody>
      </p:sp>
      <p:pic>
        <p:nvPicPr>
          <p:cNvPr id="4" name="Picture 5" descr="slide19_error_tail_metrics.png">
            <a:extLst>
              <a:ext uri="{FF2B5EF4-FFF2-40B4-BE49-F238E27FC236}">
                <a16:creationId xmlns:a16="http://schemas.microsoft.com/office/drawing/2014/main" id="{59428C6E-C268-3EEA-D92C-507DD506FE0B}"/>
              </a:ext>
            </a:extLst>
          </p:cNvPr>
          <p:cNvPicPr>
            <a:picLocks noChangeAspect="1"/>
          </p:cNvPicPr>
          <p:nvPr/>
        </p:nvPicPr>
        <p:blipFill>
          <a:blip r:embed="rId2"/>
          <a:stretch>
            <a:fillRect/>
          </a:stretch>
        </p:blipFill>
        <p:spPr>
          <a:xfrm>
            <a:off x="332232" y="1421891"/>
            <a:ext cx="11109960" cy="2514600"/>
          </a:xfrm>
          <a:prstGeom prst="rect">
            <a:avLst/>
          </a:prstGeom>
        </p:spPr>
      </p:pic>
      <p:sp>
        <p:nvSpPr>
          <p:cNvPr id="5" name="Rounded Rectangle 6">
            <a:extLst>
              <a:ext uri="{FF2B5EF4-FFF2-40B4-BE49-F238E27FC236}">
                <a16:creationId xmlns:a16="http://schemas.microsoft.com/office/drawing/2014/main" id="{92D644E7-000B-851A-178A-F1E9286FD3FE}"/>
              </a:ext>
            </a:extLst>
          </p:cNvPr>
          <p:cNvSpPr/>
          <p:nvPr/>
        </p:nvSpPr>
        <p:spPr>
          <a:xfrm>
            <a:off x="332232" y="5872349"/>
            <a:ext cx="10978896" cy="849125"/>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7">
            <a:extLst>
              <a:ext uri="{FF2B5EF4-FFF2-40B4-BE49-F238E27FC236}">
                <a16:creationId xmlns:a16="http://schemas.microsoft.com/office/drawing/2014/main" id="{7AB97213-1A6A-B325-AB41-DCE40AC7046C}"/>
              </a:ext>
            </a:extLst>
          </p:cNvPr>
          <p:cNvSpPr txBox="1"/>
          <p:nvPr/>
        </p:nvSpPr>
        <p:spPr>
          <a:xfrm>
            <a:off x="475328" y="6124556"/>
            <a:ext cx="2037668" cy="344710"/>
          </a:xfrm>
          <a:prstGeom prst="rect">
            <a:avLst/>
          </a:prstGeom>
          <a:noFill/>
        </p:spPr>
        <p:txBody>
          <a:bodyPr wrap="square" lIns="27432" tIns="18288" rIns="27432" bIns="18288" anchor="t">
            <a:spAutoFit/>
          </a:bodyPr>
          <a:lstStyle/>
          <a:p>
            <a:pPr algn="l">
              <a:defRPr sz="1130" b="1">
                <a:solidFill>
                  <a:srgbClr val="2563EB"/>
                </a:solidFill>
              </a:defRPr>
            </a:pPr>
            <a:r>
              <a:rPr sz="2000" dirty="0"/>
              <a:t>Interpretation</a:t>
            </a:r>
          </a:p>
        </p:txBody>
      </p:sp>
      <p:sp>
        <p:nvSpPr>
          <p:cNvPr id="8" name="TextBox 8">
            <a:extLst>
              <a:ext uri="{FF2B5EF4-FFF2-40B4-BE49-F238E27FC236}">
                <a16:creationId xmlns:a16="http://schemas.microsoft.com/office/drawing/2014/main" id="{9884EBC1-AA90-EACA-A7FC-6AD56D03F124}"/>
              </a:ext>
            </a:extLst>
          </p:cNvPr>
          <p:cNvSpPr txBox="1"/>
          <p:nvPr/>
        </p:nvSpPr>
        <p:spPr>
          <a:xfrm>
            <a:off x="2512996" y="5933990"/>
            <a:ext cx="8366760" cy="775597"/>
          </a:xfrm>
          <a:prstGeom prst="rect">
            <a:avLst/>
          </a:prstGeom>
          <a:noFill/>
        </p:spPr>
        <p:txBody>
          <a:bodyPr wrap="square" lIns="27432" tIns="18288" rIns="27432" bIns="18288" anchor="t">
            <a:spAutoFit/>
          </a:bodyPr>
          <a:lstStyle/>
          <a:p>
            <a:r>
              <a:rPr lang="en-US" altLang="zh-CN" sz="1600" dirty="0">
                <a:solidFill>
                  <a:srgbClr val="374151"/>
                </a:solidFill>
              </a:rPr>
              <a:t>The final method reduces high-error tail cases, which matters for screening reliability and not only average accuracy.</a:t>
            </a:r>
            <a:r>
              <a:rPr lang="en-US" altLang="zh-CN" sz="1600" dirty="0"/>
              <a:t> For molecular screening, average RMSE is not enough. We also care about high-error predictions, because a few large mistakes may mislead candidate selection.</a:t>
            </a:r>
          </a:p>
        </p:txBody>
      </p:sp>
      <p:graphicFrame>
        <p:nvGraphicFramePr>
          <p:cNvPr id="9" name="Table 9">
            <a:extLst>
              <a:ext uri="{FF2B5EF4-FFF2-40B4-BE49-F238E27FC236}">
                <a16:creationId xmlns:a16="http://schemas.microsoft.com/office/drawing/2014/main" id="{FA379742-617D-3B1F-FFEE-B863C3EB13D9}"/>
              </a:ext>
            </a:extLst>
          </p:cNvPr>
          <p:cNvGraphicFramePr>
            <a:graphicFrameLocks noGrp="1"/>
          </p:cNvGraphicFramePr>
          <p:nvPr>
            <p:extLst>
              <p:ext uri="{D42A27DB-BD31-4B8C-83A1-F6EECF244321}">
                <p14:modId xmlns:p14="http://schemas.microsoft.com/office/powerpoint/2010/main" val="4033993129"/>
              </p:ext>
            </p:extLst>
          </p:nvPr>
        </p:nvGraphicFramePr>
        <p:xfrm>
          <a:off x="749808" y="4049268"/>
          <a:ext cx="10424160" cy="140208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228600">
                <a:tc>
                  <a:txBody>
                    <a:bodyPr/>
                    <a:lstStyle/>
                    <a:p>
                      <a:pPr algn="l">
                        <a:defRPr sz="990" b="1">
                          <a:solidFill>
                            <a:srgbClr val="FFFFFF"/>
                          </a:solidFill>
                        </a:defRPr>
                      </a:pPr>
                      <a:r>
                        <a:rPr sz="1600" dirty="0"/>
                        <a:t>Method</a:t>
                      </a:r>
                    </a:p>
                  </a:txBody>
                  <a:tcPr marL="36576" marR="36576" marT="18288" marB="18288">
                    <a:solidFill>
                      <a:srgbClr val="043763"/>
                    </a:solidFill>
                  </a:tcPr>
                </a:tc>
                <a:tc>
                  <a:txBody>
                    <a:bodyPr/>
                    <a:lstStyle/>
                    <a:p>
                      <a:pPr algn="ctr">
                        <a:defRPr sz="990" b="1">
                          <a:solidFill>
                            <a:srgbClr val="FFFFFF"/>
                          </a:solidFill>
                        </a:defRPr>
                      </a:pPr>
                      <a:r>
                        <a:rPr sz="1600"/>
                        <a:t>Q90 abs error</a:t>
                      </a:r>
                    </a:p>
                  </a:txBody>
                  <a:tcPr marL="36576" marR="36576" marT="18288" marB="18288">
                    <a:solidFill>
                      <a:srgbClr val="043763"/>
                    </a:solidFill>
                  </a:tcPr>
                </a:tc>
                <a:tc>
                  <a:txBody>
                    <a:bodyPr/>
                    <a:lstStyle/>
                    <a:p>
                      <a:pPr algn="ctr">
                        <a:defRPr sz="990" b="1">
                          <a:solidFill>
                            <a:srgbClr val="FFFFFF"/>
                          </a:solidFill>
                        </a:defRPr>
                      </a:pPr>
                      <a:r>
                        <a:rPr sz="1600"/>
                        <a:t>Max abs error</a:t>
                      </a:r>
                    </a:p>
                  </a:txBody>
                  <a:tcPr marL="36576" marR="36576" marT="18288" marB="18288">
                    <a:solidFill>
                      <a:srgbClr val="043763"/>
                    </a:solidFill>
                  </a:tcPr>
                </a:tc>
                <a:tc>
                  <a:txBody>
                    <a:bodyPr/>
                    <a:lstStyle/>
                    <a:p>
                      <a:pPr algn="ctr">
                        <a:defRPr sz="990" b="1">
                          <a:solidFill>
                            <a:srgbClr val="FFFFFF"/>
                          </a:solidFill>
                        </a:defRPr>
                      </a:pPr>
                      <a:r>
                        <a:rPr sz="1600"/>
                        <a:t>% abs error &gt; 0.20 eV</a:t>
                      </a:r>
                    </a:p>
                  </a:txBody>
                  <a:tcPr marL="36576" marR="36576" marT="18288" marB="18288">
                    <a:solidFill>
                      <a:srgbClr val="043763"/>
                    </a:solidFill>
                  </a:tcPr>
                </a:tc>
                <a:extLst>
                  <a:ext uri="{0D108BD9-81ED-4DB2-BD59-A6C34878D82A}">
                    <a16:rowId xmlns:a16="http://schemas.microsoft.com/office/drawing/2014/main" val="10000"/>
                  </a:ext>
                </a:extLst>
              </a:tr>
              <a:tr h="228600">
                <a:tc>
                  <a:txBody>
                    <a:bodyPr/>
                    <a:lstStyle/>
                    <a:p>
                      <a:pPr algn="l">
                        <a:defRPr sz="940" b="0">
                          <a:solidFill>
                            <a:srgbClr val="1E293B"/>
                          </a:solidFill>
                        </a:defRPr>
                      </a:pPr>
                      <a:r>
                        <a:rPr sz="1600"/>
                        <a:t>No Aug + Two-stage</a:t>
                      </a:r>
                    </a:p>
                  </a:txBody>
                  <a:tcPr marL="36576" marR="36576" marT="18288" marB="18288">
                    <a:solidFill>
                      <a:srgbClr val="FFFFFF"/>
                    </a:solidFill>
                  </a:tcPr>
                </a:tc>
                <a:tc>
                  <a:txBody>
                    <a:bodyPr/>
                    <a:lstStyle/>
                    <a:p>
                      <a:pPr algn="ctr">
                        <a:defRPr sz="940" b="0">
                          <a:solidFill>
                            <a:srgbClr val="1E293B"/>
                          </a:solidFill>
                        </a:defRPr>
                      </a:pPr>
                      <a:r>
                        <a:rPr sz="1600"/>
                        <a:t>0.2476</a:t>
                      </a:r>
                    </a:p>
                  </a:txBody>
                  <a:tcPr marL="36576" marR="36576" marT="18288" marB="18288">
                    <a:solidFill>
                      <a:srgbClr val="FFFFFF"/>
                    </a:solidFill>
                  </a:tcPr>
                </a:tc>
                <a:tc>
                  <a:txBody>
                    <a:bodyPr/>
                    <a:lstStyle/>
                    <a:p>
                      <a:pPr algn="ctr">
                        <a:defRPr sz="940" b="0">
                          <a:solidFill>
                            <a:srgbClr val="1E293B"/>
                          </a:solidFill>
                        </a:defRPr>
                      </a:pPr>
                      <a:r>
                        <a:rPr sz="1600"/>
                        <a:t>0.4751</a:t>
                      </a:r>
                    </a:p>
                  </a:txBody>
                  <a:tcPr marL="36576" marR="36576" marT="18288" marB="18288">
                    <a:solidFill>
                      <a:srgbClr val="FFFFFF"/>
                    </a:solidFill>
                  </a:tcPr>
                </a:tc>
                <a:tc>
                  <a:txBody>
                    <a:bodyPr/>
                    <a:lstStyle/>
                    <a:p>
                      <a:pPr algn="ctr">
                        <a:defRPr sz="940" b="0">
                          <a:solidFill>
                            <a:srgbClr val="1E293B"/>
                          </a:solidFill>
                        </a:defRPr>
                      </a:pPr>
                      <a:r>
                        <a:rPr sz="1600"/>
                        <a:t>18.96%</a:t>
                      </a:r>
                    </a:p>
                  </a:txBody>
                  <a:tcPr marL="36576" marR="36576" marT="18288" marB="18288">
                    <a:solidFill>
                      <a:srgbClr val="FFFFFF"/>
                    </a:solidFill>
                  </a:tcPr>
                </a:tc>
                <a:extLst>
                  <a:ext uri="{0D108BD9-81ED-4DB2-BD59-A6C34878D82A}">
                    <a16:rowId xmlns:a16="http://schemas.microsoft.com/office/drawing/2014/main" val="10001"/>
                  </a:ext>
                </a:extLst>
              </a:tr>
              <a:tr h="228600">
                <a:tc>
                  <a:txBody>
                    <a:bodyPr/>
                    <a:lstStyle/>
                    <a:p>
                      <a:pPr algn="l">
                        <a:defRPr sz="940" b="1">
                          <a:solidFill>
                            <a:srgbClr val="1E293B"/>
                          </a:solidFill>
                        </a:defRPr>
                      </a:pPr>
                      <a:r>
                        <a:rPr sz="1600" dirty="0">
                          <a:highlight>
                            <a:srgbClr val="FFFF00"/>
                          </a:highlight>
                        </a:rPr>
                        <a:t>Aug + Two-stage</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0.2210</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0.4153</a:t>
                      </a:r>
                    </a:p>
                  </a:txBody>
                  <a:tcPr marL="36576" marR="36576" marT="18288" marB="18288">
                    <a:solidFill>
                      <a:srgbClr val="EFF6FF"/>
                    </a:solidFill>
                  </a:tcPr>
                </a:tc>
                <a:tc>
                  <a:txBody>
                    <a:bodyPr/>
                    <a:lstStyle/>
                    <a:p>
                      <a:pPr algn="ctr">
                        <a:defRPr sz="940" b="1">
                          <a:solidFill>
                            <a:srgbClr val="1E293B"/>
                          </a:solidFill>
                        </a:defRPr>
                      </a:pPr>
                      <a:r>
                        <a:rPr sz="1600" dirty="0">
                          <a:highlight>
                            <a:srgbClr val="FFFF00"/>
                          </a:highlight>
                        </a:rPr>
                        <a:t>14.79%</a:t>
                      </a:r>
                    </a:p>
                  </a:txBody>
                  <a:tcPr marL="36576" marR="36576" marT="18288" marB="18288">
                    <a:solidFill>
                      <a:srgbClr val="EFF6FF"/>
                    </a:solidFill>
                  </a:tcPr>
                </a:tc>
                <a:extLst>
                  <a:ext uri="{0D108BD9-81ED-4DB2-BD59-A6C34878D82A}">
                    <a16:rowId xmlns:a16="http://schemas.microsoft.com/office/drawing/2014/main" val="10002"/>
                  </a:ext>
                </a:extLst>
              </a:tr>
              <a:tr h="228600">
                <a:tc>
                  <a:txBody>
                    <a:bodyPr/>
                    <a:lstStyle/>
                    <a:p>
                      <a:pPr algn="l">
                        <a:defRPr sz="940" b="0">
                          <a:solidFill>
                            <a:srgbClr val="1E293B"/>
                          </a:solidFill>
                        </a:defRPr>
                      </a:pPr>
                      <a:r>
                        <a:rPr sz="1600"/>
                        <a:t>Aug + Stage1-only</a:t>
                      </a:r>
                    </a:p>
                  </a:txBody>
                  <a:tcPr marL="36576" marR="36576" marT="18288" marB="18288">
                    <a:solidFill>
                      <a:srgbClr val="FFFFFF"/>
                    </a:solidFill>
                  </a:tcPr>
                </a:tc>
                <a:tc>
                  <a:txBody>
                    <a:bodyPr/>
                    <a:lstStyle/>
                    <a:p>
                      <a:pPr algn="ctr">
                        <a:defRPr sz="940" b="0">
                          <a:solidFill>
                            <a:srgbClr val="1E293B"/>
                          </a:solidFill>
                        </a:defRPr>
                      </a:pPr>
                      <a:r>
                        <a:rPr sz="1600"/>
                        <a:t>0.3127</a:t>
                      </a:r>
                    </a:p>
                  </a:txBody>
                  <a:tcPr marL="36576" marR="36576" marT="18288" marB="18288">
                    <a:solidFill>
                      <a:srgbClr val="FFFFFF"/>
                    </a:solidFill>
                  </a:tcPr>
                </a:tc>
                <a:tc>
                  <a:txBody>
                    <a:bodyPr/>
                    <a:lstStyle/>
                    <a:p>
                      <a:pPr algn="ctr">
                        <a:defRPr sz="940" b="0">
                          <a:solidFill>
                            <a:srgbClr val="1E293B"/>
                          </a:solidFill>
                        </a:defRPr>
                      </a:pPr>
                      <a:r>
                        <a:rPr sz="1600"/>
                        <a:t>0.4325</a:t>
                      </a:r>
                    </a:p>
                  </a:txBody>
                  <a:tcPr marL="36576" marR="36576" marT="18288" marB="18288">
                    <a:solidFill>
                      <a:srgbClr val="FFFFFF"/>
                    </a:solidFill>
                  </a:tcPr>
                </a:tc>
                <a:tc>
                  <a:txBody>
                    <a:bodyPr/>
                    <a:lstStyle/>
                    <a:p>
                      <a:pPr algn="ctr">
                        <a:defRPr sz="940" b="0">
                          <a:solidFill>
                            <a:srgbClr val="1E293B"/>
                          </a:solidFill>
                        </a:defRPr>
                      </a:pPr>
                      <a:r>
                        <a:rPr sz="1600"/>
                        <a:t>28.33%</a:t>
                      </a:r>
                    </a:p>
                  </a:txBody>
                  <a:tcPr marL="36576" marR="36576" marT="18288" marB="18288">
                    <a:solidFill>
                      <a:srgbClr val="FFFFFF"/>
                    </a:solidFill>
                  </a:tcPr>
                </a:tc>
                <a:extLst>
                  <a:ext uri="{0D108BD9-81ED-4DB2-BD59-A6C34878D82A}">
                    <a16:rowId xmlns:a16="http://schemas.microsoft.com/office/drawing/2014/main" val="10003"/>
                  </a:ext>
                </a:extLst>
              </a:tr>
              <a:tr h="228600">
                <a:tc>
                  <a:txBody>
                    <a:bodyPr/>
                    <a:lstStyle/>
                    <a:p>
                      <a:pPr algn="l">
                        <a:defRPr sz="940" b="0">
                          <a:solidFill>
                            <a:srgbClr val="1E293B"/>
                          </a:solidFill>
                        </a:defRPr>
                      </a:pPr>
                      <a:r>
                        <a:rPr sz="1600"/>
                        <a:t>Aug + Stage2-only</a:t>
                      </a:r>
                    </a:p>
                  </a:txBody>
                  <a:tcPr marL="36576" marR="36576" marT="18288" marB="18288">
                    <a:solidFill>
                      <a:srgbClr val="F8FAFC"/>
                    </a:solidFill>
                  </a:tcPr>
                </a:tc>
                <a:tc>
                  <a:txBody>
                    <a:bodyPr/>
                    <a:lstStyle/>
                    <a:p>
                      <a:pPr algn="ctr">
                        <a:defRPr sz="940" b="0">
                          <a:solidFill>
                            <a:srgbClr val="1E293B"/>
                          </a:solidFill>
                        </a:defRPr>
                      </a:pPr>
                      <a:r>
                        <a:rPr sz="1600"/>
                        <a:t>0.2383</a:t>
                      </a:r>
                    </a:p>
                  </a:txBody>
                  <a:tcPr marL="36576" marR="36576" marT="18288" marB="18288">
                    <a:solidFill>
                      <a:srgbClr val="F8FAFC"/>
                    </a:solidFill>
                  </a:tcPr>
                </a:tc>
                <a:tc>
                  <a:txBody>
                    <a:bodyPr/>
                    <a:lstStyle/>
                    <a:p>
                      <a:pPr algn="ctr">
                        <a:defRPr sz="940" b="0">
                          <a:solidFill>
                            <a:srgbClr val="1E293B"/>
                          </a:solidFill>
                        </a:defRPr>
                      </a:pPr>
                      <a:r>
                        <a:rPr sz="1600"/>
                        <a:t>0.5048</a:t>
                      </a:r>
                    </a:p>
                  </a:txBody>
                  <a:tcPr marL="36576" marR="36576" marT="18288" marB="18288">
                    <a:solidFill>
                      <a:srgbClr val="F8FAFC"/>
                    </a:solidFill>
                  </a:tcPr>
                </a:tc>
                <a:tc>
                  <a:txBody>
                    <a:bodyPr/>
                    <a:lstStyle/>
                    <a:p>
                      <a:pPr algn="ctr">
                        <a:defRPr sz="940" b="0">
                          <a:solidFill>
                            <a:srgbClr val="1E293B"/>
                          </a:solidFill>
                        </a:defRPr>
                      </a:pPr>
                      <a:r>
                        <a:rPr sz="1600" dirty="0"/>
                        <a:t>17.71%</a:t>
                      </a:r>
                    </a:p>
                  </a:txBody>
                  <a:tcPr marL="36576" marR="36576" marT="18288" marB="18288">
                    <a:solidFill>
                      <a:srgbClr val="F8FA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89099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61C26-52C0-28F2-9A83-D54AB954AA6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0D4BEE-DE33-B072-EFF5-6BEE416DA990}"/>
              </a:ext>
            </a:extLst>
          </p:cNvPr>
          <p:cNvSpPr>
            <a:spLocks noGrp="1"/>
          </p:cNvSpPr>
          <p:nvPr>
            <p:ph type="sldNum" sz="quarter" idx="12"/>
          </p:nvPr>
        </p:nvSpPr>
        <p:spPr/>
        <p:txBody>
          <a:bodyPr/>
          <a:lstStyle/>
          <a:p>
            <a:fld id="{5A846D4C-743D-4A62-AF1E-2CABDD37274B}" type="slidenum">
              <a:rPr lang="en-US" smtClean="0"/>
              <a:t>19</a:t>
            </a:fld>
            <a:endParaRPr lang="en-US"/>
          </a:p>
        </p:txBody>
      </p:sp>
      <p:sp>
        <p:nvSpPr>
          <p:cNvPr id="3" name="文本框 2">
            <a:extLst>
              <a:ext uri="{FF2B5EF4-FFF2-40B4-BE49-F238E27FC236}">
                <a16:creationId xmlns:a16="http://schemas.microsoft.com/office/drawing/2014/main" id="{EFFDB450-68FA-C2F0-9681-7757D85239D2}"/>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SMILES Robustness Probe</a:t>
            </a:r>
          </a:p>
        </p:txBody>
      </p:sp>
      <p:sp>
        <p:nvSpPr>
          <p:cNvPr id="21" name="Text 3">
            <a:extLst>
              <a:ext uri="{FF2B5EF4-FFF2-40B4-BE49-F238E27FC236}">
                <a16:creationId xmlns:a16="http://schemas.microsoft.com/office/drawing/2014/main" id="{B40F8F18-6A60-6B6D-458E-9E2C3B4312BB}"/>
              </a:ext>
            </a:extLst>
          </p:cNvPr>
          <p:cNvSpPr/>
          <p:nvPr/>
        </p:nvSpPr>
        <p:spPr>
          <a:xfrm>
            <a:off x="403780" y="985650"/>
            <a:ext cx="10323576" cy="574868"/>
          </a:xfrm>
          <a:prstGeom prst="rect">
            <a:avLst/>
          </a:prstGeom>
          <a:noFill/>
          <a:ln/>
        </p:spPr>
        <p:txBody>
          <a:bodyPr wrap="square" lIns="0" tIns="0" rIns="0" bIns="0" rtlCol="0" anchor="ctr"/>
          <a:lstStyle/>
          <a:p>
            <a:r>
              <a:rPr lang="en-US" altLang="zh-CN" dirty="0">
                <a:solidFill>
                  <a:srgbClr val="6B7280"/>
                </a:solidFill>
              </a:rPr>
              <a:t>Direct test of whether augmentation reduces sensitivity to equivalent SMILES strings.</a:t>
            </a:r>
          </a:p>
        </p:txBody>
      </p:sp>
      <p:grpSp>
        <p:nvGrpSpPr>
          <p:cNvPr id="27" name="组合 26">
            <a:extLst>
              <a:ext uri="{FF2B5EF4-FFF2-40B4-BE49-F238E27FC236}">
                <a16:creationId xmlns:a16="http://schemas.microsoft.com/office/drawing/2014/main" id="{94F32A84-5CB5-B8FD-65BE-01C602A46639}"/>
              </a:ext>
            </a:extLst>
          </p:cNvPr>
          <p:cNvGrpSpPr/>
          <p:nvPr/>
        </p:nvGrpSpPr>
        <p:grpSpPr>
          <a:xfrm>
            <a:off x="567055" y="5218321"/>
            <a:ext cx="10970255" cy="1418454"/>
            <a:chOff x="1280160" y="5108446"/>
            <a:chExt cx="9942574" cy="1418454"/>
          </a:xfrm>
        </p:grpSpPr>
        <p:sp>
          <p:nvSpPr>
            <p:cNvPr id="23" name="Shape 4">
              <a:extLst>
                <a:ext uri="{FF2B5EF4-FFF2-40B4-BE49-F238E27FC236}">
                  <a16:creationId xmlns:a16="http://schemas.microsoft.com/office/drawing/2014/main" id="{B2513AC0-4051-195B-D48E-A4E36DA9A196}"/>
                </a:ext>
              </a:extLst>
            </p:cNvPr>
            <p:cNvSpPr/>
            <p:nvPr/>
          </p:nvSpPr>
          <p:spPr>
            <a:xfrm>
              <a:off x="1280160" y="5108448"/>
              <a:ext cx="9942574" cy="1418452"/>
            </a:xfrm>
            <a:prstGeom prst="roundRect">
              <a:avLst>
                <a:gd name="adj" fmla="val 6154"/>
              </a:avLst>
            </a:prstGeom>
            <a:solidFill>
              <a:srgbClr val="FFFFFF"/>
            </a:solidFill>
            <a:ln w="10160">
              <a:solidFill>
                <a:srgbClr val="D1D5DB"/>
              </a:solidFill>
              <a:prstDash val="solid"/>
            </a:ln>
          </p:spPr>
          <p:txBody>
            <a:bodyPr/>
            <a:lstStyle/>
            <a:p>
              <a:endParaRPr lang="en-US"/>
            </a:p>
          </p:txBody>
        </p:sp>
        <p:sp>
          <p:nvSpPr>
            <p:cNvPr id="24" name="Shape 5">
              <a:extLst>
                <a:ext uri="{FF2B5EF4-FFF2-40B4-BE49-F238E27FC236}">
                  <a16:creationId xmlns:a16="http://schemas.microsoft.com/office/drawing/2014/main" id="{EDD66829-9DB8-06BD-FFC0-BF687EB3AB3C}"/>
                </a:ext>
              </a:extLst>
            </p:cNvPr>
            <p:cNvSpPr/>
            <p:nvPr/>
          </p:nvSpPr>
          <p:spPr>
            <a:xfrm>
              <a:off x="1280160" y="5108446"/>
              <a:ext cx="41436" cy="1418452"/>
            </a:xfrm>
            <a:prstGeom prst="rect">
              <a:avLst/>
            </a:prstGeom>
            <a:solidFill>
              <a:schemeClr val="tx2">
                <a:lumMod val="75000"/>
                <a:lumOff val="25000"/>
              </a:schemeClr>
            </a:solidFill>
            <a:ln w="12700">
              <a:solidFill>
                <a:srgbClr val="047857">
                  <a:alpha val="0"/>
                </a:srgbClr>
              </a:solidFill>
              <a:prstDash val="solid"/>
            </a:ln>
          </p:spPr>
          <p:txBody>
            <a:bodyPr/>
            <a:lstStyle/>
            <a:p>
              <a:endParaRPr lang="en-US"/>
            </a:p>
          </p:txBody>
        </p:sp>
        <p:sp>
          <p:nvSpPr>
            <p:cNvPr id="25" name="Text 6">
              <a:extLst>
                <a:ext uri="{FF2B5EF4-FFF2-40B4-BE49-F238E27FC236}">
                  <a16:creationId xmlns:a16="http://schemas.microsoft.com/office/drawing/2014/main" id="{9D9D87B4-7470-4309-7169-38A609489A52}"/>
                </a:ext>
              </a:extLst>
            </p:cNvPr>
            <p:cNvSpPr/>
            <p:nvPr/>
          </p:nvSpPr>
          <p:spPr>
            <a:xfrm>
              <a:off x="1515473" y="5181903"/>
              <a:ext cx="9372600" cy="438912"/>
            </a:xfrm>
            <a:prstGeom prst="rect">
              <a:avLst/>
            </a:prstGeom>
            <a:noFill/>
            <a:ln/>
          </p:spPr>
          <p:txBody>
            <a:bodyPr wrap="square" lIns="0" tIns="0" rIns="0" bIns="0" rtlCol="0" anchor="ctr"/>
            <a:lstStyle/>
            <a:p>
              <a:r>
                <a:rPr lang="en-US" altLang="zh-CN" sz="2000" b="1" dirty="0">
                  <a:solidFill>
                    <a:srgbClr val="111827"/>
                  </a:solidFill>
                </a:rPr>
                <a:t>Mechanistic interpretation</a:t>
              </a:r>
              <a:endParaRPr lang="en-US" altLang="zh-CN" sz="2000" dirty="0"/>
            </a:p>
          </p:txBody>
        </p:sp>
        <p:sp>
          <p:nvSpPr>
            <p:cNvPr id="26" name="Text 7">
              <a:extLst>
                <a:ext uri="{FF2B5EF4-FFF2-40B4-BE49-F238E27FC236}">
                  <a16:creationId xmlns:a16="http://schemas.microsoft.com/office/drawing/2014/main" id="{8CB83F9C-BFD0-6237-5BAD-0B85762FAE82}"/>
                </a:ext>
              </a:extLst>
            </p:cNvPr>
            <p:cNvSpPr/>
            <p:nvPr/>
          </p:nvSpPr>
          <p:spPr>
            <a:xfrm>
              <a:off x="1530095" y="5664387"/>
              <a:ext cx="9692639" cy="780899"/>
            </a:xfrm>
            <a:prstGeom prst="rect">
              <a:avLst/>
            </a:prstGeom>
            <a:noFill/>
            <a:ln/>
          </p:spPr>
          <p:txBody>
            <a:bodyPr wrap="square" lIns="254" tIns="254" rIns="254" bIns="254" rtlCol="0" anchor="t">
              <a:noAutofit/>
            </a:bodyPr>
            <a:lstStyle/>
            <a:p>
              <a:r>
                <a:rPr lang="en-US" altLang="zh-CN" sz="1700" dirty="0">
                  <a:solidFill>
                    <a:srgbClr val="374151"/>
                  </a:solidFill>
                </a:rPr>
                <a:t>The augmented model is less sensitive to equivalent SMILES representations, directly supporting the proposed augmentation mechanism.</a:t>
              </a:r>
              <a:r>
                <a:rPr lang="en-US" altLang="zh-CN" sz="1700" dirty="0"/>
                <a:t> This robustness probe is post-hoc evidence using matched checkpoints, not a new full CV training experiment</a:t>
              </a:r>
            </a:p>
          </p:txBody>
        </p:sp>
      </p:grpSp>
      <p:sp>
        <p:nvSpPr>
          <p:cNvPr id="28" name="Rounded Rectangle 5">
            <a:extLst>
              <a:ext uri="{FF2B5EF4-FFF2-40B4-BE49-F238E27FC236}">
                <a16:creationId xmlns:a16="http://schemas.microsoft.com/office/drawing/2014/main" id="{8326EBAF-CEEB-2EAE-E4A9-A52725EFBAA9}"/>
              </a:ext>
            </a:extLst>
          </p:cNvPr>
          <p:cNvSpPr/>
          <p:nvPr/>
        </p:nvSpPr>
        <p:spPr>
          <a:xfrm>
            <a:off x="403780" y="1639679"/>
            <a:ext cx="3703320" cy="3187435"/>
          </a:xfrm>
          <a:prstGeom prst="roundRect">
            <a:avLst>
              <a:gd name="adj" fmla="val 8338"/>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6">
            <a:extLst>
              <a:ext uri="{FF2B5EF4-FFF2-40B4-BE49-F238E27FC236}">
                <a16:creationId xmlns:a16="http://schemas.microsoft.com/office/drawing/2014/main" id="{26AD2596-5CC2-7465-CF66-441543C26B1E}"/>
              </a:ext>
            </a:extLst>
          </p:cNvPr>
          <p:cNvSpPr txBox="1"/>
          <p:nvPr/>
        </p:nvSpPr>
        <p:spPr>
          <a:xfrm>
            <a:off x="655240" y="1729894"/>
            <a:ext cx="3200400" cy="344710"/>
          </a:xfrm>
          <a:prstGeom prst="rect">
            <a:avLst/>
          </a:prstGeom>
          <a:noFill/>
        </p:spPr>
        <p:txBody>
          <a:bodyPr wrap="square" lIns="27432" tIns="18288" rIns="27432" bIns="18288" anchor="t">
            <a:spAutoFit/>
          </a:bodyPr>
          <a:lstStyle/>
          <a:p>
            <a:pPr algn="l">
              <a:defRPr sz="1430" b="1">
                <a:solidFill>
                  <a:srgbClr val="1E293B"/>
                </a:solidFill>
              </a:defRPr>
            </a:pPr>
            <a:r>
              <a:rPr sz="2000" dirty="0"/>
              <a:t>Probe setup</a:t>
            </a:r>
          </a:p>
        </p:txBody>
      </p:sp>
      <p:sp>
        <p:nvSpPr>
          <p:cNvPr id="30" name="Rounded Rectangle 7">
            <a:extLst>
              <a:ext uri="{FF2B5EF4-FFF2-40B4-BE49-F238E27FC236}">
                <a16:creationId xmlns:a16="http://schemas.microsoft.com/office/drawing/2014/main" id="{4C7DFADD-3F99-3D90-9F1E-5F219D0DAEDE}"/>
              </a:ext>
            </a:extLst>
          </p:cNvPr>
          <p:cNvSpPr/>
          <p:nvPr/>
        </p:nvSpPr>
        <p:spPr>
          <a:xfrm>
            <a:off x="796972" y="2234039"/>
            <a:ext cx="2926080" cy="43891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8">
            <a:extLst>
              <a:ext uri="{FF2B5EF4-FFF2-40B4-BE49-F238E27FC236}">
                <a16:creationId xmlns:a16="http://schemas.microsoft.com/office/drawing/2014/main" id="{22D7D783-D6F1-E7B9-5A0C-B98BDA5BB811}"/>
              </a:ext>
            </a:extLst>
          </p:cNvPr>
          <p:cNvSpPr txBox="1"/>
          <p:nvPr/>
        </p:nvSpPr>
        <p:spPr>
          <a:xfrm>
            <a:off x="897556" y="2325479"/>
            <a:ext cx="2724912" cy="283154"/>
          </a:xfrm>
          <a:prstGeom prst="rect">
            <a:avLst/>
          </a:prstGeom>
          <a:noFill/>
        </p:spPr>
        <p:txBody>
          <a:bodyPr wrap="square" lIns="27432" tIns="18288" rIns="27432" bIns="18288" anchor="t">
            <a:spAutoFit/>
          </a:bodyPr>
          <a:lstStyle/>
          <a:p>
            <a:pPr algn="ctr">
              <a:defRPr sz="1019" b="0">
                <a:solidFill>
                  <a:srgbClr val="1E293B"/>
                </a:solidFill>
              </a:defRPr>
            </a:pPr>
            <a:r>
              <a:rPr sz="1600" dirty="0"/>
              <a:t>Same molecule</a:t>
            </a:r>
          </a:p>
        </p:txBody>
      </p:sp>
      <p:sp>
        <p:nvSpPr>
          <p:cNvPr id="32" name="Rounded Rectangle 9">
            <a:extLst>
              <a:ext uri="{FF2B5EF4-FFF2-40B4-BE49-F238E27FC236}">
                <a16:creationId xmlns:a16="http://schemas.microsoft.com/office/drawing/2014/main" id="{A1314E3E-EC6C-F4F2-A1AB-AFFB3C8EDEBC}"/>
              </a:ext>
            </a:extLst>
          </p:cNvPr>
          <p:cNvSpPr/>
          <p:nvPr/>
        </p:nvSpPr>
        <p:spPr>
          <a:xfrm>
            <a:off x="796972" y="2903615"/>
            <a:ext cx="2926080" cy="438912"/>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10">
            <a:extLst>
              <a:ext uri="{FF2B5EF4-FFF2-40B4-BE49-F238E27FC236}">
                <a16:creationId xmlns:a16="http://schemas.microsoft.com/office/drawing/2014/main" id="{5753D6CA-F3C6-CAD3-D0EE-EC96BA8DB851}"/>
              </a:ext>
            </a:extLst>
          </p:cNvPr>
          <p:cNvSpPr txBox="1"/>
          <p:nvPr/>
        </p:nvSpPr>
        <p:spPr>
          <a:xfrm>
            <a:off x="826690" y="2995054"/>
            <a:ext cx="2958084" cy="283154"/>
          </a:xfrm>
          <a:prstGeom prst="rect">
            <a:avLst/>
          </a:prstGeom>
          <a:noFill/>
        </p:spPr>
        <p:txBody>
          <a:bodyPr wrap="square" lIns="27432" tIns="18288" rIns="27432" bIns="18288" anchor="t">
            <a:spAutoFit/>
          </a:bodyPr>
          <a:lstStyle/>
          <a:p>
            <a:pPr algn="ctr">
              <a:defRPr sz="1019" b="0">
                <a:solidFill>
                  <a:srgbClr val="1E293B"/>
                </a:solidFill>
              </a:defRPr>
            </a:pPr>
            <a:r>
              <a:rPr sz="1600" dirty="0"/>
              <a:t>Equivalent randomized SMILES</a:t>
            </a:r>
          </a:p>
        </p:txBody>
      </p:sp>
      <p:sp>
        <p:nvSpPr>
          <p:cNvPr id="34" name="Rounded Rectangle 11">
            <a:extLst>
              <a:ext uri="{FF2B5EF4-FFF2-40B4-BE49-F238E27FC236}">
                <a16:creationId xmlns:a16="http://schemas.microsoft.com/office/drawing/2014/main" id="{A816719B-6047-0A86-CBE8-0AF4F95BC472}"/>
              </a:ext>
            </a:extLst>
          </p:cNvPr>
          <p:cNvSpPr/>
          <p:nvPr/>
        </p:nvSpPr>
        <p:spPr>
          <a:xfrm>
            <a:off x="796972" y="3553527"/>
            <a:ext cx="2926080" cy="438912"/>
          </a:xfrm>
          <a:prstGeom prst="roundRect">
            <a:avLst/>
          </a:prstGeom>
          <a:solidFill>
            <a:srgbClr val="EFF6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2">
            <a:extLst>
              <a:ext uri="{FF2B5EF4-FFF2-40B4-BE49-F238E27FC236}">
                <a16:creationId xmlns:a16="http://schemas.microsoft.com/office/drawing/2014/main" id="{E00F69A0-C227-371A-95C3-8B4B4C6B3B0C}"/>
              </a:ext>
            </a:extLst>
          </p:cNvPr>
          <p:cNvSpPr txBox="1"/>
          <p:nvPr/>
        </p:nvSpPr>
        <p:spPr>
          <a:xfrm>
            <a:off x="897556" y="3644967"/>
            <a:ext cx="2724912" cy="283154"/>
          </a:xfrm>
          <a:prstGeom prst="rect">
            <a:avLst/>
          </a:prstGeom>
          <a:noFill/>
        </p:spPr>
        <p:txBody>
          <a:bodyPr wrap="square" lIns="27432" tIns="18288" rIns="27432" bIns="18288" anchor="t">
            <a:spAutoFit/>
          </a:bodyPr>
          <a:lstStyle/>
          <a:p>
            <a:pPr algn="ctr">
              <a:defRPr sz="1019" b="1">
                <a:solidFill>
                  <a:srgbClr val="2563EB"/>
                </a:solidFill>
              </a:defRPr>
            </a:pPr>
            <a:r>
              <a:rPr sz="1600" dirty="0"/>
              <a:t>Same </a:t>
            </a:r>
            <a:r>
              <a:rPr sz="1600" dirty="0" err="1"/>
              <a:t>Energy_min</a:t>
            </a:r>
            <a:r>
              <a:rPr sz="1600" dirty="0"/>
              <a:t> label</a:t>
            </a:r>
          </a:p>
        </p:txBody>
      </p:sp>
      <p:sp>
        <p:nvSpPr>
          <p:cNvPr id="36" name="Rounded Rectangle 13">
            <a:extLst>
              <a:ext uri="{FF2B5EF4-FFF2-40B4-BE49-F238E27FC236}">
                <a16:creationId xmlns:a16="http://schemas.microsoft.com/office/drawing/2014/main" id="{4C0643F2-12C2-F29D-A888-405CC77AD794}"/>
              </a:ext>
            </a:extLst>
          </p:cNvPr>
          <p:cNvSpPr/>
          <p:nvPr/>
        </p:nvSpPr>
        <p:spPr>
          <a:xfrm>
            <a:off x="796972" y="4242766"/>
            <a:ext cx="2926080" cy="438912"/>
          </a:xfrm>
          <a:prstGeom prst="roundRect">
            <a:avLst/>
          </a:prstGeom>
          <a:solidFill>
            <a:srgbClr val="ECFDF5"/>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14">
            <a:extLst>
              <a:ext uri="{FF2B5EF4-FFF2-40B4-BE49-F238E27FC236}">
                <a16:creationId xmlns:a16="http://schemas.microsoft.com/office/drawing/2014/main" id="{F70C82BE-EEBF-C2FE-A31B-B38C3A93AD4D}"/>
              </a:ext>
            </a:extLst>
          </p:cNvPr>
          <p:cNvSpPr txBox="1"/>
          <p:nvPr/>
        </p:nvSpPr>
        <p:spPr>
          <a:xfrm>
            <a:off x="897556" y="4334206"/>
            <a:ext cx="2724912" cy="283154"/>
          </a:xfrm>
          <a:prstGeom prst="rect">
            <a:avLst/>
          </a:prstGeom>
          <a:noFill/>
        </p:spPr>
        <p:txBody>
          <a:bodyPr wrap="square" lIns="27432" tIns="18288" rIns="27432" bIns="18288" anchor="t">
            <a:spAutoFit/>
          </a:bodyPr>
          <a:lstStyle/>
          <a:p>
            <a:pPr algn="ctr">
              <a:defRPr sz="1019" b="1">
                <a:solidFill>
                  <a:srgbClr val="10B981"/>
                </a:solidFill>
              </a:defRPr>
            </a:pPr>
            <a:r>
              <a:rPr sz="1600" dirty="0"/>
              <a:t>Measure prediction stability</a:t>
            </a:r>
          </a:p>
        </p:txBody>
      </p:sp>
      <p:sp>
        <p:nvSpPr>
          <p:cNvPr id="38" name="Down Arrow 15">
            <a:extLst>
              <a:ext uri="{FF2B5EF4-FFF2-40B4-BE49-F238E27FC236}">
                <a16:creationId xmlns:a16="http://schemas.microsoft.com/office/drawing/2014/main" id="{3D3F156F-FE64-C3E2-E1FA-E2A54A681D31}"/>
              </a:ext>
            </a:extLst>
          </p:cNvPr>
          <p:cNvSpPr/>
          <p:nvPr/>
        </p:nvSpPr>
        <p:spPr>
          <a:xfrm>
            <a:off x="1985692" y="2691239"/>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own Arrow 16">
            <a:extLst>
              <a:ext uri="{FF2B5EF4-FFF2-40B4-BE49-F238E27FC236}">
                <a16:creationId xmlns:a16="http://schemas.microsoft.com/office/drawing/2014/main" id="{40B73CF1-3B47-CD33-92B2-F2BB7D230E58}"/>
              </a:ext>
            </a:extLst>
          </p:cNvPr>
          <p:cNvSpPr/>
          <p:nvPr/>
        </p:nvSpPr>
        <p:spPr>
          <a:xfrm>
            <a:off x="1985692" y="3341151"/>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Down Arrow 17">
            <a:extLst>
              <a:ext uri="{FF2B5EF4-FFF2-40B4-BE49-F238E27FC236}">
                <a16:creationId xmlns:a16="http://schemas.microsoft.com/office/drawing/2014/main" id="{34EB056B-E328-DFC8-7BEF-72C4024DD4E4}"/>
              </a:ext>
            </a:extLst>
          </p:cNvPr>
          <p:cNvSpPr/>
          <p:nvPr/>
        </p:nvSpPr>
        <p:spPr>
          <a:xfrm>
            <a:off x="1985692" y="4000895"/>
            <a:ext cx="320040" cy="210312"/>
          </a:xfrm>
          <a:prstGeom prst="downArrow">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1" name="Table 18">
            <a:extLst>
              <a:ext uri="{FF2B5EF4-FFF2-40B4-BE49-F238E27FC236}">
                <a16:creationId xmlns:a16="http://schemas.microsoft.com/office/drawing/2014/main" id="{B2CC6F96-9961-2F87-3C9C-BDB4784F13EA}"/>
              </a:ext>
            </a:extLst>
          </p:cNvPr>
          <p:cNvGraphicFramePr>
            <a:graphicFrameLocks noGrp="1"/>
          </p:cNvGraphicFramePr>
          <p:nvPr>
            <p:extLst>
              <p:ext uri="{D42A27DB-BD31-4B8C-83A1-F6EECF244321}">
                <p14:modId xmlns:p14="http://schemas.microsoft.com/office/powerpoint/2010/main" val="3652809304"/>
              </p:ext>
            </p:extLst>
          </p:nvPr>
        </p:nvGraphicFramePr>
        <p:xfrm>
          <a:off x="4363132" y="1639679"/>
          <a:ext cx="6949439" cy="1438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algn="l">
                        <a:defRPr sz="930" b="1">
                          <a:solidFill>
                            <a:srgbClr val="FFFFFF"/>
                          </a:solidFill>
                        </a:defRPr>
                      </a:pPr>
                      <a:r>
                        <a:rPr sz="1600" dirty="0"/>
                        <a:t>Model</a:t>
                      </a:r>
                    </a:p>
                  </a:txBody>
                  <a:tcPr marL="36576" marR="36576" marT="18288" marB="18288">
                    <a:solidFill>
                      <a:srgbClr val="043763"/>
                    </a:solidFill>
                  </a:tcPr>
                </a:tc>
                <a:tc>
                  <a:txBody>
                    <a:bodyPr/>
                    <a:lstStyle/>
                    <a:p>
                      <a:pPr algn="ctr">
                        <a:defRPr sz="930" b="1">
                          <a:solidFill>
                            <a:srgbClr val="FFFFFF"/>
                          </a:solidFill>
                        </a:defRPr>
                      </a:pPr>
                      <a:r>
                        <a:rPr sz="1600"/>
                        <a:t>Prediction std across variants</a:t>
                      </a:r>
                    </a:p>
                  </a:txBody>
                  <a:tcPr marL="36576" marR="36576" marT="18288" marB="18288">
                    <a:solidFill>
                      <a:srgbClr val="043763"/>
                    </a:solidFill>
                  </a:tcPr>
                </a:tc>
                <a:tc>
                  <a:txBody>
                    <a:bodyPr/>
                    <a:lstStyle/>
                    <a:p>
                      <a:pPr algn="ctr">
                        <a:defRPr sz="930" b="1">
                          <a:solidFill>
                            <a:srgbClr val="FFFFFF"/>
                          </a:solidFill>
                        </a:defRPr>
                      </a:pPr>
                      <a:r>
                        <a:rPr sz="1600"/>
                        <a:t>Randomized RMSE degradation</a:t>
                      </a:r>
                    </a:p>
                  </a:txBody>
                  <a:tcPr marL="36576" marR="36576" marT="18288" marB="18288">
                    <a:solidFill>
                      <a:srgbClr val="043763"/>
                    </a:solidFill>
                  </a:tcPr>
                </a:tc>
                <a:tc>
                  <a:txBody>
                    <a:bodyPr/>
                    <a:lstStyle/>
                    <a:p>
                      <a:pPr algn="ctr">
                        <a:defRPr sz="930" b="1">
                          <a:solidFill>
                            <a:srgbClr val="FFFFFF"/>
                          </a:solidFill>
                        </a:defRPr>
                      </a:pPr>
                      <a:r>
                        <a:rPr sz="1600"/>
                        <a:t>All-variant RMSE</a:t>
                      </a:r>
                    </a:p>
                  </a:txBody>
                  <a:tcPr marL="36576" marR="36576" marT="18288" marB="18288">
                    <a:solidFill>
                      <a:srgbClr val="043763"/>
                    </a:solidFill>
                  </a:tcPr>
                </a:tc>
                <a:extLst>
                  <a:ext uri="{0D108BD9-81ED-4DB2-BD59-A6C34878D82A}">
                    <a16:rowId xmlns:a16="http://schemas.microsoft.com/office/drawing/2014/main" val="10000"/>
                  </a:ext>
                </a:extLst>
              </a:tr>
              <a:tr h="457200">
                <a:tc>
                  <a:txBody>
                    <a:bodyPr/>
                    <a:lstStyle/>
                    <a:p>
                      <a:pPr algn="l">
                        <a:defRPr sz="880" b="0">
                          <a:solidFill>
                            <a:srgbClr val="1E293B"/>
                          </a:solidFill>
                        </a:defRPr>
                      </a:pPr>
                      <a:r>
                        <a:rPr sz="1600"/>
                        <a:t>No Aug + Two-stage</a:t>
                      </a:r>
                    </a:p>
                  </a:txBody>
                  <a:tcPr marL="36576" marR="36576" marT="18288" marB="18288">
                    <a:solidFill>
                      <a:srgbClr val="FFFFFF"/>
                    </a:solidFill>
                  </a:tcPr>
                </a:tc>
                <a:tc>
                  <a:txBody>
                    <a:bodyPr/>
                    <a:lstStyle/>
                    <a:p>
                      <a:pPr algn="ctr">
                        <a:defRPr sz="880" b="0">
                          <a:solidFill>
                            <a:srgbClr val="1E293B"/>
                          </a:solidFill>
                        </a:defRPr>
                      </a:pPr>
                      <a:r>
                        <a:rPr sz="1600"/>
                        <a:t>0.0805</a:t>
                      </a:r>
                    </a:p>
                  </a:txBody>
                  <a:tcPr marL="36576" marR="36576" marT="18288" marB="18288">
                    <a:solidFill>
                      <a:srgbClr val="FFFFFF"/>
                    </a:solidFill>
                  </a:tcPr>
                </a:tc>
                <a:tc>
                  <a:txBody>
                    <a:bodyPr/>
                    <a:lstStyle/>
                    <a:p>
                      <a:pPr algn="ctr">
                        <a:defRPr sz="880" b="0">
                          <a:solidFill>
                            <a:srgbClr val="1E293B"/>
                          </a:solidFill>
                        </a:defRPr>
                      </a:pPr>
                      <a:r>
                        <a:rPr sz="1600"/>
                        <a:t>0.0262</a:t>
                      </a:r>
                    </a:p>
                  </a:txBody>
                  <a:tcPr marL="36576" marR="36576" marT="18288" marB="18288">
                    <a:solidFill>
                      <a:srgbClr val="FFFFFF"/>
                    </a:solidFill>
                  </a:tcPr>
                </a:tc>
                <a:tc>
                  <a:txBody>
                    <a:bodyPr/>
                    <a:lstStyle/>
                    <a:p>
                      <a:pPr algn="ctr">
                        <a:defRPr sz="880" b="0">
                          <a:solidFill>
                            <a:srgbClr val="1E293B"/>
                          </a:solidFill>
                        </a:defRPr>
                      </a:pPr>
                      <a:r>
                        <a:rPr sz="1600"/>
                        <a:t>0.1662</a:t>
                      </a:r>
                    </a:p>
                  </a:txBody>
                  <a:tcPr marL="36576" marR="36576" marT="18288" marB="18288">
                    <a:solidFill>
                      <a:srgbClr val="FFFFFF"/>
                    </a:solidFill>
                  </a:tcPr>
                </a:tc>
                <a:extLst>
                  <a:ext uri="{0D108BD9-81ED-4DB2-BD59-A6C34878D82A}">
                    <a16:rowId xmlns:a16="http://schemas.microsoft.com/office/drawing/2014/main" val="10001"/>
                  </a:ext>
                </a:extLst>
              </a:tr>
              <a:tr h="457200">
                <a:tc>
                  <a:txBody>
                    <a:bodyPr/>
                    <a:lstStyle/>
                    <a:p>
                      <a:pPr algn="l">
                        <a:defRPr sz="880" b="1">
                          <a:solidFill>
                            <a:srgbClr val="1E293B"/>
                          </a:solidFill>
                        </a:defRPr>
                      </a:pPr>
                      <a:r>
                        <a:rPr sz="1600"/>
                        <a:t>Aug + Two-stage</a:t>
                      </a:r>
                    </a:p>
                  </a:txBody>
                  <a:tcPr marL="36576" marR="36576" marT="18288" marB="18288">
                    <a:solidFill>
                      <a:srgbClr val="EFF6FF"/>
                    </a:solidFill>
                  </a:tcPr>
                </a:tc>
                <a:tc>
                  <a:txBody>
                    <a:bodyPr/>
                    <a:lstStyle/>
                    <a:p>
                      <a:pPr algn="ctr">
                        <a:defRPr sz="880" b="1">
                          <a:solidFill>
                            <a:srgbClr val="1E293B"/>
                          </a:solidFill>
                        </a:defRPr>
                      </a:pPr>
                      <a:r>
                        <a:rPr sz="1600"/>
                        <a:t>0.0628</a:t>
                      </a:r>
                    </a:p>
                  </a:txBody>
                  <a:tcPr marL="36576" marR="36576" marT="18288" marB="18288">
                    <a:solidFill>
                      <a:srgbClr val="EFF6FF"/>
                    </a:solidFill>
                  </a:tcPr>
                </a:tc>
                <a:tc>
                  <a:txBody>
                    <a:bodyPr/>
                    <a:lstStyle/>
                    <a:p>
                      <a:pPr algn="ctr">
                        <a:defRPr sz="880" b="1">
                          <a:solidFill>
                            <a:srgbClr val="1E293B"/>
                          </a:solidFill>
                        </a:defRPr>
                      </a:pPr>
                      <a:r>
                        <a:rPr sz="1600"/>
                        <a:t>0.0231</a:t>
                      </a:r>
                    </a:p>
                  </a:txBody>
                  <a:tcPr marL="36576" marR="36576" marT="18288" marB="18288">
                    <a:solidFill>
                      <a:srgbClr val="EFF6FF"/>
                    </a:solidFill>
                  </a:tcPr>
                </a:tc>
                <a:tc>
                  <a:txBody>
                    <a:bodyPr/>
                    <a:lstStyle/>
                    <a:p>
                      <a:pPr algn="ctr">
                        <a:defRPr sz="880" b="1">
                          <a:solidFill>
                            <a:srgbClr val="1E293B"/>
                          </a:solidFill>
                        </a:defRPr>
                      </a:pPr>
                      <a:r>
                        <a:rPr sz="1600" dirty="0"/>
                        <a:t>0.1493</a:t>
                      </a:r>
                    </a:p>
                  </a:txBody>
                  <a:tcPr marL="36576" marR="36576" marT="18288" marB="18288">
                    <a:solidFill>
                      <a:srgbClr val="EFF6FF"/>
                    </a:solidFill>
                  </a:tcPr>
                </a:tc>
                <a:extLst>
                  <a:ext uri="{0D108BD9-81ED-4DB2-BD59-A6C34878D82A}">
                    <a16:rowId xmlns:a16="http://schemas.microsoft.com/office/drawing/2014/main" val="10002"/>
                  </a:ext>
                </a:extLst>
              </a:tr>
            </a:tbl>
          </a:graphicData>
        </a:graphic>
      </p:graphicFrame>
      <p:pic>
        <p:nvPicPr>
          <p:cNvPr id="44" name="Picture 21" descr="slide20_robustness_arrows.png">
            <a:extLst>
              <a:ext uri="{FF2B5EF4-FFF2-40B4-BE49-F238E27FC236}">
                <a16:creationId xmlns:a16="http://schemas.microsoft.com/office/drawing/2014/main" id="{A88CA0CF-BBC8-E37B-8A71-D5C6DB80BAED}"/>
              </a:ext>
            </a:extLst>
          </p:cNvPr>
          <p:cNvPicPr>
            <a:picLocks noChangeAspect="1"/>
          </p:cNvPicPr>
          <p:nvPr/>
        </p:nvPicPr>
        <p:blipFill>
          <a:blip r:embed="rId2"/>
          <a:stretch>
            <a:fillRect/>
          </a:stretch>
        </p:blipFill>
        <p:spPr>
          <a:xfrm>
            <a:off x="4207684" y="3288565"/>
            <a:ext cx="7329626" cy="1984925"/>
          </a:xfrm>
          <a:prstGeom prst="rect">
            <a:avLst/>
          </a:prstGeom>
        </p:spPr>
      </p:pic>
    </p:spTree>
    <p:extLst>
      <p:ext uri="{BB962C8B-B14F-4D97-AF65-F5344CB8AC3E}">
        <p14:creationId xmlns:p14="http://schemas.microsoft.com/office/powerpoint/2010/main" val="2057558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1687-AF2F-75CF-D39D-DB0575B9E7C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38DC08-AF2A-0A2A-9455-DBA2341E9D99}"/>
              </a:ext>
            </a:extLst>
          </p:cNvPr>
          <p:cNvSpPr>
            <a:spLocks noGrp="1"/>
          </p:cNvSpPr>
          <p:nvPr>
            <p:ph type="sldNum" sz="quarter" idx="12"/>
          </p:nvPr>
        </p:nvSpPr>
        <p:spPr/>
        <p:txBody>
          <a:bodyPr/>
          <a:lstStyle/>
          <a:p>
            <a:r>
              <a:rPr lang="en-US" dirty="0"/>
              <a:t>2</a:t>
            </a:r>
          </a:p>
        </p:txBody>
      </p:sp>
      <p:sp>
        <p:nvSpPr>
          <p:cNvPr id="5" name="文本框 4">
            <a:extLst>
              <a:ext uri="{FF2B5EF4-FFF2-40B4-BE49-F238E27FC236}">
                <a16:creationId xmlns:a16="http://schemas.microsoft.com/office/drawing/2014/main" id="{02229D08-4CD1-54E7-6949-BDF707B8F98D}"/>
              </a:ext>
            </a:extLst>
          </p:cNvPr>
          <p:cNvSpPr txBox="1"/>
          <p:nvPr/>
        </p:nvSpPr>
        <p:spPr>
          <a:xfrm>
            <a:off x="273652" y="304514"/>
            <a:ext cx="4500478" cy="574869"/>
          </a:xfrm>
          <a:prstGeom prst="rect">
            <a:avLst/>
          </a:prstGeom>
        </p:spPr>
        <p:txBody>
          <a:bodyPr vert="horz" lIns="91440" tIns="45720" rIns="91440" bIns="45720" rtlCol="0" anchor="ctr">
            <a:normAutofit lnSpcReduction="10000"/>
          </a:bodyPr>
          <a:lstStyle/>
          <a:p>
            <a:pPr>
              <a:spcBef>
                <a:spcPct val="0"/>
              </a:spcBef>
            </a:pPr>
            <a:r>
              <a:rPr lang="en-US" altLang="zh-CN" sz="3200" b="1" kern="1200" dirty="0">
                <a:solidFill>
                  <a:schemeClr val="tx1"/>
                </a:solidFill>
                <a:latin typeface="Segoe UI Black" panose="020B0A02040204020203" pitchFamily="34" charset="0"/>
                <a:ea typeface="Segoe UI Black" panose="020B0A02040204020203" pitchFamily="34" charset="0"/>
                <a:cs typeface="+mj-cs"/>
              </a:rPr>
              <a:t>Outline</a:t>
            </a:r>
            <a:endParaRPr lang="en-US" sz="3200" b="1" kern="1200" dirty="0">
              <a:solidFill>
                <a:schemeClr val="tx1"/>
              </a:solidFill>
              <a:latin typeface="Segoe UI Black" panose="020B0A02040204020203" pitchFamily="34" charset="0"/>
              <a:ea typeface="Segoe UI Black" panose="020B0A02040204020203" pitchFamily="34" charset="0"/>
              <a:cs typeface="+mj-cs"/>
            </a:endParaRPr>
          </a:p>
        </p:txBody>
      </p:sp>
      <p:sp>
        <p:nvSpPr>
          <p:cNvPr id="3" name="文本框 2">
            <a:extLst>
              <a:ext uri="{FF2B5EF4-FFF2-40B4-BE49-F238E27FC236}">
                <a16:creationId xmlns:a16="http://schemas.microsoft.com/office/drawing/2014/main" id="{F151E514-0DDB-B8E7-5EA2-CF7D1A51BB90}"/>
              </a:ext>
            </a:extLst>
          </p:cNvPr>
          <p:cNvSpPr txBox="1"/>
          <p:nvPr/>
        </p:nvSpPr>
        <p:spPr>
          <a:xfrm>
            <a:off x="1666714" y="1268760"/>
            <a:ext cx="8856984" cy="3970318"/>
          </a:xfrm>
          <a:prstGeom prst="rect">
            <a:avLst/>
          </a:prstGeom>
          <a:noFill/>
        </p:spPr>
        <p:txBody>
          <a:bodyPr wrap="square">
            <a:spAutoFit/>
          </a:bodyPr>
          <a:lstStyle/>
          <a:p>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a:t>
            </a:r>
            <a:r>
              <a:rPr lang="en-US" altLang="zh-CN" sz="2800" b="1" dirty="0">
                <a:ea typeface="Segoe UI Black" panose="020B0A02040204020203" pitchFamily="34" charset="0"/>
              </a:rPr>
              <a:t>Background and data processing</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rPr>
              <a:t>   M</a:t>
            </a:r>
            <a:r>
              <a:rPr lang="en-US" altLang="zh-CN" sz="2800" b="1" dirty="0">
                <a:solidFill>
                  <a:srgbClr val="111827"/>
                </a:solidFill>
              </a:rPr>
              <a:t>odel and training strategy</a:t>
            </a:r>
            <a:endParaRPr lang="en-US" altLang="zh-CN" sz="2800" b="1" dirty="0">
              <a:ea typeface="微软雅黑" panose="020B0503020204020204" pitchFamily="34" charset="-122"/>
              <a:cs typeface="Arial" panose="020B0604020202020204" pitchFamily="34" charset="0"/>
            </a:endParaRPr>
          </a:p>
          <a:p>
            <a:pPr marL="285750" indent="-285750">
              <a:buFont typeface="Wingdings" panose="05000000000000000000" pitchFamily="2" charset="2"/>
              <a:buChar char="p"/>
            </a:pPr>
            <a:endParaRPr lang="en-US" altLang="zh-CN" sz="2800" dirty="0">
              <a:cs typeface="Arial" panose="020B0604020202020204" pitchFamily="34" charset="0"/>
            </a:endParaRPr>
          </a:p>
          <a:p>
            <a:pPr marL="285750" indent="-285750">
              <a:buFont typeface="Wingdings" panose="05000000000000000000" pitchFamily="2" charset="2"/>
              <a:buChar char="p"/>
            </a:pPr>
            <a:r>
              <a:rPr lang="en-US" altLang="zh-CN" sz="2800" b="1" dirty="0">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rgbClr val="111827"/>
                </a:solidFill>
              </a:rPr>
              <a:t>Results and mechanistic analysis</a:t>
            </a: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a:p>
            <a:pPr marL="285750" indent="-285750">
              <a:buFont typeface="Wingdings" panose="05000000000000000000" pitchFamily="2" charset="2"/>
              <a:buChar char="p"/>
            </a:pPr>
            <a:r>
              <a:rPr lang="en-US" altLang="zh-CN" sz="2800" b="1" dirty="0">
                <a:solidFill>
                  <a:schemeClr val="accent1"/>
                </a:solidFill>
                <a:ea typeface="微软雅黑" panose="020B0503020204020204" pitchFamily="34" charset="-122"/>
                <a:cs typeface="Arial" panose="020B0604020202020204" pitchFamily="34" charset="0"/>
                <a:sym typeface="Times New Roman" panose="02020603050405020304" pitchFamily="18" charset="0"/>
              </a:rPr>
              <a:t>   </a:t>
            </a:r>
            <a:r>
              <a:rPr lang="en-US" altLang="zh-CN" sz="2800" b="1" dirty="0">
                <a:solidFill>
                  <a:schemeClr val="accent1"/>
                </a:solidFill>
              </a:rPr>
              <a:t>Special cases, attention, limitations</a:t>
            </a:r>
            <a:endParaRPr lang="en-US" altLang="zh-CN" sz="2800" dirty="0">
              <a:solidFill>
                <a:schemeClr val="accent1"/>
              </a:solidFill>
            </a:endParaRPr>
          </a:p>
          <a:p>
            <a:endParaRPr lang="en-US" altLang="zh-CN" sz="2800" b="1" dirty="0">
              <a:ea typeface="微软雅黑" panose="020B0503020204020204" pitchFamily="34" charset="-122"/>
              <a:cs typeface="Arial" panose="020B0604020202020204" pitchFamily="34" charset="0"/>
              <a:sym typeface="Times New Roman" panose="02020603050405020304" pitchFamily="18" charset="0"/>
            </a:endParaRPr>
          </a:p>
        </p:txBody>
      </p:sp>
    </p:spTree>
    <p:extLst>
      <p:ext uri="{BB962C8B-B14F-4D97-AF65-F5344CB8AC3E}">
        <p14:creationId xmlns:p14="http://schemas.microsoft.com/office/powerpoint/2010/main" val="265895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DA896-3460-F325-9F26-6067D017379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6683BD-080B-2629-F007-E9FA3AA0E78F}"/>
              </a:ext>
            </a:extLst>
          </p:cNvPr>
          <p:cNvSpPr>
            <a:spLocks noGrp="1"/>
          </p:cNvSpPr>
          <p:nvPr>
            <p:ph type="sldNum" sz="quarter" idx="12"/>
          </p:nvPr>
        </p:nvSpPr>
        <p:spPr/>
        <p:txBody>
          <a:bodyPr/>
          <a:lstStyle/>
          <a:p>
            <a:fld id="{5A846D4C-743D-4A62-AF1E-2CABDD37274B}" type="slidenum">
              <a:rPr lang="en-US" smtClean="0"/>
              <a:t>21</a:t>
            </a:fld>
            <a:endParaRPr lang="en-US"/>
          </a:p>
        </p:txBody>
      </p:sp>
      <p:sp>
        <p:nvSpPr>
          <p:cNvPr id="3" name="文本框 2">
            <a:extLst>
              <a:ext uri="{FF2B5EF4-FFF2-40B4-BE49-F238E27FC236}">
                <a16:creationId xmlns:a16="http://schemas.microsoft.com/office/drawing/2014/main" id="{4A34DE84-563B-D0D4-B12E-6FC0B3494A74}"/>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Special Case Analysis</a:t>
            </a:r>
          </a:p>
        </p:txBody>
      </p:sp>
      <p:sp>
        <p:nvSpPr>
          <p:cNvPr id="21" name="Text 3">
            <a:extLst>
              <a:ext uri="{FF2B5EF4-FFF2-40B4-BE49-F238E27FC236}">
                <a16:creationId xmlns:a16="http://schemas.microsoft.com/office/drawing/2014/main" id="{35427DF5-504A-23C9-86DE-EDB2F9E56122}"/>
              </a:ext>
            </a:extLst>
          </p:cNvPr>
          <p:cNvSpPr/>
          <p:nvPr/>
        </p:nvSpPr>
        <p:spPr>
          <a:xfrm>
            <a:off x="403780" y="937571"/>
            <a:ext cx="10323576" cy="574868"/>
          </a:xfrm>
          <a:prstGeom prst="rect">
            <a:avLst/>
          </a:prstGeom>
          <a:noFill/>
          <a:ln/>
        </p:spPr>
        <p:txBody>
          <a:bodyPr wrap="square" lIns="0" tIns="0" rIns="0" bIns="0" rtlCol="0" anchor="ctr"/>
          <a:lstStyle/>
          <a:p>
            <a:r>
              <a:rPr lang="en-US" altLang="zh-CN" sz="2000" dirty="0">
                <a:solidFill>
                  <a:srgbClr val="6B7280"/>
                </a:solidFill>
              </a:rPr>
              <a:t>Failures concentrate in chemically unusual ionic or halogen-containing species.</a:t>
            </a:r>
            <a:endParaRPr lang="en-US" altLang="zh-CN" sz="2000" dirty="0"/>
          </a:p>
        </p:txBody>
      </p:sp>
      <p:graphicFrame>
        <p:nvGraphicFramePr>
          <p:cNvPr id="4" name="表格 3">
            <a:extLst>
              <a:ext uri="{FF2B5EF4-FFF2-40B4-BE49-F238E27FC236}">
                <a16:creationId xmlns:a16="http://schemas.microsoft.com/office/drawing/2014/main" id="{DD76520E-5BF1-50ED-3D49-8E73FE58A51F}"/>
              </a:ext>
            </a:extLst>
          </p:cNvPr>
          <p:cNvGraphicFramePr>
            <a:graphicFrameLocks noGrp="1"/>
          </p:cNvGraphicFramePr>
          <p:nvPr/>
        </p:nvGraphicFramePr>
        <p:xfrm>
          <a:off x="403780" y="1496984"/>
          <a:ext cx="4168220" cy="514618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084110">
                  <a:extLst>
                    <a:ext uri="{9D8B030D-6E8A-4147-A177-3AD203B41FA5}">
                      <a16:colId xmlns:a16="http://schemas.microsoft.com/office/drawing/2014/main" val="646726754"/>
                    </a:ext>
                  </a:extLst>
                </a:gridCol>
                <a:gridCol w="2084110">
                  <a:extLst>
                    <a:ext uri="{9D8B030D-6E8A-4147-A177-3AD203B41FA5}">
                      <a16:colId xmlns:a16="http://schemas.microsoft.com/office/drawing/2014/main" val="110774693"/>
                    </a:ext>
                  </a:extLst>
                </a:gridCol>
              </a:tblGrid>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467835">
                <a:tc>
                  <a:txBody>
                    <a:bodyPr/>
                    <a:lstStyle/>
                    <a:p>
                      <a:pPr marL="0" indent="0" algn="ctr">
                        <a:buNone/>
                      </a:pPr>
                      <a:r>
                        <a:rPr lang="en-US" altLang="zh-CN" sz="1800" dirty="0">
                          <a:solidFill>
                            <a:srgbClr val="374151"/>
                          </a:solidFill>
                        </a:rPr>
                        <a:t>[B-]OC.[Na+]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0.3580</a:t>
                      </a:r>
                    </a:p>
                  </a:txBody>
                  <a:tcPr anchor="ctr"/>
                </a:tc>
                <a:extLst>
                  <a:ext uri="{0D108BD9-81ED-4DB2-BD59-A6C34878D82A}">
                    <a16:rowId xmlns:a16="http://schemas.microsoft.com/office/drawing/2014/main" val="398106450"/>
                  </a:ext>
                </a:extLst>
              </a:tr>
              <a:tr h="467835">
                <a:tc>
                  <a:txBody>
                    <a:bodyPr/>
                    <a:lstStyle/>
                    <a:p>
                      <a:pPr marL="0" indent="0" algn="ctr">
                        <a:buNone/>
                      </a:pPr>
                      <a:r>
                        <a:rPr lang="en-US" altLang="zh-CN" sz="1800" b="1" dirty="0">
                          <a:solidFill>
                            <a:srgbClr val="374151"/>
                          </a:solidFill>
                        </a:rPr>
                        <a:t>[Li+].[O-]I</a:t>
                      </a:r>
                    </a:p>
                  </a:txBody>
                  <a:tcPr anchor="ctr"/>
                </a:tc>
                <a:tc>
                  <a:txBody>
                    <a:bodyPr/>
                    <a:lstStyle/>
                    <a:p>
                      <a:pPr marL="0" indent="0" algn="ctr">
                        <a:buNone/>
                      </a:pPr>
                      <a:r>
                        <a:rPr lang="en-US" altLang="zh-CN" sz="1800" dirty="0"/>
                        <a:t>0.2952</a:t>
                      </a:r>
                    </a:p>
                  </a:txBody>
                  <a:tcPr anchor="ctr"/>
                </a:tc>
                <a:extLst>
                  <a:ext uri="{0D108BD9-81ED-4DB2-BD59-A6C34878D82A}">
                    <a16:rowId xmlns:a16="http://schemas.microsoft.com/office/drawing/2014/main" val="95757485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[BH3-]I.[Na+]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0.2919</a:t>
                      </a:r>
                    </a:p>
                  </a:txBody>
                  <a:tcPr anchor="ctr"/>
                </a:tc>
                <a:extLst>
                  <a:ext uri="{0D108BD9-81ED-4DB2-BD59-A6C34878D82A}">
                    <a16:rowId xmlns:a16="http://schemas.microsoft.com/office/drawing/2014/main" val="378142237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[B][C-]=N.[Na+]</a:t>
                      </a:r>
                    </a:p>
                  </a:txBody>
                  <a:tcPr anchor="ctr"/>
                </a:tc>
                <a:tc>
                  <a:txBody>
                    <a:bodyPr/>
                    <a:lstStyle/>
                    <a:p>
                      <a:pPr algn="ctr"/>
                      <a:r>
                        <a:rPr lang="en-HK" sz="1800" b="0" kern="1200" dirty="0">
                          <a:solidFill>
                            <a:schemeClr val="dk1"/>
                          </a:solidFill>
                          <a:effectLst/>
                          <a:latin typeface="+mn-lt"/>
                          <a:ea typeface="+mn-ea"/>
                          <a:cs typeface="+mn-cs"/>
                        </a:rPr>
                        <a:t>0.2655</a:t>
                      </a:r>
                    </a:p>
                  </a:txBody>
                  <a:tcPr anchor="ctr"/>
                </a:tc>
                <a:extLst>
                  <a:ext uri="{0D108BD9-81ED-4DB2-BD59-A6C34878D82A}">
                    <a16:rowId xmlns:a16="http://schemas.microsoft.com/office/drawing/2014/main" val="1014518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CO[O-].[Na+]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0.2626</a:t>
                      </a:r>
                    </a:p>
                  </a:txBody>
                  <a:tcPr anchor="ctr"/>
                </a:tc>
                <a:extLst>
                  <a:ext uri="{0D108BD9-81ED-4DB2-BD59-A6C34878D82A}">
                    <a16:rowId xmlns:a16="http://schemas.microsoft.com/office/drawing/2014/main" val="484711421"/>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[B]=[N-].[K+]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0.2476</a:t>
                      </a:r>
                    </a:p>
                  </a:txBody>
                  <a:tcPr anchor="ctr"/>
                </a:tc>
                <a:extLst>
                  <a:ext uri="{0D108BD9-81ED-4DB2-BD59-A6C34878D82A}">
                    <a16:rowId xmlns:a16="http://schemas.microsoft.com/office/drawing/2014/main" val="95955859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C[CH-]N.[Rb+]</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0.2304</a:t>
                      </a:r>
                    </a:p>
                  </a:txBody>
                  <a:tcPr anchor="ctr"/>
                </a:tc>
                <a:extLst>
                  <a:ext uri="{0D108BD9-81ED-4DB2-BD59-A6C34878D82A}">
                    <a16:rowId xmlns:a16="http://schemas.microsoft.com/office/drawing/2014/main" val="1414138026"/>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C[CH][CH2-].[Rb+]</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0.2182</a:t>
                      </a:r>
                    </a:p>
                  </a:txBody>
                  <a:tcPr anchor="ctr"/>
                </a:tc>
                <a:extLst>
                  <a:ext uri="{0D108BD9-81ED-4DB2-BD59-A6C34878D82A}">
                    <a16:rowId xmlns:a16="http://schemas.microsoft.com/office/drawing/2014/main" val="208328766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C([O-])I.[Na+]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0.2087</a:t>
                      </a:r>
                    </a:p>
                  </a:txBody>
                  <a:tcPr anchor="ctr"/>
                </a:tc>
                <a:extLst>
                  <a:ext uri="{0D108BD9-81ED-4DB2-BD59-A6C34878D82A}">
                    <a16:rowId xmlns:a16="http://schemas.microsoft.com/office/drawing/2014/main" val="416242741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[Li+].C[NH-]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0.2059</a:t>
                      </a:r>
                    </a:p>
                  </a:txBody>
                  <a:tcPr anchor="ctr"/>
                </a:tc>
                <a:extLst>
                  <a:ext uri="{0D108BD9-81ED-4DB2-BD59-A6C34878D82A}">
                    <a16:rowId xmlns:a16="http://schemas.microsoft.com/office/drawing/2014/main" val="2311790827"/>
                  </a:ext>
                </a:extLst>
              </a:tr>
            </a:tbl>
          </a:graphicData>
        </a:graphic>
      </p:graphicFrame>
      <p:graphicFrame>
        <p:nvGraphicFramePr>
          <p:cNvPr id="8" name="表格 7">
            <a:extLst>
              <a:ext uri="{FF2B5EF4-FFF2-40B4-BE49-F238E27FC236}">
                <a16:creationId xmlns:a16="http://schemas.microsoft.com/office/drawing/2014/main" id="{8420FB6D-1960-D892-BCA3-5B39225C4C00}"/>
              </a:ext>
            </a:extLst>
          </p:cNvPr>
          <p:cNvGraphicFramePr>
            <a:graphicFrameLocks noGrp="1"/>
          </p:cNvGraphicFramePr>
          <p:nvPr/>
        </p:nvGraphicFramePr>
        <p:xfrm>
          <a:off x="4879768" y="1496983"/>
          <a:ext cx="4168220" cy="514618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084110">
                  <a:extLst>
                    <a:ext uri="{9D8B030D-6E8A-4147-A177-3AD203B41FA5}">
                      <a16:colId xmlns:a16="http://schemas.microsoft.com/office/drawing/2014/main" val="646726754"/>
                    </a:ext>
                  </a:extLst>
                </a:gridCol>
                <a:gridCol w="2084110">
                  <a:extLst>
                    <a:ext uri="{9D8B030D-6E8A-4147-A177-3AD203B41FA5}">
                      <a16:colId xmlns:a16="http://schemas.microsoft.com/office/drawing/2014/main" val="110774693"/>
                    </a:ext>
                  </a:extLst>
                </a:gridCol>
              </a:tblGrid>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467835">
                <a:tc>
                  <a:txBody>
                    <a:bodyPr/>
                    <a:lstStyle/>
                    <a:p>
                      <a:pPr marL="0" indent="0" algn="ctr">
                        <a:buNone/>
                      </a:pPr>
                      <a:r>
                        <a:rPr lang="en-US" altLang="zh-CN" sz="1800" dirty="0">
                          <a:solidFill>
                            <a:srgbClr val="374151"/>
                          </a:solidFill>
                        </a:rPr>
                        <a:t>Cl[I-]Cl.[K+]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0.0217</a:t>
                      </a:r>
                    </a:p>
                  </a:txBody>
                  <a:tcPr anchor="ctr"/>
                </a:tc>
                <a:extLst>
                  <a:ext uri="{0D108BD9-81ED-4DB2-BD59-A6C34878D82A}">
                    <a16:rowId xmlns:a16="http://schemas.microsoft.com/office/drawing/2014/main" val="398106450"/>
                  </a:ext>
                </a:extLst>
              </a:tr>
              <a:tr h="467835">
                <a:tc>
                  <a:txBody>
                    <a:bodyPr/>
                    <a:lstStyle/>
                    <a:p>
                      <a:pPr marL="0" indent="0" algn="ctr">
                        <a:buNone/>
                      </a:pPr>
                      <a:r>
                        <a:rPr lang="en-US" altLang="zh-CN" sz="1800" b="1" dirty="0">
                          <a:solidFill>
                            <a:srgbClr val="374151"/>
                          </a:solidFill>
                        </a:rPr>
                        <a:t>[Li+].C1C[CH-]1</a:t>
                      </a:r>
                    </a:p>
                  </a:txBody>
                  <a:tcPr anchor="ctr"/>
                </a:tc>
                <a:tc>
                  <a:txBody>
                    <a:bodyPr/>
                    <a:lstStyle/>
                    <a:p>
                      <a:pPr marL="0" indent="0" algn="ctr">
                        <a:buNone/>
                      </a:pPr>
                      <a:r>
                        <a:rPr lang="en-US" altLang="zh-CN" sz="1800" dirty="0"/>
                        <a:t>0.0248</a:t>
                      </a:r>
                    </a:p>
                  </a:txBody>
                  <a:tcPr anchor="ctr"/>
                </a:tc>
                <a:extLst>
                  <a:ext uri="{0D108BD9-81ED-4DB2-BD59-A6C34878D82A}">
                    <a16:rowId xmlns:a16="http://schemas.microsoft.com/office/drawing/2014/main" val="95757485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[CH2][O-].[K]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0.0259</a:t>
                      </a:r>
                    </a:p>
                  </a:txBody>
                  <a:tcPr anchor="ctr"/>
                </a:tc>
                <a:extLst>
                  <a:ext uri="{0D108BD9-81ED-4DB2-BD59-A6C34878D82A}">
                    <a16:rowId xmlns:a16="http://schemas.microsoft.com/office/drawing/2014/main" val="378142237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C=C=[N-].[Na+]</a:t>
                      </a:r>
                    </a:p>
                  </a:txBody>
                  <a:tcPr anchor="ctr"/>
                </a:tc>
                <a:tc>
                  <a:txBody>
                    <a:bodyPr/>
                    <a:lstStyle/>
                    <a:p>
                      <a:pPr algn="ctr"/>
                      <a:r>
                        <a:rPr lang="en-HK" sz="1800" b="0" kern="1200" dirty="0">
                          <a:solidFill>
                            <a:schemeClr val="dk1"/>
                          </a:solidFill>
                          <a:effectLst/>
                          <a:latin typeface="+mn-lt"/>
                          <a:ea typeface="+mn-ea"/>
                          <a:cs typeface="+mn-cs"/>
                        </a:rPr>
                        <a:t>0.0270</a:t>
                      </a:r>
                    </a:p>
                  </a:txBody>
                  <a:tcPr anchor="ctr"/>
                </a:tc>
                <a:extLst>
                  <a:ext uri="{0D108BD9-81ED-4DB2-BD59-A6C34878D82A}">
                    <a16:rowId xmlns:a16="http://schemas.microsoft.com/office/drawing/2014/main" val="10145188"/>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C(=N)=[N-].[Na+]</a:t>
                      </a:r>
                    </a:p>
                  </a:txBody>
                  <a:tcPr anchor="ctr"/>
                </a:tc>
                <a:tc>
                  <a:txBody>
                    <a:bodyPr/>
                    <a:lstStyle/>
                    <a:p>
                      <a:pPr algn="ctr"/>
                      <a:r>
                        <a:rPr lang="en-HK" sz="1800" b="0" kern="1200" dirty="0">
                          <a:solidFill>
                            <a:schemeClr val="dk1"/>
                          </a:solidFill>
                          <a:effectLst/>
                          <a:latin typeface="+mn-lt"/>
                          <a:ea typeface="+mn-ea"/>
                          <a:cs typeface="+mn-cs"/>
                        </a:rPr>
                        <a:t>0.0279</a:t>
                      </a:r>
                    </a:p>
                  </a:txBody>
                  <a:tcPr anchor="ctr"/>
                </a:tc>
                <a:extLst>
                  <a:ext uri="{0D108BD9-81ED-4DB2-BD59-A6C34878D82A}">
                    <a16:rowId xmlns:a16="http://schemas.microsoft.com/office/drawing/2014/main" val="484711421"/>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[Li+].C=[C-]Br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0.0302</a:t>
                      </a:r>
                    </a:p>
                  </a:txBody>
                  <a:tcPr anchor="ctr"/>
                </a:tc>
                <a:extLst>
                  <a:ext uri="{0D108BD9-81ED-4DB2-BD59-A6C34878D82A}">
                    <a16:rowId xmlns:a16="http://schemas.microsoft.com/office/drawing/2014/main" val="95955859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[Li+].[B]C=[CH-]</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 0.0307</a:t>
                      </a:r>
                    </a:p>
                  </a:txBody>
                  <a:tcPr anchor="ctr"/>
                </a:tc>
                <a:extLst>
                  <a:ext uri="{0D108BD9-81ED-4DB2-BD59-A6C34878D82A}">
                    <a16:rowId xmlns:a16="http://schemas.microsoft.com/office/drawing/2014/main" val="1414138026"/>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[Li+].N(O)[O-]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0.0328</a:t>
                      </a:r>
                    </a:p>
                  </a:txBody>
                  <a:tcPr anchor="ctr"/>
                </a:tc>
                <a:extLst>
                  <a:ext uri="{0D108BD9-81ED-4DB2-BD59-A6C34878D82A}">
                    <a16:rowId xmlns:a16="http://schemas.microsoft.com/office/drawing/2014/main" val="2083287663"/>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[O-]Cl.[Na+]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0.0332</a:t>
                      </a:r>
                    </a:p>
                  </a:txBody>
                  <a:tcPr anchor="ctr"/>
                </a:tc>
                <a:extLst>
                  <a:ext uri="{0D108BD9-81ED-4DB2-BD59-A6C34878D82A}">
                    <a16:rowId xmlns:a16="http://schemas.microsoft.com/office/drawing/2014/main" val="4162427410"/>
                  </a:ext>
                </a:extLst>
              </a:tr>
              <a:tr h="4678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[BH3-]O.[K+]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HK" sz="1800" b="0" kern="1200" dirty="0">
                          <a:solidFill>
                            <a:schemeClr val="dk1"/>
                          </a:solidFill>
                          <a:effectLst/>
                          <a:latin typeface="+mn-lt"/>
                          <a:ea typeface="+mn-ea"/>
                          <a:cs typeface="+mn-cs"/>
                        </a:rPr>
                        <a:t>0.0357</a:t>
                      </a:r>
                    </a:p>
                  </a:txBody>
                  <a:tcPr anchor="ctr"/>
                </a:tc>
                <a:extLst>
                  <a:ext uri="{0D108BD9-81ED-4DB2-BD59-A6C34878D82A}">
                    <a16:rowId xmlns:a16="http://schemas.microsoft.com/office/drawing/2014/main" val="2311790827"/>
                  </a:ext>
                </a:extLst>
              </a:tr>
            </a:tbl>
          </a:graphicData>
        </a:graphic>
      </p:graphicFrame>
    </p:spTree>
    <p:extLst>
      <p:ext uri="{BB962C8B-B14F-4D97-AF65-F5344CB8AC3E}">
        <p14:creationId xmlns:p14="http://schemas.microsoft.com/office/powerpoint/2010/main" val="227346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E6C0-405E-14BE-D28C-116D2B56B58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6F3C37-114F-D04A-4209-3719FC0083EB}"/>
              </a:ext>
            </a:extLst>
          </p:cNvPr>
          <p:cNvSpPr>
            <a:spLocks noGrp="1"/>
          </p:cNvSpPr>
          <p:nvPr>
            <p:ph type="sldNum" sz="quarter" idx="12"/>
          </p:nvPr>
        </p:nvSpPr>
        <p:spPr/>
        <p:txBody>
          <a:bodyPr/>
          <a:lstStyle/>
          <a:p>
            <a:fld id="{5A846D4C-743D-4A62-AF1E-2CABDD37274B}" type="slidenum">
              <a:rPr lang="en-US" smtClean="0"/>
              <a:t>22</a:t>
            </a:fld>
            <a:endParaRPr lang="en-US"/>
          </a:p>
        </p:txBody>
      </p:sp>
      <p:sp>
        <p:nvSpPr>
          <p:cNvPr id="3" name="文本框 2">
            <a:extLst>
              <a:ext uri="{FF2B5EF4-FFF2-40B4-BE49-F238E27FC236}">
                <a16:creationId xmlns:a16="http://schemas.microsoft.com/office/drawing/2014/main" id="{6D715A37-DE06-42FD-5C1D-DDC4F4B10989}"/>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Special Case Analysis</a:t>
            </a:r>
          </a:p>
        </p:txBody>
      </p:sp>
      <p:sp>
        <p:nvSpPr>
          <p:cNvPr id="21" name="Text 3">
            <a:extLst>
              <a:ext uri="{FF2B5EF4-FFF2-40B4-BE49-F238E27FC236}">
                <a16:creationId xmlns:a16="http://schemas.microsoft.com/office/drawing/2014/main" id="{287C3108-DD9C-D1F1-AD20-1D92982B5600}"/>
              </a:ext>
            </a:extLst>
          </p:cNvPr>
          <p:cNvSpPr/>
          <p:nvPr/>
        </p:nvSpPr>
        <p:spPr>
          <a:xfrm>
            <a:off x="403780" y="985650"/>
            <a:ext cx="10323576" cy="574868"/>
          </a:xfrm>
          <a:prstGeom prst="rect">
            <a:avLst/>
          </a:prstGeom>
          <a:noFill/>
          <a:ln/>
        </p:spPr>
        <p:txBody>
          <a:bodyPr wrap="square" lIns="0" tIns="0" rIns="0" bIns="0" rtlCol="0" anchor="ctr"/>
          <a:lstStyle/>
          <a:p>
            <a:r>
              <a:rPr lang="en-US" altLang="zh-CN" sz="2000" dirty="0">
                <a:solidFill>
                  <a:srgbClr val="6B7280"/>
                </a:solidFill>
              </a:rPr>
              <a:t>Failures concentrate in chemically unusual ionic or halogen-containing species.</a:t>
            </a:r>
            <a:endParaRPr lang="en-US" altLang="zh-CN" sz="2000" dirty="0"/>
          </a:p>
        </p:txBody>
      </p:sp>
      <p:grpSp>
        <p:nvGrpSpPr>
          <p:cNvPr id="27" name="组合 26">
            <a:extLst>
              <a:ext uri="{FF2B5EF4-FFF2-40B4-BE49-F238E27FC236}">
                <a16:creationId xmlns:a16="http://schemas.microsoft.com/office/drawing/2014/main" id="{227C306A-EE2E-0B52-1A00-5B08326802CB}"/>
              </a:ext>
            </a:extLst>
          </p:cNvPr>
          <p:cNvGrpSpPr/>
          <p:nvPr/>
        </p:nvGrpSpPr>
        <p:grpSpPr>
          <a:xfrm>
            <a:off x="944880" y="4579726"/>
            <a:ext cx="10589779" cy="1613028"/>
            <a:chOff x="1280160" y="5108446"/>
            <a:chExt cx="9942574" cy="1613028"/>
          </a:xfrm>
        </p:grpSpPr>
        <p:sp>
          <p:nvSpPr>
            <p:cNvPr id="23" name="Shape 4">
              <a:extLst>
                <a:ext uri="{FF2B5EF4-FFF2-40B4-BE49-F238E27FC236}">
                  <a16:creationId xmlns:a16="http://schemas.microsoft.com/office/drawing/2014/main" id="{763BF3C2-692B-4288-04D4-58FF8BD6FF1D}"/>
                </a:ext>
              </a:extLst>
            </p:cNvPr>
            <p:cNvSpPr/>
            <p:nvPr/>
          </p:nvSpPr>
          <p:spPr>
            <a:xfrm>
              <a:off x="1280160" y="5108447"/>
              <a:ext cx="9692640" cy="1613027"/>
            </a:xfrm>
            <a:prstGeom prst="roundRect">
              <a:avLst>
                <a:gd name="adj" fmla="val 6154"/>
              </a:avLst>
            </a:prstGeom>
            <a:solidFill>
              <a:srgbClr val="FFFFFF"/>
            </a:solidFill>
            <a:ln w="10160">
              <a:solidFill>
                <a:srgbClr val="D1D5DB"/>
              </a:solidFill>
              <a:prstDash val="solid"/>
            </a:ln>
          </p:spPr>
          <p:txBody>
            <a:bodyPr/>
            <a:lstStyle/>
            <a:p>
              <a:endParaRPr lang="en-HK"/>
            </a:p>
          </p:txBody>
        </p:sp>
        <p:sp>
          <p:nvSpPr>
            <p:cNvPr id="24" name="Shape 5">
              <a:extLst>
                <a:ext uri="{FF2B5EF4-FFF2-40B4-BE49-F238E27FC236}">
                  <a16:creationId xmlns:a16="http://schemas.microsoft.com/office/drawing/2014/main" id="{6D832589-827A-37FE-B404-E0A5815A0F7E}"/>
                </a:ext>
              </a:extLst>
            </p:cNvPr>
            <p:cNvSpPr/>
            <p:nvPr/>
          </p:nvSpPr>
          <p:spPr>
            <a:xfrm>
              <a:off x="1280160" y="5108446"/>
              <a:ext cx="48768" cy="1585596"/>
            </a:xfrm>
            <a:prstGeom prst="rect">
              <a:avLst/>
            </a:prstGeom>
            <a:solidFill>
              <a:srgbClr val="FFC000"/>
            </a:solidFill>
            <a:ln w="12700">
              <a:solidFill>
                <a:srgbClr val="047857">
                  <a:alpha val="0"/>
                </a:srgbClr>
              </a:solidFill>
              <a:prstDash val="solid"/>
            </a:ln>
          </p:spPr>
          <p:txBody>
            <a:bodyPr/>
            <a:lstStyle/>
            <a:p>
              <a:endParaRPr lang="en-HK"/>
            </a:p>
          </p:txBody>
        </p:sp>
        <p:sp>
          <p:nvSpPr>
            <p:cNvPr id="25" name="Text 6">
              <a:extLst>
                <a:ext uri="{FF2B5EF4-FFF2-40B4-BE49-F238E27FC236}">
                  <a16:creationId xmlns:a16="http://schemas.microsoft.com/office/drawing/2014/main" id="{AA6DDBF0-AF4F-16F0-B48E-D53A74439453}"/>
                </a:ext>
              </a:extLst>
            </p:cNvPr>
            <p:cNvSpPr/>
            <p:nvPr/>
          </p:nvSpPr>
          <p:spPr>
            <a:xfrm>
              <a:off x="1539240" y="5221224"/>
              <a:ext cx="9372600" cy="438912"/>
            </a:xfrm>
            <a:prstGeom prst="rect">
              <a:avLst/>
            </a:prstGeom>
            <a:noFill/>
            <a:ln/>
          </p:spPr>
          <p:txBody>
            <a:bodyPr wrap="square" lIns="0" tIns="0" rIns="0" bIns="0" rtlCol="0" anchor="ctr"/>
            <a:lstStyle/>
            <a:p>
              <a:r>
                <a:rPr lang="en-US" altLang="zh-CN" sz="2800" b="1" dirty="0">
                  <a:solidFill>
                    <a:srgbClr val="111827"/>
                  </a:solidFill>
                </a:rPr>
                <a:t>Interpretation</a:t>
              </a:r>
              <a:endParaRPr lang="en-US" altLang="zh-CN" sz="2800" dirty="0"/>
            </a:p>
          </p:txBody>
        </p:sp>
        <p:sp>
          <p:nvSpPr>
            <p:cNvPr id="26" name="Text 7">
              <a:extLst>
                <a:ext uri="{FF2B5EF4-FFF2-40B4-BE49-F238E27FC236}">
                  <a16:creationId xmlns:a16="http://schemas.microsoft.com/office/drawing/2014/main" id="{5A48754B-0A73-7214-341D-3AEFDAE2335F}"/>
                </a:ext>
              </a:extLst>
            </p:cNvPr>
            <p:cNvSpPr/>
            <p:nvPr/>
          </p:nvSpPr>
          <p:spPr>
            <a:xfrm>
              <a:off x="1530095" y="5745480"/>
              <a:ext cx="9692639" cy="780899"/>
            </a:xfrm>
            <a:prstGeom prst="rect">
              <a:avLst/>
            </a:prstGeom>
            <a:noFill/>
            <a:ln/>
          </p:spPr>
          <p:txBody>
            <a:bodyPr wrap="square" lIns="254" tIns="254" rIns="254" bIns="254" rtlCol="0" anchor="t">
              <a:noAutofit/>
            </a:bodyPr>
            <a:lstStyle/>
            <a:p>
              <a:r>
                <a:rPr lang="en-US" altLang="zh-CN" sz="2400" dirty="0">
                  <a:solidFill>
                    <a:srgbClr val="374151"/>
                  </a:solidFill>
                </a:rPr>
                <a:t>Remaining errors are not random; they reveal a limitation of SMILES-only </a:t>
              </a:r>
              <a:r>
                <a:rPr lang="en-US" altLang="zh-CN" sz="2400" dirty="0" err="1">
                  <a:solidFill>
                    <a:srgbClr val="374151"/>
                  </a:solidFill>
                </a:rPr>
                <a:t>ChemBERTa</a:t>
              </a:r>
              <a:r>
                <a:rPr lang="en-US" altLang="zh-CN" sz="2400" dirty="0">
                  <a:solidFill>
                    <a:srgbClr val="374151"/>
                  </a:solidFill>
                </a:rPr>
                <a:t> for unusual charged metal-containing chemistry.</a:t>
              </a:r>
              <a:endParaRPr lang="en-US" altLang="zh-CN" sz="2400" dirty="0"/>
            </a:p>
          </p:txBody>
        </p:sp>
      </p:grpSp>
      <p:graphicFrame>
        <p:nvGraphicFramePr>
          <p:cNvPr id="4" name="表格 3">
            <a:extLst>
              <a:ext uri="{FF2B5EF4-FFF2-40B4-BE49-F238E27FC236}">
                <a16:creationId xmlns:a16="http://schemas.microsoft.com/office/drawing/2014/main" id="{121FCE23-9288-6979-375E-2B33A2E24B97}"/>
              </a:ext>
            </a:extLst>
          </p:cNvPr>
          <p:cNvGraphicFramePr>
            <a:graphicFrameLocks noGrp="1"/>
          </p:cNvGraphicFramePr>
          <p:nvPr/>
        </p:nvGraphicFramePr>
        <p:xfrm>
          <a:off x="944880" y="1724114"/>
          <a:ext cx="10200032" cy="26619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859607">
                  <a:extLst>
                    <a:ext uri="{9D8B030D-6E8A-4147-A177-3AD203B41FA5}">
                      <a16:colId xmlns:a16="http://schemas.microsoft.com/office/drawing/2014/main" val="1711821598"/>
                    </a:ext>
                  </a:extLst>
                </a:gridCol>
                <a:gridCol w="2852581">
                  <a:extLst>
                    <a:ext uri="{9D8B030D-6E8A-4147-A177-3AD203B41FA5}">
                      <a16:colId xmlns:a16="http://schemas.microsoft.com/office/drawing/2014/main" val="1021077212"/>
                    </a:ext>
                  </a:extLst>
                </a:gridCol>
                <a:gridCol w="2243922">
                  <a:extLst>
                    <a:ext uri="{9D8B030D-6E8A-4147-A177-3AD203B41FA5}">
                      <a16:colId xmlns:a16="http://schemas.microsoft.com/office/drawing/2014/main" val="646726754"/>
                    </a:ext>
                  </a:extLst>
                </a:gridCol>
                <a:gridCol w="2243922">
                  <a:extLst>
                    <a:ext uri="{9D8B030D-6E8A-4147-A177-3AD203B41FA5}">
                      <a16:colId xmlns:a16="http://schemas.microsoft.com/office/drawing/2014/main" val="11077469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Case type</a:t>
                      </a:r>
                      <a:endParaRPr lang="en-US" altLang="zh-CN" sz="18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Formula</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SMILES</a:t>
                      </a:r>
                      <a:endParaRPr lang="en-US" altLang="zh-CN" sz="1800" dirty="0"/>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Mean abs error</a:t>
                      </a:r>
                    </a:p>
                  </a:txBody>
                  <a:tcPr>
                    <a:solidFill>
                      <a:srgbClr val="003870"/>
                    </a:solidFill>
                  </a:tcPr>
                </a:tc>
                <a:extLst>
                  <a:ext uri="{0D108BD9-81ED-4DB2-BD59-A6C34878D82A}">
                    <a16:rowId xmlns:a16="http://schemas.microsoft.com/office/drawing/2014/main" val="2341370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a:solidFill>
                            <a:srgbClr val="374151"/>
                          </a:solidFill>
                        </a:rPr>
                        <a:t>Largest-error failure</a:t>
                      </a:r>
                      <a:endParaRPr lang="en-US" altLang="zh-CN" sz="1800" dirty="0">
                        <a:solidFill>
                          <a:srgbClr val="374151"/>
                        </a:solidFill>
                      </a:endParaRPr>
                    </a:p>
                  </a:txBody>
                  <a:tcPr anchor="ctr"/>
                </a:tc>
                <a:tc>
                  <a:txBody>
                    <a:bodyPr/>
                    <a:lstStyle/>
                    <a:p>
                      <a:pPr marL="0" indent="0" algn="ctr">
                        <a:buNone/>
                      </a:pPr>
                      <a:r>
                        <a:rPr lang="en-US" altLang="zh-CN" sz="1800" dirty="0" err="1">
                          <a:solidFill>
                            <a:srgbClr val="374151"/>
                          </a:solidFill>
                        </a:rPr>
                        <a:t>CH₃BNaO</a:t>
                      </a:r>
                      <a:endParaRPr lang="en-US" altLang="zh-CN" sz="1800" dirty="0">
                        <a:solidFill>
                          <a:srgbClr val="374151"/>
                        </a:solidFill>
                      </a:endParaRPr>
                    </a:p>
                  </a:txBody>
                  <a:tcPr anchor="ctr"/>
                </a:tc>
                <a:tc>
                  <a:txBody>
                    <a:bodyPr/>
                    <a:lstStyle/>
                    <a:p>
                      <a:pPr marL="0" indent="0" algn="ctr">
                        <a:buNone/>
                      </a:pPr>
                      <a:r>
                        <a:rPr lang="en-US" altLang="zh-CN" sz="1800" dirty="0">
                          <a:solidFill>
                            <a:srgbClr val="374151"/>
                          </a:solidFill>
                        </a:rPr>
                        <a:t>[B-]OC.[Na+]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0.3580</a:t>
                      </a:r>
                    </a:p>
                  </a:txBody>
                  <a:tcPr anchor="ctr"/>
                </a:tc>
                <a:extLst>
                  <a:ext uri="{0D108BD9-81ED-4DB2-BD59-A6C34878D82A}">
                    <a16:rowId xmlns:a16="http://schemas.microsoft.com/office/drawing/2014/main" val="398106450"/>
                  </a:ext>
                </a:extLst>
              </a:tr>
              <a:tr h="370840">
                <a:tc>
                  <a:txBody>
                    <a:bodyPr/>
                    <a:lstStyle/>
                    <a:p>
                      <a:pPr algn="ctr">
                        <a:buNone/>
                      </a:pPr>
                      <a:r>
                        <a:rPr lang="en-US" dirty="0"/>
                        <a:t>Halogen failure</a:t>
                      </a:r>
                    </a:p>
                  </a:txBody>
                  <a:tcPr anchor="ctr"/>
                </a:tc>
                <a:tc>
                  <a:txBody>
                    <a:bodyPr/>
                    <a:lstStyle/>
                    <a:p>
                      <a:pPr marL="0" indent="0" algn="ctr">
                        <a:buNone/>
                      </a:pPr>
                      <a:r>
                        <a:rPr lang="en-US" altLang="zh-CN" sz="1800" dirty="0" err="1">
                          <a:solidFill>
                            <a:srgbClr val="374151"/>
                          </a:solidFill>
                        </a:rPr>
                        <a:t>ILiO</a:t>
                      </a:r>
                      <a:endParaRPr lang="en-US" altLang="zh-CN" sz="1800" dirty="0">
                        <a:solidFill>
                          <a:srgbClr val="374151"/>
                        </a:solidFill>
                      </a:endParaRPr>
                    </a:p>
                  </a:txBody>
                  <a:tcPr anchor="ctr"/>
                </a:tc>
                <a:tc>
                  <a:txBody>
                    <a:bodyPr/>
                    <a:lstStyle/>
                    <a:p>
                      <a:pPr marL="0" indent="0" algn="ctr">
                        <a:buNone/>
                      </a:pPr>
                      <a:r>
                        <a:rPr lang="en-US" altLang="zh-CN" sz="1800" b="1" dirty="0">
                          <a:solidFill>
                            <a:srgbClr val="374151"/>
                          </a:solidFill>
                        </a:rPr>
                        <a:t>[Li+].[O-]I</a:t>
                      </a:r>
                    </a:p>
                  </a:txBody>
                  <a:tcPr anchor="ctr"/>
                </a:tc>
                <a:tc>
                  <a:txBody>
                    <a:bodyPr/>
                    <a:lstStyle/>
                    <a:p>
                      <a:pPr marL="0" indent="0" algn="ctr">
                        <a:buNone/>
                      </a:pPr>
                      <a:r>
                        <a:rPr lang="en-US" altLang="zh-CN" sz="1800" dirty="0"/>
                        <a:t>0.2952</a:t>
                      </a:r>
                    </a:p>
                  </a:txBody>
                  <a:tcPr anchor="ctr"/>
                </a:tc>
                <a:extLst>
                  <a:ext uri="{0D108BD9-81ED-4DB2-BD59-A6C34878D82A}">
                    <a16:rowId xmlns:a16="http://schemas.microsoft.com/office/drawing/2014/main" val="957574858"/>
                  </a:ext>
                </a:extLst>
              </a:tr>
              <a:tr h="370840">
                <a:tc>
                  <a:txBody>
                    <a:bodyPr/>
                    <a:lstStyle/>
                    <a:p>
                      <a:pPr algn="ctr">
                        <a:buNone/>
                      </a:pPr>
                      <a:r>
                        <a:rPr lang="en-US" dirty="0"/>
                        <a:t>Additional high-error failure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solidFill>
                            <a:srgbClr val="374151"/>
                          </a:solidFill>
                        </a:rPr>
                        <a:t>BH₃INa</a:t>
                      </a:r>
                      <a:endParaRPr lang="en-US" altLang="zh-CN" sz="1800" dirty="0">
                        <a:solidFill>
                          <a:srgbClr val="37415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[BH3-]I.[Na+]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0.2919</a:t>
                      </a:r>
                    </a:p>
                  </a:txBody>
                  <a:tcPr anchor="ctr"/>
                </a:tc>
                <a:extLst>
                  <a:ext uri="{0D108BD9-81ED-4DB2-BD59-A6C34878D82A}">
                    <a16:rowId xmlns:a16="http://schemas.microsoft.com/office/drawing/2014/main" val="3781422370"/>
                  </a:ext>
                </a:extLst>
              </a:tr>
              <a:tr h="370840">
                <a:tc>
                  <a:txBody>
                    <a:bodyPr/>
                    <a:lstStyle/>
                    <a:p>
                      <a:pPr algn="ctr">
                        <a:buNone/>
                      </a:pPr>
                      <a:r>
                        <a:rPr lang="en-US" dirty="0"/>
                        <a:t>Low-error success contrast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t>Cl₂IK</a:t>
                      </a:r>
                      <a:endParaRPr lang="en-US" altLang="zh-CN" sz="1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Cl[I-]Cl.[K+]</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0.0217</a:t>
                      </a:r>
                    </a:p>
                  </a:txBody>
                  <a:tcPr anchor="ctr"/>
                </a:tc>
                <a:extLst>
                  <a:ext uri="{0D108BD9-81ED-4DB2-BD59-A6C34878D82A}">
                    <a16:rowId xmlns:a16="http://schemas.microsoft.com/office/drawing/2014/main" val="10145188"/>
                  </a:ext>
                </a:extLst>
              </a:tr>
            </a:tbl>
          </a:graphicData>
        </a:graphic>
      </p:graphicFrame>
    </p:spTree>
    <p:extLst>
      <p:ext uri="{BB962C8B-B14F-4D97-AF65-F5344CB8AC3E}">
        <p14:creationId xmlns:p14="http://schemas.microsoft.com/office/powerpoint/2010/main" val="566973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9C3D-B852-1430-8B6F-1F0F9DDAFE3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29F9496-C477-5FBC-5D2E-B254A99DB132}"/>
              </a:ext>
            </a:extLst>
          </p:cNvPr>
          <p:cNvSpPr>
            <a:spLocks noGrp="1"/>
          </p:cNvSpPr>
          <p:nvPr>
            <p:ph type="sldNum" sz="quarter" idx="12"/>
          </p:nvPr>
        </p:nvSpPr>
        <p:spPr/>
        <p:txBody>
          <a:bodyPr/>
          <a:lstStyle/>
          <a:p>
            <a:fld id="{5A846D4C-743D-4A62-AF1E-2CABDD37274B}" type="slidenum">
              <a:rPr lang="en-US" smtClean="0"/>
              <a:t>23</a:t>
            </a:fld>
            <a:endParaRPr lang="en-US"/>
          </a:p>
        </p:txBody>
      </p:sp>
      <p:sp>
        <p:nvSpPr>
          <p:cNvPr id="3" name="文本框 2">
            <a:extLst>
              <a:ext uri="{FF2B5EF4-FFF2-40B4-BE49-F238E27FC236}">
                <a16:creationId xmlns:a16="http://schemas.microsoft.com/office/drawing/2014/main" id="{5836E36A-CE73-5E72-737F-DF2AB5322533}"/>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Attention Visualization</a:t>
            </a:r>
          </a:p>
        </p:txBody>
      </p:sp>
      <p:sp>
        <p:nvSpPr>
          <p:cNvPr id="21" name="Text 3">
            <a:extLst>
              <a:ext uri="{FF2B5EF4-FFF2-40B4-BE49-F238E27FC236}">
                <a16:creationId xmlns:a16="http://schemas.microsoft.com/office/drawing/2014/main" id="{7616D81E-7AD4-116B-6BAB-32EB3E04FE05}"/>
              </a:ext>
            </a:extLst>
          </p:cNvPr>
          <p:cNvSpPr/>
          <p:nvPr/>
        </p:nvSpPr>
        <p:spPr>
          <a:xfrm>
            <a:off x="403780" y="985650"/>
            <a:ext cx="10323576" cy="574868"/>
          </a:xfrm>
          <a:prstGeom prst="rect">
            <a:avLst/>
          </a:prstGeom>
          <a:noFill/>
          <a:ln/>
        </p:spPr>
        <p:txBody>
          <a:bodyPr wrap="square" lIns="0" tIns="0" rIns="0" bIns="0" rtlCol="0" anchor="ctr"/>
          <a:lstStyle/>
          <a:p>
            <a:r>
              <a:rPr lang="en-US" altLang="zh-CN" sz="2000" dirty="0">
                <a:solidFill>
                  <a:srgbClr val="6B7280"/>
                </a:solidFill>
              </a:rPr>
              <a:t>Attention is useful for qualitative inspection, but not causal proof.</a:t>
            </a:r>
            <a:endParaRPr lang="en-US" altLang="zh-CN" sz="2000" dirty="0"/>
          </a:p>
        </p:txBody>
      </p:sp>
      <p:sp>
        <p:nvSpPr>
          <p:cNvPr id="5" name="Shape 3">
            <a:extLst>
              <a:ext uri="{FF2B5EF4-FFF2-40B4-BE49-F238E27FC236}">
                <a16:creationId xmlns:a16="http://schemas.microsoft.com/office/drawing/2014/main" id="{191FC031-738D-D6D9-2C1E-1D2F3ACF10E8}"/>
              </a:ext>
            </a:extLst>
          </p:cNvPr>
          <p:cNvSpPr/>
          <p:nvPr/>
        </p:nvSpPr>
        <p:spPr>
          <a:xfrm>
            <a:off x="822960" y="1544320"/>
            <a:ext cx="5074920" cy="1662118"/>
          </a:xfrm>
          <a:prstGeom prst="rect">
            <a:avLst/>
          </a:prstGeom>
          <a:solidFill>
            <a:srgbClr val="FFFFFF"/>
          </a:solidFill>
          <a:ln w="8890">
            <a:solidFill>
              <a:srgbClr val="E5E7EB"/>
            </a:solidFill>
            <a:prstDash val="solid"/>
          </a:ln>
        </p:spPr>
        <p:txBody>
          <a:bodyPr/>
          <a:lstStyle/>
          <a:p>
            <a:endParaRPr lang="en-HK"/>
          </a:p>
        </p:txBody>
      </p:sp>
      <p:sp>
        <p:nvSpPr>
          <p:cNvPr id="6" name="Shape 4">
            <a:extLst>
              <a:ext uri="{FF2B5EF4-FFF2-40B4-BE49-F238E27FC236}">
                <a16:creationId xmlns:a16="http://schemas.microsoft.com/office/drawing/2014/main" id="{7E66A4DD-5E1D-5551-AE96-E26CC8FCE839}"/>
              </a:ext>
            </a:extLst>
          </p:cNvPr>
          <p:cNvSpPr/>
          <p:nvPr/>
        </p:nvSpPr>
        <p:spPr>
          <a:xfrm>
            <a:off x="822960" y="1544320"/>
            <a:ext cx="73152" cy="1662118"/>
          </a:xfrm>
          <a:prstGeom prst="rect">
            <a:avLst/>
          </a:prstGeom>
          <a:solidFill>
            <a:srgbClr val="2563EB"/>
          </a:solidFill>
          <a:ln w="12700">
            <a:solidFill>
              <a:srgbClr val="2563EB">
                <a:alpha val="0"/>
              </a:srgbClr>
            </a:solidFill>
            <a:prstDash val="solid"/>
          </a:ln>
        </p:spPr>
        <p:txBody>
          <a:bodyPr/>
          <a:lstStyle/>
          <a:p>
            <a:endParaRPr lang="en-HK"/>
          </a:p>
        </p:txBody>
      </p:sp>
      <p:sp>
        <p:nvSpPr>
          <p:cNvPr id="7" name="Text 5">
            <a:extLst>
              <a:ext uri="{FF2B5EF4-FFF2-40B4-BE49-F238E27FC236}">
                <a16:creationId xmlns:a16="http://schemas.microsoft.com/office/drawing/2014/main" id="{0F1E3510-E555-D156-CFC0-DBBFCCAC2CC1}"/>
              </a:ext>
            </a:extLst>
          </p:cNvPr>
          <p:cNvSpPr/>
          <p:nvPr/>
        </p:nvSpPr>
        <p:spPr>
          <a:xfrm>
            <a:off x="1024128" y="1690624"/>
            <a:ext cx="4764024" cy="219456"/>
          </a:xfrm>
          <a:prstGeom prst="rect">
            <a:avLst/>
          </a:prstGeom>
          <a:noFill/>
          <a:ln/>
        </p:spPr>
        <p:txBody>
          <a:bodyPr wrap="square" lIns="0" tIns="0" rIns="0" bIns="0" rtlCol="0" anchor="ctr"/>
          <a:lstStyle/>
          <a:p>
            <a:pPr marL="0" indent="0">
              <a:buNone/>
            </a:pPr>
            <a:r>
              <a:rPr lang="en-US" sz="2300" b="1" dirty="0">
                <a:solidFill>
                  <a:srgbClr val="111827"/>
                </a:solidFill>
              </a:rPr>
              <a:t>What attention checks</a:t>
            </a:r>
            <a:endParaRPr lang="en-US" sz="2300" dirty="0"/>
          </a:p>
        </p:txBody>
      </p:sp>
      <p:sp>
        <p:nvSpPr>
          <p:cNvPr id="8" name="Text 6">
            <a:extLst>
              <a:ext uri="{FF2B5EF4-FFF2-40B4-BE49-F238E27FC236}">
                <a16:creationId xmlns:a16="http://schemas.microsoft.com/office/drawing/2014/main" id="{CDAC523C-208C-6081-8DE7-42C2E94FAC0D}"/>
              </a:ext>
            </a:extLst>
          </p:cNvPr>
          <p:cNvSpPr/>
          <p:nvPr/>
        </p:nvSpPr>
        <p:spPr>
          <a:xfrm>
            <a:off x="1141476" y="2074672"/>
            <a:ext cx="4764024" cy="85039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Whether the model attends to chemically meaningful tokens such as charge, metal, halogen, oxygen, boron, or nitrogen.</a:t>
            </a:r>
            <a:endParaRPr lang="en-US" sz="2000" dirty="0"/>
          </a:p>
        </p:txBody>
      </p:sp>
      <p:sp>
        <p:nvSpPr>
          <p:cNvPr id="9" name="Shape 7">
            <a:extLst>
              <a:ext uri="{FF2B5EF4-FFF2-40B4-BE49-F238E27FC236}">
                <a16:creationId xmlns:a16="http://schemas.microsoft.com/office/drawing/2014/main" id="{ADF20A57-51AB-01D6-7DB9-95E549004128}"/>
              </a:ext>
            </a:extLst>
          </p:cNvPr>
          <p:cNvSpPr/>
          <p:nvPr/>
        </p:nvSpPr>
        <p:spPr>
          <a:xfrm>
            <a:off x="6309360" y="1544320"/>
            <a:ext cx="5074920" cy="1662118"/>
          </a:xfrm>
          <a:prstGeom prst="rect">
            <a:avLst/>
          </a:prstGeom>
          <a:solidFill>
            <a:srgbClr val="FFFFFF"/>
          </a:solidFill>
          <a:ln w="8890">
            <a:solidFill>
              <a:srgbClr val="E5E7EB"/>
            </a:solidFill>
            <a:prstDash val="solid"/>
          </a:ln>
        </p:spPr>
        <p:txBody>
          <a:bodyPr/>
          <a:lstStyle/>
          <a:p>
            <a:endParaRPr lang="en-HK"/>
          </a:p>
        </p:txBody>
      </p:sp>
      <p:sp>
        <p:nvSpPr>
          <p:cNvPr id="10" name="Shape 8">
            <a:extLst>
              <a:ext uri="{FF2B5EF4-FFF2-40B4-BE49-F238E27FC236}">
                <a16:creationId xmlns:a16="http://schemas.microsoft.com/office/drawing/2014/main" id="{B01FE340-897E-4522-012A-7F397487CAA6}"/>
              </a:ext>
            </a:extLst>
          </p:cNvPr>
          <p:cNvSpPr/>
          <p:nvPr/>
        </p:nvSpPr>
        <p:spPr>
          <a:xfrm>
            <a:off x="6309360" y="1544320"/>
            <a:ext cx="91440" cy="1600200"/>
          </a:xfrm>
          <a:prstGeom prst="rect">
            <a:avLst/>
          </a:prstGeom>
          <a:solidFill>
            <a:srgbClr val="DC2626"/>
          </a:solidFill>
          <a:ln w="12700">
            <a:solidFill>
              <a:srgbClr val="DC2626">
                <a:alpha val="0"/>
              </a:srgbClr>
            </a:solidFill>
            <a:prstDash val="solid"/>
          </a:ln>
        </p:spPr>
        <p:txBody>
          <a:bodyPr/>
          <a:lstStyle/>
          <a:p>
            <a:endParaRPr lang="en-HK"/>
          </a:p>
        </p:txBody>
      </p:sp>
      <p:sp>
        <p:nvSpPr>
          <p:cNvPr id="11" name="Text 9">
            <a:extLst>
              <a:ext uri="{FF2B5EF4-FFF2-40B4-BE49-F238E27FC236}">
                <a16:creationId xmlns:a16="http://schemas.microsoft.com/office/drawing/2014/main" id="{6CF030CB-EC89-C008-A14D-A5F702A4D549}"/>
              </a:ext>
            </a:extLst>
          </p:cNvPr>
          <p:cNvSpPr/>
          <p:nvPr/>
        </p:nvSpPr>
        <p:spPr>
          <a:xfrm>
            <a:off x="6510528" y="1690624"/>
            <a:ext cx="4764024" cy="219456"/>
          </a:xfrm>
          <a:prstGeom prst="rect">
            <a:avLst/>
          </a:prstGeom>
          <a:noFill/>
          <a:ln/>
        </p:spPr>
        <p:txBody>
          <a:bodyPr wrap="square" lIns="0" tIns="0" rIns="0" bIns="0" rtlCol="0" anchor="ctr"/>
          <a:lstStyle/>
          <a:p>
            <a:pPr marL="0" indent="0">
              <a:buNone/>
            </a:pPr>
            <a:r>
              <a:rPr lang="en-US" sz="2300" b="1" dirty="0">
                <a:solidFill>
                  <a:srgbClr val="111827"/>
                </a:solidFill>
              </a:rPr>
              <a:t>Failure interpretation</a:t>
            </a:r>
            <a:endParaRPr lang="en-US" sz="2300" dirty="0"/>
          </a:p>
        </p:txBody>
      </p:sp>
      <p:sp>
        <p:nvSpPr>
          <p:cNvPr id="12" name="Text 10">
            <a:extLst>
              <a:ext uri="{FF2B5EF4-FFF2-40B4-BE49-F238E27FC236}">
                <a16:creationId xmlns:a16="http://schemas.microsoft.com/office/drawing/2014/main" id="{19374037-2974-FFC2-BA59-2BA37F8AB776}"/>
              </a:ext>
            </a:extLst>
          </p:cNvPr>
          <p:cNvSpPr/>
          <p:nvPr/>
        </p:nvSpPr>
        <p:spPr>
          <a:xfrm>
            <a:off x="6605016" y="2071116"/>
            <a:ext cx="4764024" cy="1051560"/>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In failure cases, attention may identify important tokens but still produce inaccurate energies, suggesting representation limitations.</a:t>
            </a:r>
            <a:endParaRPr lang="en-US" sz="2000" dirty="0"/>
          </a:p>
        </p:txBody>
      </p:sp>
      <p:sp>
        <p:nvSpPr>
          <p:cNvPr id="13" name="Shape 11">
            <a:extLst>
              <a:ext uri="{FF2B5EF4-FFF2-40B4-BE49-F238E27FC236}">
                <a16:creationId xmlns:a16="http://schemas.microsoft.com/office/drawing/2014/main" id="{661E5FC3-7486-6AC3-BA1A-C32399C36808}"/>
              </a:ext>
            </a:extLst>
          </p:cNvPr>
          <p:cNvSpPr/>
          <p:nvPr/>
        </p:nvSpPr>
        <p:spPr>
          <a:xfrm>
            <a:off x="2011680" y="3556000"/>
            <a:ext cx="8138160" cy="749808"/>
          </a:xfrm>
          <a:prstGeom prst="rect">
            <a:avLst/>
          </a:prstGeom>
          <a:solidFill>
            <a:srgbClr val="F3F4F6"/>
          </a:solidFill>
          <a:ln w="10160">
            <a:solidFill>
              <a:srgbClr val="E5E7EB"/>
            </a:solidFill>
            <a:prstDash val="solid"/>
          </a:ln>
        </p:spPr>
        <p:txBody>
          <a:bodyPr/>
          <a:lstStyle/>
          <a:p>
            <a:endParaRPr lang="en-HK"/>
          </a:p>
        </p:txBody>
      </p:sp>
      <p:sp>
        <p:nvSpPr>
          <p:cNvPr id="14" name="Text 12">
            <a:extLst>
              <a:ext uri="{FF2B5EF4-FFF2-40B4-BE49-F238E27FC236}">
                <a16:creationId xmlns:a16="http://schemas.microsoft.com/office/drawing/2014/main" id="{AD21EB7B-2B30-A4C4-83C3-400354F840AD}"/>
              </a:ext>
            </a:extLst>
          </p:cNvPr>
          <p:cNvSpPr/>
          <p:nvPr/>
        </p:nvSpPr>
        <p:spPr>
          <a:xfrm>
            <a:off x="2121408" y="3757168"/>
            <a:ext cx="7918704" cy="420624"/>
          </a:xfrm>
          <a:prstGeom prst="rect">
            <a:avLst/>
          </a:prstGeom>
          <a:noFill/>
          <a:ln/>
        </p:spPr>
        <p:txBody>
          <a:bodyPr wrap="square" lIns="0" tIns="0" rIns="0" bIns="0" rtlCol="0" anchor="ctr">
            <a:noAutofit/>
          </a:bodyPr>
          <a:lstStyle/>
          <a:p>
            <a:pPr marL="0" indent="0" algn="ctr">
              <a:buNone/>
            </a:pPr>
            <a:r>
              <a:rPr lang="en-US" sz="2800" b="1" dirty="0">
                <a:solidFill>
                  <a:srgbClr val="111827"/>
                </a:solidFill>
              </a:rPr>
              <a:t>Attention evidence ≠ causal explanation</a:t>
            </a:r>
            <a:endParaRPr lang="en-US" sz="2800" dirty="0"/>
          </a:p>
        </p:txBody>
      </p:sp>
      <p:sp>
        <p:nvSpPr>
          <p:cNvPr id="15" name="Shape 13">
            <a:extLst>
              <a:ext uri="{FF2B5EF4-FFF2-40B4-BE49-F238E27FC236}">
                <a16:creationId xmlns:a16="http://schemas.microsoft.com/office/drawing/2014/main" id="{778D6C05-B577-3B88-B7C6-75CC55CDB16A}"/>
              </a:ext>
            </a:extLst>
          </p:cNvPr>
          <p:cNvSpPr/>
          <p:nvPr/>
        </p:nvSpPr>
        <p:spPr>
          <a:xfrm>
            <a:off x="1828800" y="4790440"/>
            <a:ext cx="8503920" cy="1503992"/>
          </a:xfrm>
          <a:prstGeom prst="rect">
            <a:avLst/>
          </a:prstGeom>
          <a:solidFill>
            <a:srgbClr val="FFFFFF"/>
          </a:solidFill>
          <a:ln w="8890">
            <a:solidFill>
              <a:srgbClr val="E5E7EB"/>
            </a:solidFill>
            <a:prstDash val="solid"/>
          </a:ln>
        </p:spPr>
        <p:txBody>
          <a:bodyPr/>
          <a:lstStyle/>
          <a:p>
            <a:endParaRPr lang="en-HK"/>
          </a:p>
        </p:txBody>
      </p:sp>
      <p:sp>
        <p:nvSpPr>
          <p:cNvPr id="16" name="Shape 14">
            <a:extLst>
              <a:ext uri="{FF2B5EF4-FFF2-40B4-BE49-F238E27FC236}">
                <a16:creationId xmlns:a16="http://schemas.microsoft.com/office/drawing/2014/main" id="{F564A999-C8EA-29E6-8995-B389946A6210}"/>
              </a:ext>
            </a:extLst>
          </p:cNvPr>
          <p:cNvSpPr/>
          <p:nvPr/>
        </p:nvSpPr>
        <p:spPr>
          <a:xfrm>
            <a:off x="1828800" y="4790440"/>
            <a:ext cx="45719" cy="1503992"/>
          </a:xfrm>
          <a:prstGeom prst="rect">
            <a:avLst/>
          </a:prstGeom>
          <a:solidFill>
            <a:srgbClr val="7C3AED"/>
          </a:solidFill>
          <a:ln w="12700">
            <a:solidFill>
              <a:srgbClr val="7C3AED">
                <a:alpha val="0"/>
              </a:srgbClr>
            </a:solidFill>
            <a:prstDash val="solid"/>
          </a:ln>
        </p:spPr>
        <p:txBody>
          <a:bodyPr/>
          <a:lstStyle/>
          <a:p>
            <a:endParaRPr lang="en-HK"/>
          </a:p>
        </p:txBody>
      </p:sp>
      <p:sp>
        <p:nvSpPr>
          <p:cNvPr id="17" name="Text 15">
            <a:extLst>
              <a:ext uri="{FF2B5EF4-FFF2-40B4-BE49-F238E27FC236}">
                <a16:creationId xmlns:a16="http://schemas.microsoft.com/office/drawing/2014/main" id="{CFD5F862-31DC-9DBE-40F1-A7B8C1C1922A}"/>
              </a:ext>
            </a:extLst>
          </p:cNvPr>
          <p:cNvSpPr/>
          <p:nvPr/>
        </p:nvSpPr>
        <p:spPr>
          <a:xfrm>
            <a:off x="2029968" y="4936744"/>
            <a:ext cx="8193024" cy="219456"/>
          </a:xfrm>
          <a:prstGeom prst="rect">
            <a:avLst/>
          </a:prstGeom>
          <a:noFill/>
          <a:ln/>
        </p:spPr>
        <p:txBody>
          <a:bodyPr wrap="square" lIns="0" tIns="0" rIns="0" bIns="0" rtlCol="0" anchor="ctr"/>
          <a:lstStyle/>
          <a:p>
            <a:pPr marL="0" indent="0">
              <a:buNone/>
            </a:pPr>
            <a:r>
              <a:rPr lang="en-US" sz="2300" b="1" dirty="0">
                <a:solidFill>
                  <a:srgbClr val="111827"/>
                </a:solidFill>
              </a:rPr>
              <a:t>Academic caution</a:t>
            </a:r>
            <a:endParaRPr lang="en-US" sz="2300" dirty="0"/>
          </a:p>
        </p:txBody>
      </p:sp>
      <p:sp>
        <p:nvSpPr>
          <p:cNvPr id="18" name="Text 16">
            <a:extLst>
              <a:ext uri="{FF2B5EF4-FFF2-40B4-BE49-F238E27FC236}">
                <a16:creationId xmlns:a16="http://schemas.microsoft.com/office/drawing/2014/main" id="{C73C60B2-DA1D-1D2D-62D1-647510115016}"/>
              </a:ext>
            </a:extLst>
          </p:cNvPr>
          <p:cNvSpPr/>
          <p:nvPr/>
        </p:nvSpPr>
        <p:spPr>
          <a:xfrm>
            <a:off x="2029968" y="5265928"/>
            <a:ext cx="8193024" cy="918972"/>
          </a:xfrm>
          <a:prstGeom prst="rect">
            <a:avLst/>
          </a:prstGeom>
          <a:noFill/>
          <a:ln/>
        </p:spPr>
        <p:txBody>
          <a:bodyPr wrap="square" lIns="254" tIns="254" rIns="254" bIns="254" rtlCol="0" anchor="ctr">
            <a:noAutofit/>
          </a:bodyPr>
          <a:lstStyle/>
          <a:p>
            <a:pPr marL="0" indent="0">
              <a:buNone/>
            </a:pPr>
            <a:r>
              <a:rPr lang="en-US" sz="2000" dirty="0">
                <a:solidFill>
                  <a:srgbClr val="374151"/>
                </a:solidFill>
              </a:rPr>
              <a:t>Use attention as qualitative support for error analysis, not as proof that a token caused the prediction.</a:t>
            </a:r>
            <a:endParaRPr lang="en-US" sz="2000" dirty="0"/>
          </a:p>
        </p:txBody>
      </p:sp>
    </p:spTree>
    <p:extLst>
      <p:ext uri="{BB962C8B-B14F-4D97-AF65-F5344CB8AC3E}">
        <p14:creationId xmlns:p14="http://schemas.microsoft.com/office/powerpoint/2010/main" val="2370379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2737-0619-06EB-C07B-9C2A5E40C72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7F9CBA3-A187-DD61-1FDE-154BF16A9856}"/>
              </a:ext>
            </a:extLst>
          </p:cNvPr>
          <p:cNvSpPr>
            <a:spLocks noGrp="1"/>
          </p:cNvSpPr>
          <p:nvPr>
            <p:ph type="sldNum" sz="quarter" idx="12"/>
          </p:nvPr>
        </p:nvSpPr>
        <p:spPr/>
        <p:txBody>
          <a:bodyPr/>
          <a:lstStyle/>
          <a:p>
            <a:fld id="{5A846D4C-743D-4A62-AF1E-2CABDD37274B}" type="slidenum">
              <a:rPr lang="en-US" smtClean="0"/>
              <a:t>24</a:t>
            </a:fld>
            <a:endParaRPr lang="en-US"/>
          </a:p>
        </p:txBody>
      </p:sp>
      <p:sp>
        <p:nvSpPr>
          <p:cNvPr id="3" name="文本框 2">
            <a:extLst>
              <a:ext uri="{FF2B5EF4-FFF2-40B4-BE49-F238E27FC236}">
                <a16:creationId xmlns:a16="http://schemas.microsoft.com/office/drawing/2014/main" id="{299B7BAB-79F0-275F-968D-EF6B0FB1BA3B}"/>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Limitations and Future Improvements</a:t>
            </a:r>
          </a:p>
        </p:txBody>
      </p:sp>
      <p:sp>
        <p:nvSpPr>
          <p:cNvPr id="21" name="Text 3">
            <a:extLst>
              <a:ext uri="{FF2B5EF4-FFF2-40B4-BE49-F238E27FC236}">
                <a16:creationId xmlns:a16="http://schemas.microsoft.com/office/drawing/2014/main" id="{F033824B-9741-8C82-9474-9943912E575B}"/>
              </a:ext>
            </a:extLst>
          </p:cNvPr>
          <p:cNvSpPr/>
          <p:nvPr/>
        </p:nvSpPr>
        <p:spPr>
          <a:xfrm>
            <a:off x="403780" y="1147520"/>
            <a:ext cx="10323576" cy="574868"/>
          </a:xfrm>
          <a:prstGeom prst="rect">
            <a:avLst/>
          </a:prstGeom>
          <a:noFill/>
          <a:ln/>
        </p:spPr>
        <p:txBody>
          <a:bodyPr wrap="square" lIns="0" tIns="0" rIns="0" bIns="0" rtlCol="0" anchor="ctr"/>
          <a:lstStyle/>
          <a:p>
            <a:r>
              <a:rPr lang="en-US" altLang="zh-CN" sz="2000" dirty="0">
                <a:solidFill>
                  <a:srgbClr val="6B7280"/>
                </a:solidFill>
              </a:rPr>
              <a:t>The project should be evaluated by correct formulation and critical reasoning, not only scores.</a:t>
            </a:r>
            <a:endParaRPr lang="en-US" altLang="zh-CN" sz="2000" dirty="0"/>
          </a:p>
        </p:txBody>
      </p:sp>
      <p:graphicFrame>
        <p:nvGraphicFramePr>
          <p:cNvPr id="4" name="表格 3">
            <a:extLst>
              <a:ext uri="{FF2B5EF4-FFF2-40B4-BE49-F238E27FC236}">
                <a16:creationId xmlns:a16="http://schemas.microsoft.com/office/drawing/2014/main" id="{27E576F2-D4DE-CCDA-2410-5CA209F072A1}"/>
              </a:ext>
            </a:extLst>
          </p:cNvPr>
          <p:cNvGraphicFramePr>
            <a:graphicFrameLocks noGrp="1"/>
          </p:cNvGraphicFramePr>
          <p:nvPr/>
        </p:nvGraphicFramePr>
        <p:xfrm>
          <a:off x="944879" y="1963420"/>
          <a:ext cx="9782477" cy="29311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516045">
                  <a:extLst>
                    <a:ext uri="{9D8B030D-6E8A-4147-A177-3AD203B41FA5}">
                      <a16:colId xmlns:a16="http://schemas.microsoft.com/office/drawing/2014/main" val="1711821598"/>
                    </a:ext>
                  </a:extLst>
                </a:gridCol>
                <a:gridCol w="3507406">
                  <a:extLst>
                    <a:ext uri="{9D8B030D-6E8A-4147-A177-3AD203B41FA5}">
                      <a16:colId xmlns:a16="http://schemas.microsoft.com/office/drawing/2014/main" val="1021077212"/>
                    </a:ext>
                  </a:extLst>
                </a:gridCol>
                <a:gridCol w="2759026">
                  <a:extLst>
                    <a:ext uri="{9D8B030D-6E8A-4147-A177-3AD203B41FA5}">
                      <a16:colId xmlns:a16="http://schemas.microsoft.com/office/drawing/2014/main" val="64672675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Limitation</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Why it matters</a:t>
                      </a:r>
                    </a:p>
                  </a:txBody>
                  <a:tcPr>
                    <a:solidFill>
                      <a:srgbClr val="0038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dirty="0">
                          <a:solidFill>
                            <a:srgbClr val="FFFFFF"/>
                          </a:solidFill>
                        </a:rPr>
                        <a:t>Future improvement</a:t>
                      </a:r>
                    </a:p>
                  </a:txBody>
                  <a:tcPr>
                    <a:solidFill>
                      <a:srgbClr val="003870"/>
                    </a:solidFill>
                  </a:tcPr>
                </a:tc>
                <a:extLst>
                  <a:ext uri="{0D108BD9-81ED-4DB2-BD59-A6C34878D82A}">
                    <a16:rowId xmlns:a16="http://schemas.microsoft.com/office/drawing/2014/main" val="2341370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Small dataset</a:t>
                      </a:r>
                    </a:p>
                  </a:txBody>
                  <a:tcPr anchor="ctr"/>
                </a:tc>
                <a:tc>
                  <a:txBody>
                    <a:bodyPr/>
                    <a:lstStyle/>
                    <a:p>
                      <a:pPr marL="0" indent="0" algn="ctr">
                        <a:buNone/>
                      </a:pPr>
                      <a:r>
                        <a:rPr lang="en-US" altLang="zh-CN" sz="1800" dirty="0">
                          <a:solidFill>
                            <a:srgbClr val="374151"/>
                          </a:solidFill>
                        </a:rPr>
                        <a:t>Higher overfitting and fold variance</a:t>
                      </a:r>
                    </a:p>
                  </a:txBody>
                  <a:tcPr anchor="ctr"/>
                </a:tc>
                <a:tc>
                  <a:txBody>
                    <a:bodyPr/>
                    <a:lstStyle/>
                    <a:p>
                      <a:pPr marL="0" indent="0" algn="ctr">
                        <a:buNone/>
                      </a:pPr>
                      <a:r>
                        <a:rPr lang="en-US" altLang="zh-CN" sz="1800" dirty="0">
                          <a:solidFill>
                            <a:srgbClr val="374151"/>
                          </a:solidFill>
                        </a:rPr>
                        <a:t>Collect more molecules; nested CV</a:t>
                      </a:r>
                    </a:p>
                  </a:txBody>
                  <a:tcPr anchor="ctr"/>
                </a:tc>
                <a:extLst>
                  <a:ext uri="{0D108BD9-81ED-4DB2-BD59-A6C34878D82A}">
                    <a16:rowId xmlns:a16="http://schemas.microsoft.com/office/drawing/2014/main" val="398106450"/>
                  </a:ext>
                </a:extLst>
              </a:tr>
              <a:tr h="370840">
                <a:tc>
                  <a:txBody>
                    <a:bodyPr/>
                    <a:lstStyle/>
                    <a:p>
                      <a:pPr algn="ctr">
                        <a:buNone/>
                      </a:pPr>
                      <a:r>
                        <a:rPr lang="en-US" dirty="0"/>
                        <a:t>SMILES-only representation</a:t>
                      </a:r>
                    </a:p>
                  </a:txBody>
                  <a:tcPr anchor="ctr"/>
                </a:tc>
                <a:tc>
                  <a:txBody>
                    <a:bodyPr/>
                    <a:lstStyle/>
                    <a:p>
                      <a:pPr marL="0" indent="0" algn="ctr">
                        <a:buNone/>
                      </a:pPr>
                      <a:r>
                        <a:rPr lang="en-US" altLang="zh-CN" sz="1800" dirty="0">
                          <a:solidFill>
                            <a:srgbClr val="374151"/>
                          </a:solidFill>
                        </a:rPr>
                        <a:t>May miss 3D and ionic interaction geometry</a:t>
                      </a:r>
                    </a:p>
                  </a:txBody>
                  <a:tcPr anchor="ctr"/>
                </a:tc>
                <a:tc>
                  <a:txBody>
                    <a:bodyPr/>
                    <a:lstStyle/>
                    <a:p>
                      <a:pPr marL="0" indent="0" algn="ctr">
                        <a:buNone/>
                      </a:pPr>
                      <a:r>
                        <a:rPr lang="en-US" altLang="zh-CN" sz="1800" b="1" dirty="0">
                          <a:solidFill>
                            <a:srgbClr val="374151"/>
                          </a:solidFill>
                        </a:rPr>
                        <a:t>Add graph or 3D/geometric features</a:t>
                      </a:r>
                    </a:p>
                  </a:txBody>
                  <a:tcPr anchor="ctr"/>
                </a:tc>
                <a:extLst>
                  <a:ext uri="{0D108BD9-81ED-4DB2-BD59-A6C34878D82A}">
                    <a16:rowId xmlns:a16="http://schemas.microsoft.com/office/drawing/2014/main" val="957574858"/>
                  </a:ext>
                </a:extLst>
              </a:tr>
              <a:tr h="370840">
                <a:tc>
                  <a:txBody>
                    <a:bodyPr/>
                    <a:lstStyle/>
                    <a:p>
                      <a:pPr algn="ctr">
                        <a:buNone/>
                      </a:pPr>
                      <a:r>
                        <a:rPr lang="en-US" dirty="0"/>
                        <a:t>Computed proxy label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err="1">
                          <a:solidFill>
                            <a:srgbClr val="374151"/>
                          </a:solidFill>
                        </a:rPr>
                        <a:t>Energy_min</a:t>
                      </a:r>
                      <a:r>
                        <a:rPr lang="en-US" altLang="zh-CN" sz="1800" dirty="0">
                          <a:solidFill>
                            <a:srgbClr val="374151"/>
                          </a:solidFill>
                        </a:rPr>
                        <a:t> is not direct device performance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374151"/>
                          </a:solidFill>
                        </a:rPr>
                        <a:t>Validate with experiments or multi-task labels</a:t>
                      </a:r>
                    </a:p>
                  </a:txBody>
                  <a:tcPr anchor="ctr"/>
                </a:tc>
                <a:extLst>
                  <a:ext uri="{0D108BD9-81ED-4DB2-BD59-A6C34878D82A}">
                    <a16:rowId xmlns:a16="http://schemas.microsoft.com/office/drawing/2014/main" val="3781422370"/>
                  </a:ext>
                </a:extLst>
              </a:tr>
              <a:tr h="370840">
                <a:tc>
                  <a:txBody>
                    <a:bodyPr/>
                    <a:lstStyle/>
                    <a:p>
                      <a:pPr algn="ctr">
                        <a:buNone/>
                      </a:pPr>
                      <a:r>
                        <a:rPr lang="en-US" dirty="0"/>
                        <a:t>Metadata in predictions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Case mapping relies on row order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t>Save CID and SMILES in prediction outputs</a:t>
                      </a:r>
                    </a:p>
                  </a:txBody>
                  <a:tcPr anchor="ctr"/>
                </a:tc>
                <a:extLst>
                  <a:ext uri="{0D108BD9-81ED-4DB2-BD59-A6C34878D82A}">
                    <a16:rowId xmlns:a16="http://schemas.microsoft.com/office/drawing/2014/main" val="10145188"/>
                  </a:ext>
                </a:extLst>
              </a:tr>
            </a:tbl>
          </a:graphicData>
        </a:graphic>
      </p:graphicFrame>
    </p:spTree>
    <p:extLst>
      <p:ext uri="{BB962C8B-B14F-4D97-AF65-F5344CB8AC3E}">
        <p14:creationId xmlns:p14="http://schemas.microsoft.com/office/powerpoint/2010/main" val="96722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BFB26-C282-CAAB-D34E-01A6BA78343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0BF1DDA-6BCE-62EB-22C7-B45F156E6846}"/>
              </a:ext>
            </a:extLst>
          </p:cNvPr>
          <p:cNvSpPr>
            <a:spLocks noGrp="1"/>
          </p:cNvSpPr>
          <p:nvPr>
            <p:ph type="sldNum" sz="quarter" idx="12"/>
          </p:nvPr>
        </p:nvSpPr>
        <p:spPr/>
        <p:txBody>
          <a:bodyPr/>
          <a:lstStyle/>
          <a:p>
            <a:fld id="{5A846D4C-743D-4A62-AF1E-2CABDD37274B}" type="slidenum">
              <a:rPr lang="en-US" smtClean="0"/>
              <a:t>25</a:t>
            </a:fld>
            <a:endParaRPr lang="en-US" dirty="0"/>
          </a:p>
        </p:txBody>
      </p:sp>
      <p:sp>
        <p:nvSpPr>
          <p:cNvPr id="3" name="文本框 2">
            <a:extLst>
              <a:ext uri="{FF2B5EF4-FFF2-40B4-BE49-F238E27FC236}">
                <a16:creationId xmlns:a16="http://schemas.microsoft.com/office/drawing/2014/main" id="{02E29C36-CD5F-0DEA-750F-CF6957B67EC2}"/>
              </a:ext>
            </a:extLst>
          </p:cNvPr>
          <p:cNvSpPr txBox="1"/>
          <p:nvPr/>
        </p:nvSpPr>
        <p:spPr>
          <a:xfrm>
            <a:off x="252530" y="331620"/>
            <a:ext cx="10112408" cy="574869"/>
          </a:xfrm>
          <a:prstGeom prst="rect">
            <a:avLst/>
          </a:prstGeom>
        </p:spPr>
        <p:txBody>
          <a:bodyPr vert="horz" lIns="91440" tIns="45720" rIns="91440" bIns="45720" rtlCol="0" anchor="ctr">
            <a:noAutofit/>
          </a:bodyPr>
          <a:lstStyle/>
          <a:p>
            <a:pPr>
              <a:spcBef>
                <a:spcPct val="0"/>
              </a:spcBef>
            </a:pPr>
            <a:r>
              <a:rPr lang="en-US" altLang="zh-CN" sz="3200" b="1" dirty="0">
                <a:latin typeface="Segoe UI Black" panose="020B0A02040204020203" pitchFamily="34" charset="0"/>
                <a:ea typeface="Segoe UI Black" panose="020B0A02040204020203" pitchFamily="34" charset="0"/>
                <a:cs typeface="+mj-cs"/>
              </a:rPr>
              <a:t>Conclusions</a:t>
            </a:r>
          </a:p>
        </p:txBody>
      </p:sp>
      <p:sp>
        <p:nvSpPr>
          <p:cNvPr id="5" name="Shape 1">
            <a:extLst>
              <a:ext uri="{FF2B5EF4-FFF2-40B4-BE49-F238E27FC236}">
                <a16:creationId xmlns:a16="http://schemas.microsoft.com/office/drawing/2014/main" id="{AE465E37-61B6-37CA-06ED-0E00A1E1C483}"/>
              </a:ext>
            </a:extLst>
          </p:cNvPr>
          <p:cNvSpPr/>
          <p:nvPr/>
        </p:nvSpPr>
        <p:spPr>
          <a:xfrm>
            <a:off x="62738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6" name="Shape 2">
            <a:extLst>
              <a:ext uri="{FF2B5EF4-FFF2-40B4-BE49-F238E27FC236}">
                <a16:creationId xmlns:a16="http://schemas.microsoft.com/office/drawing/2014/main" id="{3CE4B8E0-96C8-D66D-1A2F-02AC85F8A614}"/>
              </a:ext>
            </a:extLst>
          </p:cNvPr>
          <p:cNvSpPr/>
          <p:nvPr/>
        </p:nvSpPr>
        <p:spPr>
          <a:xfrm>
            <a:off x="627380" y="1816100"/>
            <a:ext cx="54864" cy="3632200"/>
          </a:xfrm>
          <a:prstGeom prst="rect">
            <a:avLst/>
          </a:prstGeom>
          <a:solidFill>
            <a:srgbClr val="1D4ED8"/>
          </a:solidFill>
          <a:ln w="12700">
            <a:solidFill>
              <a:srgbClr val="1D4ED8">
                <a:alpha val="0"/>
              </a:srgbClr>
            </a:solidFill>
            <a:prstDash val="solid"/>
          </a:ln>
        </p:spPr>
        <p:txBody>
          <a:bodyPr/>
          <a:lstStyle/>
          <a:p>
            <a:endParaRPr lang="en-HK"/>
          </a:p>
        </p:txBody>
      </p:sp>
      <p:sp>
        <p:nvSpPr>
          <p:cNvPr id="7" name="Text 3">
            <a:extLst>
              <a:ext uri="{FF2B5EF4-FFF2-40B4-BE49-F238E27FC236}">
                <a16:creationId xmlns:a16="http://schemas.microsoft.com/office/drawing/2014/main" id="{15C9B56B-59A8-6882-CA5E-A6D1D9DF67FA}"/>
              </a:ext>
            </a:extLst>
          </p:cNvPr>
          <p:cNvSpPr/>
          <p:nvPr/>
        </p:nvSpPr>
        <p:spPr>
          <a:xfrm>
            <a:off x="82854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1. Correct deep learning formulation</a:t>
            </a:r>
            <a:endParaRPr lang="en-US" sz="2300" dirty="0"/>
          </a:p>
        </p:txBody>
      </p:sp>
      <p:sp>
        <p:nvSpPr>
          <p:cNvPr id="8" name="Text 4">
            <a:extLst>
              <a:ext uri="{FF2B5EF4-FFF2-40B4-BE49-F238E27FC236}">
                <a16:creationId xmlns:a16="http://schemas.microsoft.com/office/drawing/2014/main" id="{9EFE7AE0-AC58-F8EC-80E0-1DF3C49BC880}"/>
              </a:ext>
            </a:extLst>
          </p:cNvPr>
          <p:cNvSpPr/>
          <p:nvPr/>
        </p:nvSpPr>
        <p:spPr>
          <a:xfrm>
            <a:off x="828548" y="2888416"/>
            <a:ext cx="3026664" cy="2595589"/>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The project is supervised molecular regression: SMILES input, Energy_min target, continuous prediction, MSE training, and RMSE/MAE/R² evaluation.</a:t>
            </a:r>
            <a:endParaRPr lang="en-US" sz="2000" dirty="0"/>
          </a:p>
        </p:txBody>
      </p:sp>
      <p:sp>
        <p:nvSpPr>
          <p:cNvPr id="9" name="Shape 5">
            <a:extLst>
              <a:ext uri="{FF2B5EF4-FFF2-40B4-BE49-F238E27FC236}">
                <a16:creationId xmlns:a16="http://schemas.microsoft.com/office/drawing/2014/main" id="{1F021243-5ED3-B8C8-BE55-6BF8676EBB72}"/>
              </a:ext>
            </a:extLst>
          </p:cNvPr>
          <p:cNvSpPr/>
          <p:nvPr/>
        </p:nvSpPr>
        <p:spPr>
          <a:xfrm>
            <a:off x="419354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10" name="Shape 6">
            <a:extLst>
              <a:ext uri="{FF2B5EF4-FFF2-40B4-BE49-F238E27FC236}">
                <a16:creationId xmlns:a16="http://schemas.microsoft.com/office/drawing/2014/main" id="{C3EE2788-7B93-FFF5-97D9-EF63A9DB8A5A}"/>
              </a:ext>
            </a:extLst>
          </p:cNvPr>
          <p:cNvSpPr/>
          <p:nvPr/>
        </p:nvSpPr>
        <p:spPr>
          <a:xfrm>
            <a:off x="4193540" y="1816100"/>
            <a:ext cx="54864" cy="3632200"/>
          </a:xfrm>
          <a:prstGeom prst="rect">
            <a:avLst/>
          </a:prstGeom>
          <a:solidFill>
            <a:srgbClr val="6D28D9"/>
          </a:solidFill>
          <a:ln w="12700">
            <a:solidFill>
              <a:srgbClr val="6D28D9">
                <a:alpha val="0"/>
              </a:srgbClr>
            </a:solidFill>
            <a:prstDash val="solid"/>
          </a:ln>
        </p:spPr>
        <p:txBody>
          <a:bodyPr/>
          <a:lstStyle/>
          <a:p>
            <a:endParaRPr lang="en-HK"/>
          </a:p>
        </p:txBody>
      </p:sp>
      <p:sp>
        <p:nvSpPr>
          <p:cNvPr id="11" name="Text 7">
            <a:extLst>
              <a:ext uri="{FF2B5EF4-FFF2-40B4-BE49-F238E27FC236}">
                <a16:creationId xmlns:a16="http://schemas.microsoft.com/office/drawing/2014/main" id="{57E0C165-47D8-7647-0363-81E7650A9C4D}"/>
              </a:ext>
            </a:extLst>
          </p:cNvPr>
          <p:cNvSpPr/>
          <p:nvPr/>
        </p:nvSpPr>
        <p:spPr>
          <a:xfrm>
            <a:off x="439470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2. Justified model strategy</a:t>
            </a:r>
            <a:endParaRPr lang="en-US" sz="2300" dirty="0"/>
          </a:p>
        </p:txBody>
      </p:sp>
      <p:sp>
        <p:nvSpPr>
          <p:cNvPr id="12" name="Text 8">
            <a:extLst>
              <a:ext uri="{FF2B5EF4-FFF2-40B4-BE49-F238E27FC236}">
                <a16:creationId xmlns:a16="http://schemas.microsoft.com/office/drawing/2014/main" id="{159D59F1-F9C6-5E8A-07ED-0B673CFEAA39}"/>
              </a:ext>
            </a:extLst>
          </p:cNvPr>
          <p:cNvSpPr/>
          <p:nvPr/>
        </p:nvSpPr>
        <p:spPr>
          <a:xfrm>
            <a:off x="4376420" y="2886964"/>
            <a:ext cx="3026664" cy="1490472"/>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ChemBERTa is appropriate because the input is a molecular sequence and pretraining is valuable under small-data conditions.</a:t>
            </a:r>
            <a:endParaRPr lang="en-US" sz="2000" dirty="0"/>
          </a:p>
        </p:txBody>
      </p:sp>
      <p:sp>
        <p:nvSpPr>
          <p:cNvPr id="13" name="Shape 9">
            <a:extLst>
              <a:ext uri="{FF2B5EF4-FFF2-40B4-BE49-F238E27FC236}">
                <a16:creationId xmlns:a16="http://schemas.microsoft.com/office/drawing/2014/main" id="{C43D53C2-0F5A-970E-4BDB-93F000E94078}"/>
              </a:ext>
            </a:extLst>
          </p:cNvPr>
          <p:cNvSpPr/>
          <p:nvPr/>
        </p:nvSpPr>
        <p:spPr>
          <a:xfrm>
            <a:off x="7759700" y="1816100"/>
            <a:ext cx="3337560" cy="3632200"/>
          </a:xfrm>
          <a:prstGeom prst="roundRect">
            <a:avLst>
              <a:gd name="adj" fmla="val 1778"/>
            </a:avLst>
          </a:prstGeom>
          <a:solidFill>
            <a:srgbClr val="FFFFFF"/>
          </a:solidFill>
          <a:ln w="10160">
            <a:solidFill>
              <a:srgbClr val="D1D5DB"/>
            </a:solidFill>
            <a:prstDash val="solid"/>
          </a:ln>
        </p:spPr>
        <p:txBody>
          <a:bodyPr/>
          <a:lstStyle/>
          <a:p>
            <a:endParaRPr lang="en-HK"/>
          </a:p>
        </p:txBody>
      </p:sp>
      <p:sp>
        <p:nvSpPr>
          <p:cNvPr id="14" name="Shape 10">
            <a:extLst>
              <a:ext uri="{FF2B5EF4-FFF2-40B4-BE49-F238E27FC236}">
                <a16:creationId xmlns:a16="http://schemas.microsoft.com/office/drawing/2014/main" id="{6618087B-86A1-1C2C-7170-D7F674E0103C}"/>
              </a:ext>
            </a:extLst>
          </p:cNvPr>
          <p:cNvSpPr/>
          <p:nvPr/>
        </p:nvSpPr>
        <p:spPr>
          <a:xfrm>
            <a:off x="7759700" y="1816100"/>
            <a:ext cx="54864" cy="3632200"/>
          </a:xfrm>
          <a:prstGeom prst="rect">
            <a:avLst/>
          </a:prstGeom>
          <a:solidFill>
            <a:srgbClr val="047857"/>
          </a:solidFill>
          <a:ln w="12700">
            <a:solidFill>
              <a:srgbClr val="047857">
                <a:alpha val="0"/>
              </a:srgbClr>
            </a:solidFill>
            <a:prstDash val="solid"/>
          </a:ln>
        </p:spPr>
        <p:txBody>
          <a:bodyPr/>
          <a:lstStyle/>
          <a:p>
            <a:endParaRPr lang="en-HK"/>
          </a:p>
        </p:txBody>
      </p:sp>
      <p:sp>
        <p:nvSpPr>
          <p:cNvPr id="15" name="Text 11">
            <a:extLst>
              <a:ext uri="{FF2B5EF4-FFF2-40B4-BE49-F238E27FC236}">
                <a16:creationId xmlns:a16="http://schemas.microsoft.com/office/drawing/2014/main" id="{B01A0E08-CBAA-E86E-5125-604404B27DCB}"/>
              </a:ext>
            </a:extLst>
          </p:cNvPr>
          <p:cNvSpPr/>
          <p:nvPr/>
        </p:nvSpPr>
        <p:spPr>
          <a:xfrm>
            <a:off x="7960868" y="1962404"/>
            <a:ext cx="3017520" cy="666496"/>
          </a:xfrm>
          <a:prstGeom prst="rect">
            <a:avLst/>
          </a:prstGeom>
          <a:noFill/>
          <a:ln/>
        </p:spPr>
        <p:txBody>
          <a:bodyPr wrap="square" lIns="0" tIns="0" rIns="0" bIns="0" rtlCol="0" anchor="ctr"/>
          <a:lstStyle/>
          <a:p>
            <a:pPr marL="0" indent="0">
              <a:buNone/>
            </a:pPr>
            <a:r>
              <a:rPr lang="en-US" sz="2300" b="1" dirty="0">
                <a:solidFill>
                  <a:srgbClr val="111827"/>
                </a:solidFill>
              </a:rPr>
              <a:t>3. Main empirical finding</a:t>
            </a:r>
            <a:endParaRPr lang="en-US" sz="2300" dirty="0"/>
          </a:p>
        </p:txBody>
      </p:sp>
      <p:sp>
        <p:nvSpPr>
          <p:cNvPr id="16" name="Text 12">
            <a:extLst>
              <a:ext uri="{FF2B5EF4-FFF2-40B4-BE49-F238E27FC236}">
                <a16:creationId xmlns:a16="http://schemas.microsoft.com/office/drawing/2014/main" id="{C44F09A8-0F2D-D6E7-EA69-F0439F5FF81A}"/>
              </a:ext>
            </a:extLst>
          </p:cNvPr>
          <p:cNvSpPr/>
          <p:nvPr/>
        </p:nvSpPr>
        <p:spPr>
          <a:xfrm>
            <a:off x="7960868" y="2886964"/>
            <a:ext cx="3026664" cy="1490472"/>
          </a:xfrm>
          <a:prstGeom prst="rect">
            <a:avLst/>
          </a:prstGeom>
          <a:noFill/>
          <a:ln/>
        </p:spPr>
        <p:txBody>
          <a:bodyPr wrap="square" lIns="254" tIns="254" rIns="254" bIns="254" rtlCol="0" anchor="t">
            <a:noAutofit/>
          </a:bodyPr>
          <a:lstStyle/>
          <a:p>
            <a:pPr marL="0" indent="0" algn="l">
              <a:buNone/>
            </a:pPr>
            <a:r>
              <a:rPr lang="en-US" sz="2000" dirty="0">
                <a:solidFill>
                  <a:srgbClr val="374151"/>
                </a:solidFill>
              </a:rPr>
              <a:t>SMILES augmentation plus two-stage fine-tuning gives the best CV result: RMSE 0.1312 eV, MAE 0.1042 eV, R² 0.5345.</a:t>
            </a:r>
            <a:endParaRPr lang="en-US" sz="2000" dirty="0"/>
          </a:p>
        </p:txBody>
      </p:sp>
    </p:spTree>
    <p:extLst>
      <p:ext uri="{BB962C8B-B14F-4D97-AF65-F5344CB8AC3E}">
        <p14:creationId xmlns:p14="http://schemas.microsoft.com/office/powerpoint/2010/main" val="429173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254B352-F97C-0E52-3ABD-9ACDEC2D4431}"/>
              </a:ext>
            </a:extLst>
          </p:cNvPr>
          <p:cNvSpPr>
            <a:spLocks noGrp="1"/>
          </p:cNvSpPr>
          <p:nvPr>
            <p:ph type="sldNum" sz="quarter" idx="4294967295"/>
          </p:nvPr>
        </p:nvSpPr>
        <p:spPr>
          <a:xfrm>
            <a:off x="9448800" y="6356350"/>
            <a:ext cx="2743200" cy="365125"/>
          </a:xfrm>
        </p:spPr>
        <p:txBody>
          <a:bodyPr/>
          <a:lstStyle/>
          <a:p>
            <a:fld id="{5A846D4C-743D-4A62-AF1E-2CABDD37274B}" type="slidenum">
              <a:rPr lang="en-US" smtClean="0"/>
              <a:t>26</a:t>
            </a:fld>
            <a:endParaRPr lang="en-US"/>
          </a:p>
        </p:txBody>
      </p:sp>
      <p:sp>
        <p:nvSpPr>
          <p:cNvPr id="3" name="文本框 2">
            <a:extLst>
              <a:ext uri="{FF2B5EF4-FFF2-40B4-BE49-F238E27FC236}">
                <a16:creationId xmlns:a16="http://schemas.microsoft.com/office/drawing/2014/main" id="{2C979C36-600A-9A58-DC17-2E91BD2AD2CA}"/>
              </a:ext>
            </a:extLst>
          </p:cNvPr>
          <p:cNvSpPr txBox="1"/>
          <p:nvPr/>
        </p:nvSpPr>
        <p:spPr>
          <a:xfrm>
            <a:off x="100094" y="1751906"/>
            <a:ext cx="7265324" cy="892552"/>
          </a:xfrm>
          <a:prstGeom prst="rect">
            <a:avLst/>
          </a:prstGeom>
          <a:noFill/>
        </p:spPr>
        <p:txBody>
          <a:bodyPr wrap="square" rtlCol="0">
            <a:spAutoFit/>
          </a:bodyPr>
          <a:lstStyle/>
          <a:p>
            <a:pPr algn="ctr"/>
            <a:r>
              <a:rPr lang="en-US" altLang="zh-CN" sz="5200" b="1" dirty="0">
                <a:latin typeface="Arial" panose="020B0604020202020204" pitchFamily="34" charset="0"/>
                <a:ea typeface="Arial Unicode MS" panose="020B0604020202020204" pitchFamily="34" charset="-122"/>
                <a:cs typeface="Arial" panose="020B0604020202020204" pitchFamily="34" charset="0"/>
              </a:rPr>
              <a:t>Thanks!</a:t>
            </a:r>
            <a:endParaRPr lang="en-GB" sz="52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4336F532-C3ED-3C97-F964-991278206FE1}"/>
              </a:ext>
            </a:extLst>
          </p:cNvPr>
          <p:cNvSpPr txBox="1"/>
          <p:nvPr/>
        </p:nvSpPr>
        <p:spPr>
          <a:xfrm>
            <a:off x="172468" y="4434034"/>
            <a:ext cx="7447531" cy="676532"/>
          </a:xfrm>
          <a:prstGeom prst="rect">
            <a:avLst/>
          </a:prstGeom>
          <a:noFill/>
        </p:spPr>
        <p:txBody>
          <a:bodyPr wrap="square" rtlCol="0">
            <a:spAutoFit/>
          </a:bodyPr>
          <a:lstStyle/>
          <a:p>
            <a:pPr algn="ctr">
              <a:lnSpc>
                <a:spcPct val="150000"/>
              </a:lnSpc>
            </a:pPr>
            <a:r>
              <a:rPr lang="en-US" altLang="zh-CN" sz="2800" dirty="0"/>
              <a:t>LYU Xinyi, LIU </a:t>
            </a:r>
            <a:r>
              <a:rPr lang="en-US" altLang="zh-CN" sz="2800" dirty="0" err="1"/>
              <a:t>Zesen</a:t>
            </a:r>
            <a:r>
              <a:rPr lang="en-US" altLang="zh-CN" sz="2800" dirty="0"/>
              <a:t>, XU </a:t>
            </a:r>
            <a:r>
              <a:rPr lang="en-US" altLang="zh-CN" sz="2800" dirty="0" err="1"/>
              <a:t>Fangjian</a:t>
            </a:r>
            <a:r>
              <a:rPr lang="en-US" altLang="zh-CN" sz="2800" dirty="0"/>
              <a:t>, SUN Tiantian</a:t>
            </a:r>
            <a:endParaRPr lang="en-GB" sz="2800" dirty="0"/>
          </a:p>
        </p:txBody>
      </p:sp>
    </p:spTree>
    <p:extLst>
      <p:ext uri="{BB962C8B-B14F-4D97-AF65-F5344CB8AC3E}">
        <p14:creationId xmlns:p14="http://schemas.microsoft.com/office/powerpoint/2010/main" val="28536863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3872</TotalTime>
  <Words>2330</Words>
  <Application>Microsoft Macintosh PowerPoint</Application>
  <PresentationFormat>Widescreen</PresentationFormat>
  <Paragraphs>397</Paragraphs>
  <Slides>26</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等线</vt:lpstr>
      <vt:lpstr>微软雅黑</vt:lpstr>
      <vt:lpstr>Aptos</vt:lpstr>
      <vt:lpstr>Aptos Display</vt:lpstr>
      <vt:lpstr>Arial</vt:lpstr>
      <vt:lpstr>Segoe UI Black</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Ashley Han</dc:creator>
  <cp:lastModifiedBy>ng~ A</cp:lastModifiedBy>
  <cp:revision>145</cp:revision>
  <dcterms:created xsi:type="dcterms:W3CDTF">2025-04-14T12:12:00Z</dcterms:created>
  <dcterms:modified xsi:type="dcterms:W3CDTF">2026-05-03T06:14:26Z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742FDEFD3AEF45099E1530B2236E706E_12</vt:lpwstr>
  </property>
  <property fmtid="{D5CDD505-2E9C-101B-9397-08002B2CF9AE}" pid="3" name="KSOProductBuildVer">
    <vt:lpwstr>2052-12.1.0.20784</vt:lpwstr>
  </property>
</Properties>
</file>